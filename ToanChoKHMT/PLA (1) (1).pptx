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8" r:id="rId5"/>
    <p:sldId id="331" r:id="rId6"/>
    <p:sldId id="260" r:id="rId7"/>
    <p:sldId id="329" r:id="rId8"/>
    <p:sldId id="334" r:id="rId9"/>
    <p:sldId id="330" r:id="rId10"/>
    <p:sldId id="332" r:id="rId11"/>
    <p:sldId id="333" r:id="rId12"/>
    <p:sldId id="336" r:id="rId13"/>
    <p:sldId id="337" r:id="rId14"/>
    <p:sldId id="338" r:id="rId15"/>
    <p:sldId id="339" r:id="rId16"/>
    <p:sldId id="340" r:id="rId17"/>
    <p:sldId id="341" r:id="rId18"/>
  </p:sldIdLst>
  <p:sldSz cx="9144000" cy="5143500" type="screen16x9"/>
  <p:notesSz cx="6858000" cy="9144000"/>
  <p:embeddedFontLst>
    <p:embeddedFont>
      <p:font typeface="Vidaloka" panose="02000504000000020004"/>
      <p:regular r:id="rId22"/>
    </p:embeddedFont>
    <p:embeddedFont>
      <p:font typeface="Montserrat" panose="00000500000000000000"/>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2" autoAdjust="0"/>
    <p:restoredTop sz="94660"/>
  </p:normalViewPr>
  <p:slideViewPr>
    <p:cSldViewPr snapToGrid="0">
      <p:cViewPr>
        <p:scale>
          <a:sx n="125" d="100"/>
          <a:sy n="125" d="100"/>
        </p:scale>
        <p:origin x="204" y="396"/>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78"/>
        <p:cNvGrpSpPr/>
        <p:nvPr/>
      </p:nvGrpSpPr>
      <p:grpSpPr>
        <a:xfrm>
          <a:off x="0" y="0"/>
          <a:ext cx="0" cy="0"/>
          <a:chOff x="0" y="0"/>
          <a:chExt cx="0" cy="0"/>
        </a:xfrm>
      </p:grpSpPr>
      <p:sp>
        <p:nvSpPr>
          <p:cNvPr id="479" name="Google Shape;4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90"/>
        <p:cNvGrpSpPr/>
        <p:nvPr/>
      </p:nvGrpSpPr>
      <p:grpSpPr>
        <a:xfrm>
          <a:off x="0" y="0"/>
          <a:ext cx="0" cy="0"/>
          <a:chOff x="0" y="0"/>
          <a:chExt cx="0" cy="0"/>
        </a:xfrm>
      </p:grpSpPr>
      <p:sp>
        <p:nvSpPr>
          <p:cNvPr id="491" name="Google Shape;491;gcf7a3c50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cf7a3c50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8"/>
        <p:cNvGrpSpPr/>
        <p:nvPr/>
      </p:nvGrpSpPr>
      <p:grpSpPr>
        <a:xfrm>
          <a:off x="0" y="0"/>
          <a:ext cx="0" cy="0"/>
          <a:chOff x="0" y="0"/>
          <a:chExt cx="0" cy="0"/>
        </a:xfrm>
      </p:grpSpPr>
      <p:sp>
        <p:nvSpPr>
          <p:cNvPr id="569" name="Google Shape;569;gcf7a3c50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8"/>
        <p:cNvGrpSpPr/>
        <p:nvPr/>
      </p:nvGrpSpPr>
      <p:grpSpPr>
        <a:xfrm>
          <a:off x="0" y="0"/>
          <a:ext cx="0" cy="0"/>
          <a:chOff x="0" y="0"/>
          <a:chExt cx="0" cy="0"/>
        </a:xfrm>
      </p:grpSpPr>
      <p:sp>
        <p:nvSpPr>
          <p:cNvPr id="569" name="Google Shape;569;gcf7a3c503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cf7a3c503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0"/>
        <p:cNvGrpSpPr/>
        <p:nvPr/>
      </p:nvGrpSpPr>
      <p:grpSpPr>
        <a:xfrm>
          <a:off x="0" y="0"/>
          <a:ext cx="0" cy="0"/>
          <a:chOff x="0" y="0"/>
          <a:chExt cx="0" cy="0"/>
        </a:xfrm>
      </p:grpSpPr>
      <p:sp>
        <p:nvSpPr>
          <p:cNvPr id="531" name="Google Shape;531;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248300"/>
            <a:ext cx="7064100" cy="20526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a:spLocks noGrp="1"/>
          </p:cNvSpPr>
          <p:nvPr>
            <p:ph type="subTitle" idx="1"/>
          </p:nvPr>
        </p:nvSpPr>
        <p:spPr>
          <a:xfrm>
            <a:off x="1040000" y="3300900"/>
            <a:ext cx="7064100" cy="441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2714550" y="2366272"/>
            <a:ext cx="3714900" cy="8184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17" name="Google Shape;17;p3"/>
          <p:cNvSpPr txBox="1">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chorCtr="0">
            <a:noAutofit/>
          </a:bodyPr>
          <a:lstStyle>
            <a:lvl1pPr lvl="0"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8" name="Google Shape;18;p3"/>
          <p:cNvSpPr txBox="1">
            <a:spLocks noGrp="1"/>
          </p:cNvSpPr>
          <p:nvPr>
            <p:ph type="subTitle" idx="1"/>
          </p:nvPr>
        </p:nvSpPr>
        <p:spPr>
          <a:xfrm>
            <a:off x="2291400" y="3076675"/>
            <a:ext cx="4561200" cy="39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cxnSp>
        <p:nvCxnSpPr>
          <p:cNvPr id="19" name="Google Shape;19;p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 name="Google Shape;20;p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1" name="Google Shape;21;p3"/>
          <p:cNvCxnSpPr/>
          <p:nvPr/>
        </p:nvCxnSpPr>
        <p:spPr>
          <a:xfrm flipH="1">
            <a:off x="794892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 name="Google Shape;22;p3"/>
          <p:cNvCxnSpPr/>
          <p:nvPr/>
        </p:nvCxnSpPr>
        <p:spPr>
          <a:xfrm flipH="1">
            <a:off x="-11287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5"/>
          <p:cNvSpPr txBox="1">
            <a:spLocks noGrp="1"/>
          </p:cNvSpPr>
          <p:nvPr>
            <p:ph type="subTitle" idx="1"/>
          </p:nvPr>
        </p:nvSpPr>
        <p:spPr>
          <a:xfrm>
            <a:off x="50389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panose="02000504000000020004"/>
              <a:buNone/>
              <a:defRPr sz="2400">
                <a:solidFill>
                  <a:schemeClr val="accent1"/>
                </a:solidFill>
                <a:latin typeface="Vidaloka" panose="02000504000000020004"/>
                <a:ea typeface="Vidaloka" panose="02000504000000020004"/>
                <a:cs typeface="Vidaloka" panose="02000504000000020004"/>
                <a:sym typeface="Vidaloka" panose="02000504000000020004"/>
              </a:defRPr>
            </a:lvl1pPr>
            <a:lvl2pPr lvl="1"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2pPr>
            <a:lvl3pPr lvl="2"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3pPr>
            <a:lvl4pPr lvl="3"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4pPr>
            <a:lvl5pPr lvl="4"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5pPr>
            <a:lvl6pPr lvl="5"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6pPr>
            <a:lvl7pPr lvl="6"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7pPr>
            <a:lvl8pPr lvl="7"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8pPr>
            <a:lvl9pPr lvl="8"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9pPr>
          </a:lstStyle>
          <a:p/>
        </p:txBody>
      </p:sp>
      <p:sp>
        <p:nvSpPr>
          <p:cNvPr id="32" name="Google Shape;32;p5"/>
          <p:cNvSpPr txBox="1">
            <a:spLocks noGrp="1"/>
          </p:cNvSpPr>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sp>
        <p:nvSpPr>
          <p:cNvPr id="33" name="Google Shape;33;p5"/>
          <p:cNvSpPr txBox="1">
            <a:spLocks noGrp="1"/>
          </p:cNvSpPr>
          <p:nvPr>
            <p:ph type="subTitle" idx="3"/>
          </p:nvPr>
        </p:nvSpPr>
        <p:spPr>
          <a:xfrm>
            <a:off x="1693175" y="2551449"/>
            <a:ext cx="24861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panose="02000504000000020004"/>
              <a:buNone/>
              <a:defRPr sz="2400">
                <a:solidFill>
                  <a:schemeClr val="accent1"/>
                </a:solidFill>
                <a:latin typeface="Vidaloka" panose="02000504000000020004"/>
                <a:ea typeface="Vidaloka" panose="02000504000000020004"/>
                <a:cs typeface="Vidaloka" panose="02000504000000020004"/>
                <a:sym typeface="Vidaloka" panose="02000504000000020004"/>
              </a:defRPr>
            </a:lvl1pPr>
            <a:lvl2pPr lvl="1"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2pPr>
            <a:lvl3pPr lvl="2"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3pPr>
            <a:lvl4pPr lvl="3"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4pPr>
            <a:lvl5pPr lvl="4"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5pPr>
            <a:lvl6pPr lvl="5"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6pPr>
            <a:lvl7pPr lvl="6"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7pPr>
            <a:lvl8pPr lvl="7"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8pPr>
            <a:lvl9pPr lvl="8" algn="ctr" rtl="0">
              <a:spcBef>
                <a:spcPts val="0"/>
              </a:spcBef>
              <a:spcAft>
                <a:spcPts val="0"/>
              </a:spcAft>
              <a:buSzPts val="2400"/>
              <a:buFont typeface="Vidaloka" panose="02000504000000020004"/>
              <a:buNone/>
              <a:defRPr sz="2400" b="1">
                <a:latin typeface="Vidaloka" panose="02000504000000020004"/>
                <a:ea typeface="Vidaloka" panose="02000504000000020004"/>
                <a:cs typeface="Vidaloka" panose="02000504000000020004"/>
                <a:sym typeface="Vidaloka" panose="02000504000000020004"/>
              </a:defRPr>
            </a:lvl9pPr>
          </a:lstStyle>
          <a:p/>
        </p:txBody>
      </p:sp>
      <p:sp>
        <p:nvSpPr>
          <p:cNvPr id="34" name="Google Shape;34;p5"/>
          <p:cNvSpPr txBox="1">
            <a:spLocks noGrp="1"/>
          </p:cNvSpPr>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cxnSp>
        <p:nvCxnSpPr>
          <p:cNvPr id="35" name="Google Shape;35;p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 name="Google Shape;36;p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7" name="Google Shape;37;p5"/>
          <p:cNvCxnSpPr/>
          <p:nvPr/>
        </p:nvCxnSpPr>
        <p:spPr>
          <a:xfrm flipH="1">
            <a:off x="6935750" y="3931325"/>
            <a:ext cx="2549400" cy="13545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40" name="Google Shape;40;p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 name="Google Shape;41;p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0"/>
        <p:cNvGrpSpPr/>
        <p:nvPr/>
      </p:nvGrpSpPr>
      <p:grpSpPr>
        <a:xfrm>
          <a:off x="0" y="0"/>
          <a:ext cx="0" cy="0"/>
          <a:chOff x="0" y="0"/>
          <a:chExt cx="0" cy="0"/>
        </a:xfrm>
      </p:grpSpPr>
      <p:sp>
        <p:nvSpPr>
          <p:cNvPr id="61" name="Google Shape;61;p10"/>
          <p:cNvSpPr txBox="1">
            <a:spLocks noGrp="1"/>
          </p:cNvSpPr>
          <p:nvPr>
            <p:ph type="body" idx="1"/>
          </p:nvPr>
        </p:nvSpPr>
        <p:spPr>
          <a:xfrm>
            <a:off x="713225" y="441927"/>
            <a:ext cx="3557100" cy="9777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800"/>
              <a:buNone/>
              <a:defRPr sz="3000">
                <a:latin typeface="Vidaloka" panose="02000504000000020004"/>
                <a:ea typeface="Vidaloka" panose="02000504000000020004"/>
                <a:cs typeface="Vidaloka" panose="02000504000000020004"/>
                <a:sym typeface="Vidaloka" panose="02000504000000020004"/>
              </a:defRPr>
            </a:lvl1pPr>
          </a:lstStyle>
          <a:p/>
        </p:txBody>
      </p:sp>
      <p:cxnSp>
        <p:nvCxnSpPr>
          <p:cNvPr id="62" name="Google Shape;62;p1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3" name="Google Shape;63;p1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4" name="Google Shape;64;p10"/>
          <p:cNvCxnSpPr/>
          <p:nvPr/>
        </p:nvCxnSpPr>
        <p:spPr>
          <a:xfrm rot="10800000" flipH="1">
            <a:off x="6144975" y="3103725"/>
            <a:ext cx="3118200" cy="22011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11"/>
          <p:cNvSpPr txBox="1">
            <a:spLocks noGrp="1"/>
          </p:cNvSpPr>
          <p:nvPr>
            <p:ph type="title" hasCustomPrompt="1"/>
          </p:nvPr>
        </p:nvSpPr>
        <p:spPr>
          <a:xfrm>
            <a:off x="713225" y="1345363"/>
            <a:ext cx="7717500" cy="1644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a:spLocks noGrp="1"/>
          </p:cNvSpPr>
          <p:nvPr>
            <p:ph type="subTitle" idx="1"/>
          </p:nvPr>
        </p:nvSpPr>
        <p:spPr>
          <a:xfrm>
            <a:off x="1514325" y="3188648"/>
            <a:ext cx="61203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68" name="Google Shape;68;p1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9" name="Google Shape;69;p1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0" name="Google Shape;70;p1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1" name="Google Shape;71;p1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matchingNam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 name="Google Shape;75;p13"/>
          <p:cNvSpPr txBox="1">
            <a:spLocks noGrp="1"/>
          </p:cNvSpPr>
          <p:nvPr>
            <p:ph type="subTitle" idx="1"/>
          </p:nvPr>
        </p:nvSpPr>
        <p:spPr>
          <a:xfrm>
            <a:off x="5859325" y="1405390"/>
            <a:ext cx="2486100" cy="40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400">
                <a:latin typeface="Vidaloka" panose="02000504000000020004"/>
                <a:ea typeface="Vidaloka" panose="02000504000000020004"/>
                <a:cs typeface="Vidaloka" panose="02000504000000020004"/>
                <a:sym typeface="Vidaloka" panose="02000504000000020004"/>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p:txBody>
      </p:sp>
      <p:sp>
        <p:nvSpPr>
          <p:cNvPr id="76" name="Google Shape;76;p13"/>
          <p:cNvSpPr txBox="1">
            <a:spLocks noGrp="1"/>
          </p:cNvSpPr>
          <p:nvPr>
            <p:ph type="subTitle" idx="2"/>
          </p:nvPr>
        </p:nvSpPr>
        <p:spPr>
          <a:xfrm>
            <a:off x="5859325" y="1806417"/>
            <a:ext cx="2486100" cy="6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sp>
        <p:nvSpPr>
          <p:cNvPr id="77" name="Google Shape;77;p13"/>
          <p:cNvSpPr txBox="1">
            <a:spLocks noGrp="1"/>
          </p:cNvSpPr>
          <p:nvPr>
            <p:ph type="subTitle" idx="3"/>
          </p:nvPr>
        </p:nvSpPr>
        <p:spPr>
          <a:xfrm>
            <a:off x="1903925" y="1405390"/>
            <a:ext cx="2486100" cy="40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400">
                <a:latin typeface="Vidaloka" panose="02000504000000020004"/>
                <a:ea typeface="Vidaloka" panose="02000504000000020004"/>
                <a:cs typeface="Vidaloka" panose="02000504000000020004"/>
                <a:sym typeface="Vidaloka" panose="02000504000000020004"/>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p:txBody>
      </p:sp>
      <p:sp>
        <p:nvSpPr>
          <p:cNvPr id="78" name="Google Shape;78;p13"/>
          <p:cNvSpPr txBox="1">
            <a:spLocks noGrp="1"/>
          </p:cNvSpPr>
          <p:nvPr>
            <p:ph type="subTitle" idx="4"/>
          </p:nvPr>
        </p:nvSpPr>
        <p:spPr>
          <a:xfrm>
            <a:off x="1903925" y="1806417"/>
            <a:ext cx="2486100" cy="6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sp>
        <p:nvSpPr>
          <p:cNvPr id="79" name="Google Shape;79;p13"/>
          <p:cNvSpPr txBox="1">
            <a:spLocks noGrp="1"/>
          </p:cNvSpPr>
          <p:nvPr>
            <p:ph type="subTitle" idx="5"/>
          </p:nvPr>
        </p:nvSpPr>
        <p:spPr>
          <a:xfrm>
            <a:off x="5859325" y="3171118"/>
            <a:ext cx="2486100" cy="46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400">
                <a:latin typeface="Vidaloka" panose="02000504000000020004"/>
                <a:ea typeface="Vidaloka" panose="02000504000000020004"/>
                <a:cs typeface="Vidaloka" panose="02000504000000020004"/>
                <a:sym typeface="Vidaloka" panose="02000504000000020004"/>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p:txBody>
      </p:sp>
      <p:sp>
        <p:nvSpPr>
          <p:cNvPr id="80" name="Google Shape;80;p13"/>
          <p:cNvSpPr txBox="1">
            <a:spLocks noGrp="1"/>
          </p:cNvSpPr>
          <p:nvPr>
            <p:ph type="subTitle" idx="6"/>
          </p:nvPr>
        </p:nvSpPr>
        <p:spPr>
          <a:xfrm>
            <a:off x="5859325" y="3565487"/>
            <a:ext cx="2486100" cy="6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sp>
        <p:nvSpPr>
          <p:cNvPr id="81" name="Google Shape;81;p13"/>
          <p:cNvSpPr txBox="1">
            <a:spLocks noGrp="1"/>
          </p:cNvSpPr>
          <p:nvPr>
            <p:ph type="subTitle" idx="7"/>
          </p:nvPr>
        </p:nvSpPr>
        <p:spPr>
          <a:xfrm>
            <a:off x="1903925" y="3171118"/>
            <a:ext cx="2486100" cy="46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400">
                <a:latin typeface="Vidaloka" panose="02000504000000020004"/>
                <a:ea typeface="Vidaloka" panose="02000504000000020004"/>
                <a:cs typeface="Vidaloka" panose="02000504000000020004"/>
                <a:sym typeface="Vidaloka" panose="02000504000000020004"/>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p:txBody>
      </p:sp>
      <p:sp>
        <p:nvSpPr>
          <p:cNvPr id="82" name="Google Shape;82;p13"/>
          <p:cNvSpPr txBox="1">
            <a:spLocks noGrp="1"/>
          </p:cNvSpPr>
          <p:nvPr>
            <p:ph type="subTitle" idx="8"/>
          </p:nvPr>
        </p:nvSpPr>
        <p:spPr>
          <a:xfrm>
            <a:off x="1903975" y="3565487"/>
            <a:ext cx="2486100" cy="61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sp>
        <p:nvSpPr>
          <p:cNvPr id="83" name="Google Shape;83;p13"/>
          <p:cNvSpPr txBox="1">
            <a:spLocks noGrp="1"/>
          </p:cNvSpPr>
          <p:nvPr>
            <p:ph type="title" idx="9" hasCustomPrompt="1"/>
          </p:nvPr>
        </p:nvSpPr>
        <p:spPr>
          <a:xfrm>
            <a:off x="798575" y="1417915"/>
            <a:ext cx="10392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a:spLocks noGrp="1"/>
          </p:cNvSpPr>
          <p:nvPr>
            <p:ph type="title" idx="13" hasCustomPrompt="1"/>
          </p:nvPr>
        </p:nvSpPr>
        <p:spPr>
          <a:xfrm>
            <a:off x="4753975" y="1403976"/>
            <a:ext cx="10392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a:spLocks noGrp="1"/>
          </p:cNvSpPr>
          <p:nvPr>
            <p:ph type="title" idx="14" hasCustomPrompt="1"/>
          </p:nvPr>
        </p:nvSpPr>
        <p:spPr>
          <a:xfrm>
            <a:off x="798625" y="3176773"/>
            <a:ext cx="10392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a:spLocks noGrp="1"/>
          </p:cNvSpPr>
          <p:nvPr>
            <p:ph type="title" idx="15" hasCustomPrompt="1"/>
          </p:nvPr>
        </p:nvSpPr>
        <p:spPr>
          <a:xfrm>
            <a:off x="4753975" y="3162833"/>
            <a:ext cx="10392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3800">
                <a:solidFill>
                  <a:schemeClr val="accent1"/>
                </a:solidFill>
              </a:defRPr>
            </a:lvl1pPr>
            <a:lvl2pPr lvl="1" algn="ctr" rtl="0">
              <a:spcBef>
                <a:spcPts val="0"/>
              </a:spcBef>
              <a:spcAft>
                <a:spcPts val="0"/>
              </a:spcAft>
              <a:buClr>
                <a:schemeClr val="dk2"/>
              </a:buClr>
              <a:buSzPts val="4000"/>
              <a:buNone/>
              <a:defRPr sz="4000">
                <a:solidFill>
                  <a:schemeClr val="dk2"/>
                </a:solidFill>
              </a:defRPr>
            </a:lvl2pPr>
            <a:lvl3pPr lvl="2" algn="ctr" rtl="0">
              <a:spcBef>
                <a:spcPts val="0"/>
              </a:spcBef>
              <a:spcAft>
                <a:spcPts val="0"/>
              </a:spcAft>
              <a:buClr>
                <a:schemeClr val="dk2"/>
              </a:buClr>
              <a:buSzPts val="4000"/>
              <a:buNone/>
              <a:defRPr sz="4000">
                <a:solidFill>
                  <a:schemeClr val="dk2"/>
                </a:solidFill>
              </a:defRPr>
            </a:lvl3pPr>
            <a:lvl4pPr lvl="3" algn="ctr" rtl="0">
              <a:spcBef>
                <a:spcPts val="0"/>
              </a:spcBef>
              <a:spcAft>
                <a:spcPts val="0"/>
              </a:spcAft>
              <a:buClr>
                <a:schemeClr val="dk2"/>
              </a:buClr>
              <a:buSzPts val="4000"/>
              <a:buNone/>
              <a:defRPr sz="4000">
                <a:solidFill>
                  <a:schemeClr val="dk2"/>
                </a:solidFill>
              </a:defRPr>
            </a:lvl4pPr>
            <a:lvl5pPr lvl="4" algn="ctr" rtl="0">
              <a:spcBef>
                <a:spcPts val="0"/>
              </a:spcBef>
              <a:spcAft>
                <a:spcPts val="0"/>
              </a:spcAft>
              <a:buClr>
                <a:schemeClr val="dk2"/>
              </a:buClr>
              <a:buSzPts val="4000"/>
              <a:buNone/>
              <a:defRPr sz="4000">
                <a:solidFill>
                  <a:schemeClr val="dk2"/>
                </a:solidFill>
              </a:defRPr>
            </a:lvl5pPr>
            <a:lvl6pPr lvl="5" algn="ctr" rtl="0">
              <a:spcBef>
                <a:spcPts val="0"/>
              </a:spcBef>
              <a:spcAft>
                <a:spcPts val="0"/>
              </a:spcAft>
              <a:buClr>
                <a:schemeClr val="dk2"/>
              </a:buClr>
              <a:buSzPts val="4000"/>
              <a:buNone/>
              <a:defRPr sz="4000">
                <a:solidFill>
                  <a:schemeClr val="dk2"/>
                </a:solidFill>
              </a:defRPr>
            </a:lvl6pPr>
            <a:lvl7pPr lvl="6" algn="ctr" rtl="0">
              <a:spcBef>
                <a:spcPts val="0"/>
              </a:spcBef>
              <a:spcAft>
                <a:spcPts val="0"/>
              </a:spcAft>
              <a:buClr>
                <a:schemeClr val="dk2"/>
              </a:buClr>
              <a:buSzPts val="4000"/>
              <a:buNone/>
              <a:defRPr sz="4000">
                <a:solidFill>
                  <a:schemeClr val="dk2"/>
                </a:solidFill>
              </a:defRPr>
            </a:lvl7pPr>
            <a:lvl8pPr lvl="7" algn="ctr" rtl="0">
              <a:spcBef>
                <a:spcPts val="0"/>
              </a:spcBef>
              <a:spcAft>
                <a:spcPts val="0"/>
              </a:spcAft>
              <a:buClr>
                <a:schemeClr val="dk2"/>
              </a:buClr>
              <a:buSzPts val="4000"/>
              <a:buNone/>
              <a:defRPr sz="4000">
                <a:solidFill>
                  <a:schemeClr val="dk2"/>
                </a:solidFill>
              </a:defRPr>
            </a:lvl8pPr>
            <a:lvl9pPr lvl="8" algn="ctr" rtl="0">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7200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4"/>
          <p:cNvSpPr txBox="1">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a:spLocks noGrp="1"/>
          </p:cNvSpPr>
          <p:nvPr>
            <p:ph type="subTitle" idx="1"/>
          </p:nvPr>
        </p:nvSpPr>
        <p:spPr>
          <a:xfrm>
            <a:off x="720000" y="2081199"/>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3" name="Google Shape;93;p14"/>
          <p:cNvSpPr txBox="1">
            <a:spLocks noGrp="1"/>
          </p:cNvSpPr>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a:spLocks noGrp="1"/>
          </p:cNvSpPr>
          <p:nvPr>
            <p:ph type="subTitle" idx="5"/>
          </p:nvPr>
        </p:nvSpPr>
        <p:spPr>
          <a:xfrm>
            <a:off x="34038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6" name="Google Shape;96;p14"/>
          <p:cNvSpPr txBox="1">
            <a:spLocks noGrp="1"/>
          </p:cNvSpPr>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4"/>
          <p:cNvSpPr txBox="1">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a:spLocks noGrp="1"/>
          </p:cNvSpPr>
          <p:nvPr>
            <p:ph type="subTitle" idx="8"/>
          </p:nvPr>
        </p:nvSpPr>
        <p:spPr>
          <a:xfrm>
            <a:off x="6087600" y="2081208"/>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9" name="Google Shape;99;p14"/>
          <p:cNvSpPr txBox="1">
            <a:spLocks noGrp="1"/>
          </p:cNvSpPr>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4"/>
          <p:cNvSpPr txBox="1">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a:spLocks noGrp="1"/>
          </p:cNvSpPr>
          <p:nvPr>
            <p:ph type="subTitle" idx="14"/>
          </p:nvPr>
        </p:nvSpPr>
        <p:spPr>
          <a:xfrm>
            <a:off x="7200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 name="Google Shape;102;p14"/>
          <p:cNvSpPr txBox="1">
            <a:spLocks noGrp="1"/>
          </p:cNvSpPr>
          <p:nvPr>
            <p:ph type="title" idx="15"/>
          </p:nvPr>
        </p:nvSpPr>
        <p:spPr>
          <a:xfrm>
            <a:off x="34038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 name="Google Shape;103;p14"/>
          <p:cNvSpPr txBox="1">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a:spLocks noGrp="1"/>
          </p:cNvSpPr>
          <p:nvPr>
            <p:ph type="subTitle" idx="17"/>
          </p:nvPr>
        </p:nvSpPr>
        <p:spPr>
          <a:xfrm>
            <a:off x="34038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5" name="Google Shape;105;p14"/>
          <p:cNvSpPr txBox="1">
            <a:spLocks noGrp="1"/>
          </p:cNvSpPr>
          <p:nvPr>
            <p:ph type="title" idx="18"/>
          </p:nvPr>
        </p:nvSpPr>
        <p:spPr>
          <a:xfrm>
            <a:off x="6087600" y="3313579"/>
            <a:ext cx="2336400" cy="40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4"/>
          <p:cNvSpPr txBox="1">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a:spLocks noGrp="1"/>
          </p:cNvSpPr>
          <p:nvPr>
            <p:ph type="subTitle" idx="20"/>
          </p:nvPr>
        </p:nvSpPr>
        <p:spPr>
          <a:xfrm>
            <a:off x="6087600" y="3705863"/>
            <a:ext cx="23364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8" name="Google Shape;108;p14"/>
          <p:cNvSpPr txBox="1">
            <a:spLocks noGrp="1"/>
          </p:cNvSpPr>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9" name="Google Shape;109;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0" name="Google Shape;110;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1" name="Google Shape;111;p1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12" name="Google Shape;112;p1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15" name="Google Shape;115;p15"/>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cxnSp>
        <p:nvCxnSpPr>
          <p:cNvPr id="116" name="Google Shape;116;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699900" y="2821263"/>
            <a:ext cx="4323000" cy="4977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20" name="Google Shape;120;p16"/>
          <p:cNvSpPr txBox="1">
            <a:spLocks noGrp="1"/>
          </p:cNvSpPr>
          <p:nvPr>
            <p:ph type="subTitle" idx="1"/>
          </p:nvPr>
        </p:nvSpPr>
        <p:spPr>
          <a:xfrm>
            <a:off x="699900" y="1675902"/>
            <a:ext cx="5458200" cy="9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cxnSp>
        <p:nvCxnSpPr>
          <p:cNvPr id="121" name="Google Shape;121;p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2" name="Google Shape;122;p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3" name="Google Shape;123;p1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24" name="Google Shape;124;p1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994850" y="1482825"/>
            <a:ext cx="5154300" cy="129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9000"/>
              <a:buNone/>
              <a:defRPr sz="9000"/>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p:txBody>
      </p:sp>
      <p:sp>
        <p:nvSpPr>
          <p:cNvPr id="134" name="Google Shape;134;p18"/>
          <p:cNvSpPr txBox="1">
            <a:spLocks noGrp="1"/>
          </p:cNvSpPr>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cxnSp>
        <p:nvCxnSpPr>
          <p:cNvPr id="135" name="Google Shape;135;p1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6" name="Google Shape;136;p1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Shape 137"/>
        <p:cNvGrpSpPr/>
        <p:nvPr/>
      </p:nvGrpSpPr>
      <p:grpSpPr>
        <a:xfrm>
          <a:off x="0" y="0"/>
          <a:ext cx="0" cy="0"/>
          <a:chOff x="0" y="0"/>
          <a:chExt cx="0" cy="0"/>
        </a:xfrm>
      </p:grpSpPr>
      <p:sp>
        <p:nvSpPr>
          <p:cNvPr id="138" name="Google Shape;138;p19"/>
          <p:cNvSpPr txBox="1">
            <a:spLocks noGrp="1"/>
          </p:cNvSpPr>
          <p:nvPr>
            <p:ph type="title"/>
          </p:nvPr>
        </p:nvSpPr>
        <p:spPr>
          <a:xfrm>
            <a:off x="3742850" y="1549875"/>
            <a:ext cx="4545000" cy="1291200"/>
          </a:xfrm>
          <a:prstGeom prst="rect">
            <a:avLst/>
          </a:prstGeom>
        </p:spPr>
        <p:txBody>
          <a:bodyPr spcFirstLastPara="1" wrap="square" lIns="91425" tIns="91425" rIns="91425" bIns="91425" anchor="t" anchorCtr="0">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139" name="Google Shape;139;p19"/>
          <p:cNvSpPr txBox="1">
            <a:spLocks noGrp="1"/>
          </p:cNvSpPr>
          <p:nvPr>
            <p:ph type="subTitle" idx="1"/>
          </p:nvPr>
        </p:nvSpPr>
        <p:spPr>
          <a:xfrm>
            <a:off x="3742850" y="3039213"/>
            <a:ext cx="45450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140" name="Google Shape;140;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1" name="Google Shape;141;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2" name="Google Shape;142;p1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3" name="Google Shape;143;p1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4" name="Google Shape;144;p1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5" name="Google Shape;145;p1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Shape 146"/>
        <p:cNvGrpSpPr/>
        <p:nvPr/>
      </p:nvGrpSpPr>
      <p:grpSpPr>
        <a:xfrm>
          <a:off x="0" y="0"/>
          <a:ext cx="0" cy="0"/>
          <a:chOff x="0" y="0"/>
          <a:chExt cx="0" cy="0"/>
        </a:xfrm>
      </p:grpSpPr>
      <p:sp>
        <p:nvSpPr>
          <p:cNvPr id="147" name="Google Shape;147;p20"/>
          <p:cNvSpPr txBox="1">
            <a:spLocks noGrp="1"/>
          </p:cNvSpPr>
          <p:nvPr>
            <p:ph type="title"/>
          </p:nvPr>
        </p:nvSpPr>
        <p:spPr>
          <a:xfrm>
            <a:off x="1677925" y="2511803"/>
            <a:ext cx="3714900" cy="805800"/>
          </a:xfrm>
          <a:prstGeom prst="rect">
            <a:avLst/>
          </a:prstGeom>
          <a:noFill/>
        </p:spPr>
        <p:txBody>
          <a:bodyPr spcFirstLastPara="1" wrap="square" lIns="91425" tIns="91425" rIns="91425" bIns="91425" anchor="t" anchorCtr="0">
            <a:noAutofit/>
          </a:bodyPr>
          <a:lstStyle>
            <a:lvl1pPr lvl="0" algn="r" rtl="0">
              <a:spcBef>
                <a:spcPts val="0"/>
              </a:spcBef>
              <a:spcAft>
                <a:spcPts val="0"/>
              </a:spcAft>
              <a:buClr>
                <a:schemeClr val="accent4"/>
              </a:buClr>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148" name="Google Shape;148;p20"/>
          <p:cNvSpPr txBox="1">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7000">
                <a:solidFill>
                  <a:schemeClr val="accent1"/>
                </a:solidFill>
              </a:defRPr>
            </a:lvl1pPr>
            <a:lvl2pPr lvl="1" algn="ctr" rtl="0">
              <a:spcBef>
                <a:spcPts val="0"/>
              </a:spcBef>
              <a:spcAft>
                <a:spcPts val="0"/>
              </a:spcAft>
              <a:buSzPts val="6000"/>
              <a:buNone/>
              <a:defRPr sz="6000" b="1"/>
            </a:lvl2pPr>
            <a:lvl3pPr lvl="2" algn="ctr" rtl="0">
              <a:spcBef>
                <a:spcPts val="0"/>
              </a:spcBef>
              <a:spcAft>
                <a:spcPts val="0"/>
              </a:spcAft>
              <a:buSzPts val="6000"/>
              <a:buNone/>
              <a:defRPr sz="6000" b="1"/>
            </a:lvl3pPr>
            <a:lvl4pPr lvl="3" algn="ctr" rtl="0">
              <a:spcBef>
                <a:spcPts val="0"/>
              </a:spcBef>
              <a:spcAft>
                <a:spcPts val="0"/>
              </a:spcAft>
              <a:buSzPts val="6000"/>
              <a:buNone/>
              <a:defRPr sz="6000" b="1"/>
            </a:lvl4pPr>
            <a:lvl5pPr lvl="4" algn="ctr" rtl="0">
              <a:spcBef>
                <a:spcPts val="0"/>
              </a:spcBef>
              <a:spcAft>
                <a:spcPts val="0"/>
              </a:spcAft>
              <a:buSzPts val="6000"/>
              <a:buNone/>
              <a:defRPr sz="6000" b="1"/>
            </a:lvl5pPr>
            <a:lvl6pPr lvl="5" algn="ctr" rtl="0">
              <a:spcBef>
                <a:spcPts val="0"/>
              </a:spcBef>
              <a:spcAft>
                <a:spcPts val="0"/>
              </a:spcAft>
              <a:buSzPts val="6000"/>
              <a:buNone/>
              <a:defRPr sz="6000" b="1"/>
            </a:lvl6pPr>
            <a:lvl7pPr lvl="6" algn="ctr" rtl="0">
              <a:spcBef>
                <a:spcPts val="0"/>
              </a:spcBef>
              <a:spcAft>
                <a:spcPts val="0"/>
              </a:spcAft>
              <a:buSzPts val="6000"/>
              <a:buNone/>
              <a:defRPr sz="6000" b="1"/>
            </a:lvl7pPr>
            <a:lvl8pPr lvl="7" algn="ctr" rtl="0">
              <a:spcBef>
                <a:spcPts val="0"/>
              </a:spcBef>
              <a:spcAft>
                <a:spcPts val="0"/>
              </a:spcAft>
              <a:buSzPts val="6000"/>
              <a:buNone/>
              <a:defRPr sz="6000" b="1"/>
            </a:lvl8pPr>
            <a:lvl9pPr lvl="8" algn="ctr" rtl="0">
              <a:spcBef>
                <a:spcPts val="0"/>
              </a:spcBef>
              <a:spcAft>
                <a:spcPts val="0"/>
              </a:spcAft>
              <a:buSzPts val="6000"/>
              <a:buNone/>
              <a:defRPr sz="6000" b="1"/>
            </a:lvl9pPr>
          </a:lstStyle>
          <a:p>
            <a:r>
              <a:t>xx%</a:t>
            </a:r>
          </a:p>
        </p:txBody>
      </p:sp>
      <p:sp>
        <p:nvSpPr>
          <p:cNvPr id="149" name="Google Shape;149;p20"/>
          <p:cNvSpPr txBox="1">
            <a:spLocks noGrp="1"/>
          </p:cNvSpPr>
          <p:nvPr>
            <p:ph type="subTitle" idx="1"/>
          </p:nvPr>
        </p:nvSpPr>
        <p:spPr>
          <a:xfrm>
            <a:off x="831625" y="3244000"/>
            <a:ext cx="4561200" cy="393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cxnSp>
        <p:nvCxnSpPr>
          <p:cNvPr id="150" name="Google Shape;150;p20"/>
          <p:cNvCxnSpPr/>
          <p:nvPr/>
        </p:nvCxnSpPr>
        <p:spPr>
          <a:xfrm rot="10800000">
            <a:off x="-30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1" name="Google Shape;151;p20"/>
          <p:cNvCxnSpPr/>
          <p:nvPr/>
        </p:nvCxnSpPr>
        <p:spPr>
          <a:xfrm rot="10800000">
            <a:off x="-30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2" name="Google Shape;152;p20"/>
          <p:cNvCxnSpPr/>
          <p:nvPr/>
        </p:nvCxnSpPr>
        <p:spPr>
          <a:xfrm>
            <a:off x="-11287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3" name="Google Shape;153;p20"/>
          <p:cNvCxnSpPr/>
          <p:nvPr/>
        </p:nvCxnSpPr>
        <p:spPr>
          <a:xfrm>
            <a:off x="790872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154"/>
        <p:cNvGrpSpPr/>
        <p:nvPr/>
      </p:nvGrpSpPr>
      <p:grpSpPr>
        <a:xfrm>
          <a:off x="0" y="0"/>
          <a:ext cx="0" cy="0"/>
          <a:chOff x="0" y="0"/>
          <a:chExt cx="0" cy="0"/>
        </a:xfrm>
      </p:grpSpPr>
      <p:sp>
        <p:nvSpPr>
          <p:cNvPr id="155" name="Google Shape;155;p21"/>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56" name="Google Shape;156;p2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7" name="Google Shape;157;p2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8" name="Google Shape;158;p21"/>
          <p:cNvCxnSpPr/>
          <p:nvPr/>
        </p:nvCxnSpPr>
        <p:spPr>
          <a:xfrm>
            <a:off x="7207350" y="-153175"/>
            <a:ext cx="2120400" cy="12738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1" name="Google Shape;161;p2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2" name="Google Shape;162;p2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3" name="Google Shape;163;p2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4" name="Google Shape;164;p2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5" name="Google Shape;165;p22"/>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66" name="Google Shape;166;p2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1877475" y="445025"/>
            <a:ext cx="5389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9" name="Google Shape;169;p23"/>
          <p:cNvSpPr txBox="1">
            <a:spLocks noGrp="1"/>
          </p:cNvSpPr>
          <p:nvPr>
            <p:ph type="subTitle" idx="1"/>
          </p:nvPr>
        </p:nvSpPr>
        <p:spPr>
          <a:xfrm>
            <a:off x="32267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panose="02000504000000020004"/>
                <a:ea typeface="Vidaloka" panose="02000504000000020004"/>
                <a:cs typeface="Vidaloka" panose="02000504000000020004"/>
                <a:sym typeface="Vidaloka" panose="02000504000000020004"/>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p:txBody>
      </p:sp>
      <p:sp>
        <p:nvSpPr>
          <p:cNvPr id="170" name="Google Shape;170;p23"/>
          <p:cNvSpPr txBox="1">
            <a:spLocks noGrp="1"/>
          </p:cNvSpPr>
          <p:nvPr>
            <p:ph type="subTitle" idx="2"/>
          </p:nvPr>
        </p:nvSpPr>
        <p:spPr>
          <a:xfrm>
            <a:off x="32267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sp>
        <p:nvSpPr>
          <p:cNvPr id="171" name="Google Shape;171;p23"/>
          <p:cNvSpPr txBox="1">
            <a:spLocks noGrp="1"/>
          </p:cNvSpPr>
          <p:nvPr>
            <p:ph type="subTitle" idx="3"/>
          </p:nvPr>
        </p:nvSpPr>
        <p:spPr>
          <a:xfrm>
            <a:off x="7191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panose="02000504000000020004"/>
                <a:ea typeface="Vidaloka" panose="02000504000000020004"/>
                <a:cs typeface="Vidaloka" panose="02000504000000020004"/>
                <a:sym typeface="Vidaloka" panose="02000504000000020004"/>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p:txBody>
      </p:sp>
      <p:sp>
        <p:nvSpPr>
          <p:cNvPr id="172" name="Google Shape;172;p23"/>
          <p:cNvSpPr txBox="1">
            <a:spLocks noGrp="1"/>
          </p:cNvSpPr>
          <p:nvPr>
            <p:ph type="subTitle" idx="4"/>
          </p:nvPr>
        </p:nvSpPr>
        <p:spPr>
          <a:xfrm>
            <a:off x="7191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sp>
        <p:nvSpPr>
          <p:cNvPr id="173" name="Google Shape;173;p23"/>
          <p:cNvSpPr txBox="1">
            <a:spLocks noGrp="1"/>
          </p:cNvSpPr>
          <p:nvPr>
            <p:ph type="subTitle" idx="5"/>
          </p:nvPr>
        </p:nvSpPr>
        <p:spPr>
          <a:xfrm>
            <a:off x="32267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panose="02000504000000020004"/>
                <a:ea typeface="Vidaloka" panose="02000504000000020004"/>
                <a:cs typeface="Vidaloka" panose="02000504000000020004"/>
                <a:sym typeface="Vidaloka" panose="02000504000000020004"/>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p:txBody>
      </p:sp>
      <p:sp>
        <p:nvSpPr>
          <p:cNvPr id="174" name="Google Shape;174;p23"/>
          <p:cNvSpPr txBox="1">
            <a:spLocks noGrp="1"/>
          </p:cNvSpPr>
          <p:nvPr>
            <p:ph type="subTitle" idx="6"/>
          </p:nvPr>
        </p:nvSpPr>
        <p:spPr>
          <a:xfrm>
            <a:off x="322670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sp>
        <p:nvSpPr>
          <p:cNvPr id="175" name="Google Shape;175;p23"/>
          <p:cNvSpPr txBox="1">
            <a:spLocks noGrp="1"/>
          </p:cNvSpPr>
          <p:nvPr>
            <p:ph type="subTitle" idx="7"/>
          </p:nvPr>
        </p:nvSpPr>
        <p:spPr>
          <a:xfrm>
            <a:off x="7191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panose="02000504000000020004"/>
                <a:ea typeface="Vidaloka" panose="02000504000000020004"/>
                <a:cs typeface="Vidaloka" panose="02000504000000020004"/>
                <a:sym typeface="Vidaloka" panose="02000504000000020004"/>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p:txBody>
      </p:sp>
      <p:sp>
        <p:nvSpPr>
          <p:cNvPr id="176" name="Google Shape;176;p23"/>
          <p:cNvSpPr txBox="1">
            <a:spLocks noGrp="1"/>
          </p:cNvSpPr>
          <p:nvPr>
            <p:ph type="subTitle" idx="8"/>
          </p:nvPr>
        </p:nvSpPr>
        <p:spPr>
          <a:xfrm>
            <a:off x="71915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p:txBody>
      </p:sp>
      <p:cxnSp>
        <p:nvCxnSpPr>
          <p:cNvPr id="177" name="Google Shape;177;p2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78" name="Google Shape;178;p2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Shape 179"/>
        <p:cNvGrpSpPr/>
        <p:nvPr/>
      </p:nvGrpSpPr>
      <p:grpSpPr>
        <a:xfrm>
          <a:off x="0" y="0"/>
          <a:ext cx="0" cy="0"/>
          <a:chOff x="0" y="0"/>
          <a:chExt cx="0" cy="0"/>
        </a:xfrm>
      </p:grpSpPr>
      <p:cxnSp>
        <p:nvCxnSpPr>
          <p:cNvPr id="180" name="Google Shape;180;p2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1" name="Google Shape;181;p2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2" name="Google Shape;182;p2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83" name="Google Shape;183;p2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84" name="Google Shape;184;p24"/>
          <p:cNvSpPr txBox="1">
            <a:spLocks noGrp="1"/>
          </p:cNvSpPr>
          <p:nvPr>
            <p:ph type="body" idx="1"/>
          </p:nvPr>
        </p:nvSpPr>
        <p:spPr>
          <a:xfrm>
            <a:off x="5547900" y="3007750"/>
            <a:ext cx="2883000" cy="15954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Char char="●"/>
              <a:defRPr sz="3000">
                <a:solidFill>
                  <a:schemeClr val="dk1"/>
                </a:solidFill>
                <a:latin typeface="Vidaloka" panose="02000504000000020004"/>
                <a:ea typeface="Vidaloka" panose="02000504000000020004"/>
                <a:cs typeface="Vidaloka" panose="02000504000000020004"/>
                <a:sym typeface="Vidaloka" panose="02000504000000020004"/>
              </a:defRPr>
            </a:lvl1pPr>
            <a:lvl2pPr marL="914400" lvl="1" indent="-317500" rtl="0">
              <a:lnSpc>
                <a:spcPct val="100000"/>
              </a:lnSpc>
              <a:spcBef>
                <a:spcPts val="0"/>
              </a:spcBef>
              <a:spcAft>
                <a:spcPts val="0"/>
              </a:spcAft>
              <a:buSzPts val="1400"/>
              <a:buChar char="○"/>
              <a:defRPr sz="3000">
                <a:latin typeface="Vidaloka" panose="02000504000000020004"/>
                <a:ea typeface="Vidaloka" panose="02000504000000020004"/>
                <a:cs typeface="Vidaloka" panose="02000504000000020004"/>
                <a:sym typeface="Vidaloka" panose="02000504000000020004"/>
              </a:defRPr>
            </a:lvl2pPr>
            <a:lvl3pPr marL="1371600" lvl="2" indent="-317500" rtl="0">
              <a:lnSpc>
                <a:spcPct val="100000"/>
              </a:lnSpc>
              <a:spcBef>
                <a:spcPts val="0"/>
              </a:spcBef>
              <a:spcAft>
                <a:spcPts val="0"/>
              </a:spcAft>
              <a:buSzPts val="1400"/>
              <a:buChar char="■"/>
              <a:defRPr sz="3000">
                <a:latin typeface="Vidaloka" panose="02000504000000020004"/>
                <a:ea typeface="Vidaloka" panose="02000504000000020004"/>
                <a:cs typeface="Vidaloka" panose="02000504000000020004"/>
                <a:sym typeface="Vidaloka" panose="02000504000000020004"/>
              </a:defRPr>
            </a:lvl3pPr>
            <a:lvl4pPr marL="1828800" lvl="3" indent="-317500" rtl="0">
              <a:lnSpc>
                <a:spcPct val="100000"/>
              </a:lnSpc>
              <a:spcBef>
                <a:spcPts val="0"/>
              </a:spcBef>
              <a:spcAft>
                <a:spcPts val="0"/>
              </a:spcAft>
              <a:buSzPts val="1400"/>
              <a:buChar char="●"/>
              <a:defRPr sz="3000">
                <a:latin typeface="Vidaloka" panose="02000504000000020004"/>
                <a:ea typeface="Vidaloka" panose="02000504000000020004"/>
                <a:cs typeface="Vidaloka" panose="02000504000000020004"/>
                <a:sym typeface="Vidaloka" panose="02000504000000020004"/>
              </a:defRPr>
            </a:lvl4pPr>
            <a:lvl5pPr marL="2286000" lvl="4" indent="-317500" rtl="0">
              <a:lnSpc>
                <a:spcPct val="100000"/>
              </a:lnSpc>
              <a:spcBef>
                <a:spcPts val="0"/>
              </a:spcBef>
              <a:spcAft>
                <a:spcPts val="0"/>
              </a:spcAft>
              <a:buSzPts val="1400"/>
              <a:buChar char="○"/>
              <a:defRPr sz="3000">
                <a:latin typeface="Vidaloka" panose="02000504000000020004"/>
                <a:ea typeface="Vidaloka" panose="02000504000000020004"/>
                <a:cs typeface="Vidaloka" panose="02000504000000020004"/>
                <a:sym typeface="Vidaloka" panose="02000504000000020004"/>
              </a:defRPr>
            </a:lvl5pPr>
            <a:lvl6pPr marL="2743200" lvl="5" indent="-317500" rtl="0">
              <a:lnSpc>
                <a:spcPct val="100000"/>
              </a:lnSpc>
              <a:spcBef>
                <a:spcPts val="0"/>
              </a:spcBef>
              <a:spcAft>
                <a:spcPts val="0"/>
              </a:spcAft>
              <a:buSzPts val="1400"/>
              <a:buChar char="■"/>
              <a:defRPr sz="3000">
                <a:latin typeface="Vidaloka" panose="02000504000000020004"/>
                <a:ea typeface="Vidaloka" panose="02000504000000020004"/>
                <a:cs typeface="Vidaloka" panose="02000504000000020004"/>
                <a:sym typeface="Vidaloka" panose="02000504000000020004"/>
              </a:defRPr>
            </a:lvl6pPr>
            <a:lvl7pPr marL="3200400" lvl="6" indent="-317500" rtl="0">
              <a:lnSpc>
                <a:spcPct val="100000"/>
              </a:lnSpc>
              <a:spcBef>
                <a:spcPts val="0"/>
              </a:spcBef>
              <a:spcAft>
                <a:spcPts val="0"/>
              </a:spcAft>
              <a:buSzPts val="1400"/>
              <a:buChar char="●"/>
              <a:defRPr sz="3000">
                <a:latin typeface="Vidaloka" panose="02000504000000020004"/>
                <a:ea typeface="Vidaloka" panose="02000504000000020004"/>
                <a:cs typeface="Vidaloka" panose="02000504000000020004"/>
                <a:sym typeface="Vidaloka" panose="02000504000000020004"/>
              </a:defRPr>
            </a:lvl7pPr>
            <a:lvl8pPr marL="3657600" lvl="7" indent="-317500" rtl="0">
              <a:lnSpc>
                <a:spcPct val="100000"/>
              </a:lnSpc>
              <a:spcBef>
                <a:spcPts val="0"/>
              </a:spcBef>
              <a:spcAft>
                <a:spcPts val="0"/>
              </a:spcAft>
              <a:buSzPts val="1400"/>
              <a:buChar char="○"/>
              <a:defRPr sz="3000">
                <a:latin typeface="Vidaloka" panose="02000504000000020004"/>
                <a:ea typeface="Vidaloka" panose="02000504000000020004"/>
                <a:cs typeface="Vidaloka" panose="02000504000000020004"/>
                <a:sym typeface="Vidaloka" panose="02000504000000020004"/>
              </a:defRPr>
            </a:lvl8pPr>
            <a:lvl9pPr marL="4114800" lvl="8" indent="-317500" rtl="0">
              <a:lnSpc>
                <a:spcPct val="100000"/>
              </a:lnSpc>
              <a:spcBef>
                <a:spcPts val="0"/>
              </a:spcBef>
              <a:spcAft>
                <a:spcPts val="0"/>
              </a:spcAft>
              <a:buSzPts val="1400"/>
              <a:buChar char="■"/>
              <a:defRPr sz="3000">
                <a:latin typeface="Vidaloka" panose="02000504000000020004"/>
                <a:ea typeface="Vidaloka" panose="02000504000000020004"/>
                <a:cs typeface="Vidaloka" panose="02000504000000020004"/>
                <a:sym typeface="Vidaloka" panose="02000504000000020004"/>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Shape 185"/>
        <p:cNvGrpSpPr/>
        <p:nvPr/>
      </p:nvGrpSpPr>
      <p:grpSpPr>
        <a:xfrm>
          <a:off x="0" y="0"/>
          <a:ext cx="0" cy="0"/>
          <a:chOff x="0" y="0"/>
          <a:chExt cx="0" cy="0"/>
        </a:xfrm>
      </p:grpSpPr>
      <p:sp>
        <p:nvSpPr>
          <p:cNvPr id="186" name="Google Shape;186;p25"/>
          <p:cNvSpPr txBox="1">
            <a:spLocks noGrp="1"/>
          </p:cNvSpPr>
          <p:nvPr>
            <p:ph type="title" hasCustomPrompt="1"/>
          </p:nvPr>
        </p:nvSpPr>
        <p:spPr>
          <a:xfrm>
            <a:off x="713225" y="1345375"/>
            <a:ext cx="6120300" cy="16443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87" name="Google Shape;187;p25"/>
          <p:cNvSpPr txBox="1">
            <a:spLocks noGrp="1"/>
          </p:cNvSpPr>
          <p:nvPr>
            <p:ph type="subTitle" idx="1"/>
          </p:nvPr>
        </p:nvSpPr>
        <p:spPr>
          <a:xfrm>
            <a:off x="713225" y="3188648"/>
            <a:ext cx="61203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88" name="Google Shape;188;p2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9" name="Google Shape;189;p2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0" name="Google Shape;190;p25"/>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91" name="Google Shape;191;p25"/>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panose="02000504000000020004"/>
              <a:buNone/>
              <a:defRPr sz="3000">
                <a:solidFill>
                  <a:schemeClr val="dk1"/>
                </a:solidFill>
                <a:latin typeface="Vidaloka" panose="02000504000000020004"/>
                <a:ea typeface="Vidaloka" panose="02000504000000020004"/>
                <a:cs typeface="Vidaloka" panose="02000504000000020004"/>
                <a:sym typeface="Vidaloka" panose="02000504000000020004"/>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panose="00000500000000000000"/>
              <a:buChar char="●"/>
              <a:defRPr sz="1800">
                <a:solidFill>
                  <a:schemeClr val="dk2"/>
                </a:solidFill>
                <a:latin typeface="Montserrat" panose="00000500000000000000"/>
                <a:ea typeface="Montserrat" panose="00000500000000000000"/>
                <a:cs typeface="Montserrat" panose="00000500000000000000"/>
                <a:sym typeface="Montserrat" panose="00000500000000000000"/>
              </a:defRPr>
            </a:lvl1pPr>
            <a:lvl2pPr marL="914400" lvl="1" indent="-317500">
              <a:lnSpc>
                <a:spcPct val="115000"/>
              </a:lnSpc>
              <a:spcBef>
                <a:spcPts val="0"/>
              </a:spcBef>
              <a:spcAft>
                <a:spcPts val="0"/>
              </a:spcAft>
              <a:buClr>
                <a:schemeClr val="dk2"/>
              </a:buClr>
              <a:buSzPts val="1400"/>
              <a:buFont typeface="Montserrat" panose="00000500000000000000"/>
              <a:buChar char="○"/>
              <a:defRPr>
                <a:solidFill>
                  <a:schemeClr val="dk2"/>
                </a:solidFill>
                <a:latin typeface="Montserrat" panose="00000500000000000000"/>
                <a:ea typeface="Montserrat" panose="00000500000000000000"/>
                <a:cs typeface="Montserrat" panose="00000500000000000000"/>
                <a:sym typeface="Montserrat" panose="00000500000000000000"/>
              </a:defRPr>
            </a:lvl2pPr>
            <a:lvl3pPr marL="1371600" lvl="2" indent="-317500">
              <a:lnSpc>
                <a:spcPct val="115000"/>
              </a:lnSpc>
              <a:spcBef>
                <a:spcPts val="0"/>
              </a:spcBef>
              <a:spcAft>
                <a:spcPts val="0"/>
              </a:spcAft>
              <a:buClr>
                <a:schemeClr val="dk2"/>
              </a:buClr>
              <a:buSzPts val="1400"/>
              <a:buFont typeface="Montserrat" panose="00000500000000000000"/>
              <a:buChar char="■"/>
              <a:defRPr>
                <a:solidFill>
                  <a:schemeClr val="dk2"/>
                </a:solidFill>
                <a:latin typeface="Montserrat" panose="00000500000000000000"/>
                <a:ea typeface="Montserrat" panose="00000500000000000000"/>
                <a:cs typeface="Montserrat" panose="00000500000000000000"/>
                <a:sym typeface="Montserrat" panose="00000500000000000000"/>
              </a:defRPr>
            </a:lvl3pPr>
            <a:lvl4pPr marL="1828800" lvl="3" indent="-317500">
              <a:lnSpc>
                <a:spcPct val="115000"/>
              </a:lnSpc>
              <a:spcBef>
                <a:spcPts val="0"/>
              </a:spcBef>
              <a:spcAft>
                <a:spcPts val="0"/>
              </a:spcAft>
              <a:buClr>
                <a:schemeClr val="dk2"/>
              </a:buClr>
              <a:buSzPts val="1400"/>
              <a:buFont typeface="Montserrat" panose="00000500000000000000"/>
              <a:buChar char="●"/>
              <a:defRPr>
                <a:solidFill>
                  <a:schemeClr val="dk2"/>
                </a:solidFill>
                <a:latin typeface="Montserrat" panose="00000500000000000000"/>
                <a:ea typeface="Montserrat" panose="00000500000000000000"/>
                <a:cs typeface="Montserrat" panose="00000500000000000000"/>
                <a:sym typeface="Montserrat" panose="00000500000000000000"/>
              </a:defRPr>
            </a:lvl4pPr>
            <a:lvl5pPr marL="2286000" lvl="4" indent="-317500">
              <a:lnSpc>
                <a:spcPct val="115000"/>
              </a:lnSpc>
              <a:spcBef>
                <a:spcPts val="0"/>
              </a:spcBef>
              <a:spcAft>
                <a:spcPts val="0"/>
              </a:spcAft>
              <a:buClr>
                <a:schemeClr val="dk2"/>
              </a:buClr>
              <a:buSzPts val="1400"/>
              <a:buFont typeface="Montserrat" panose="00000500000000000000"/>
              <a:buChar char="○"/>
              <a:defRPr>
                <a:solidFill>
                  <a:schemeClr val="dk2"/>
                </a:solidFill>
                <a:latin typeface="Montserrat" panose="00000500000000000000"/>
                <a:ea typeface="Montserrat" panose="00000500000000000000"/>
                <a:cs typeface="Montserrat" panose="00000500000000000000"/>
                <a:sym typeface="Montserrat" panose="00000500000000000000"/>
              </a:defRPr>
            </a:lvl5pPr>
            <a:lvl6pPr marL="2743200" lvl="5" indent="-317500">
              <a:lnSpc>
                <a:spcPct val="115000"/>
              </a:lnSpc>
              <a:spcBef>
                <a:spcPts val="0"/>
              </a:spcBef>
              <a:spcAft>
                <a:spcPts val="0"/>
              </a:spcAft>
              <a:buClr>
                <a:schemeClr val="dk2"/>
              </a:buClr>
              <a:buSzPts val="1400"/>
              <a:buFont typeface="Montserrat" panose="00000500000000000000"/>
              <a:buChar char="■"/>
              <a:defRPr>
                <a:solidFill>
                  <a:schemeClr val="dk2"/>
                </a:solidFill>
                <a:latin typeface="Montserrat" panose="00000500000000000000"/>
                <a:ea typeface="Montserrat" panose="00000500000000000000"/>
                <a:cs typeface="Montserrat" panose="00000500000000000000"/>
                <a:sym typeface="Montserrat" panose="00000500000000000000"/>
              </a:defRPr>
            </a:lvl6pPr>
            <a:lvl7pPr marL="3200400" lvl="6" indent="-317500">
              <a:lnSpc>
                <a:spcPct val="115000"/>
              </a:lnSpc>
              <a:spcBef>
                <a:spcPts val="0"/>
              </a:spcBef>
              <a:spcAft>
                <a:spcPts val="0"/>
              </a:spcAft>
              <a:buClr>
                <a:schemeClr val="dk2"/>
              </a:buClr>
              <a:buSzPts val="1400"/>
              <a:buFont typeface="Montserrat" panose="00000500000000000000"/>
              <a:buChar char="●"/>
              <a:defRPr>
                <a:solidFill>
                  <a:schemeClr val="dk2"/>
                </a:solidFill>
                <a:latin typeface="Montserrat" panose="00000500000000000000"/>
                <a:ea typeface="Montserrat" panose="00000500000000000000"/>
                <a:cs typeface="Montserrat" panose="00000500000000000000"/>
                <a:sym typeface="Montserrat" panose="00000500000000000000"/>
              </a:defRPr>
            </a:lvl7pPr>
            <a:lvl8pPr marL="3657600" lvl="7" indent="-317500">
              <a:lnSpc>
                <a:spcPct val="115000"/>
              </a:lnSpc>
              <a:spcBef>
                <a:spcPts val="0"/>
              </a:spcBef>
              <a:spcAft>
                <a:spcPts val="0"/>
              </a:spcAft>
              <a:buClr>
                <a:schemeClr val="dk2"/>
              </a:buClr>
              <a:buSzPts val="1400"/>
              <a:buFont typeface="Montserrat" panose="00000500000000000000"/>
              <a:buChar char="○"/>
              <a:defRPr>
                <a:solidFill>
                  <a:schemeClr val="dk2"/>
                </a:solidFill>
                <a:latin typeface="Montserrat" panose="00000500000000000000"/>
                <a:ea typeface="Montserrat" panose="00000500000000000000"/>
                <a:cs typeface="Montserrat" panose="00000500000000000000"/>
                <a:sym typeface="Montserrat" panose="00000500000000000000"/>
              </a:defRPr>
            </a:lvl8pPr>
            <a:lvl9pPr marL="4114800" lvl="8" indent="-317500">
              <a:lnSpc>
                <a:spcPct val="115000"/>
              </a:lnSpc>
              <a:spcBef>
                <a:spcPts val="0"/>
              </a:spcBef>
              <a:spcAft>
                <a:spcPts val="0"/>
              </a:spcAft>
              <a:buClr>
                <a:schemeClr val="dk2"/>
              </a:buClr>
              <a:buSzPts val="1400"/>
              <a:buFont typeface="Montserrat" panose="00000500000000000000"/>
              <a:buChar char="■"/>
              <a:defRPr>
                <a:solidFill>
                  <a:schemeClr val="dk2"/>
                </a:solidFill>
                <a:latin typeface="Montserrat" panose="00000500000000000000"/>
                <a:ea typeface="Montserrat" panose="00000500000000000000"/>
                <a:cs typeface="Montserrat" panose="00000500000000000000"/>
                <a:sym typeface="Montserrat" panose="00000500000000000000"/>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1.xml"/><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1.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1.xml"/><Relationship Id="rId2" Type="http://schemas.openxmlformats.org/officeDocument/2006/relationships/image" Target="../media/image7.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1.xml"/><Relationship Id="rId2" Type="http://schemas.openxmlformats.org/officeDocument/2006/relationships/image" Target="../media/image10.pn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9"/>
          <p:cNvSpPr txBox="1">
            <a:spLocks noGrp="1"/>
          </p:cNvSpPr>
          <p:nvPr>
            <p:ph type="ctrTitle"/>
          </p:nvPr>
        </p:nvSpPr>
        <p:spPr>
          <a:xfrm>
            <a:off x="853365" y="960016"/>
            <a:ext cx="7356289" cy="20526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GB" dirty="0" smtClean="0">
                <a:latin typeface="Times New Roman" panose="02020603050405020304" pitchFamily="18" charset="0"/>
                <a:cs typeface="Times New Roman" panose="02020603050405020304" pitchFamily="18" charset="0"/>
              </a:rPr>
              <a:t>Perceptron Learning Algorithm</a:t>
            </a:r>
            <a:endParaRPr dirty="0">
              <a:latin typeface="Times New Roman" panose="02020603050405020304" pitchFamily="18" charset="0"/>
              <a:cs typeface="Times New Roman" panose="02020603050405020304" pitchFamily="18" charset="0"/>
            </a:endParaRPr>
          </a:p>
        </p:txBody>
      </p:sp>
      <p:sp>
        <p:nvSpPr>
          <p:cNvPr id="483" name="Google Shape;483;p59"/>
          <p:cNvSpPr txBox="1">
            <a:spLocks noGrp="1"/>
          </p:cNvSpPr>
          <p:nvPr>
            <p:ph type="subTitle" idx="1"/>
          </p:nvPr>
        </p:nvSpPr>
        <p:spPr>
          <a:xfrm>
            <a:off x="999460" y="3173926"/>
            <a:ext cx="7064100" cy="124407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sz="2400" dirty="0" smtClean="0">
                <a:solidFill>
                  <a:schemeClr val="dk1"/>
                </a:solidFill>
                <a:latin typeface="Times New Roman" panose="02020603050405020304" pitchFamily="18" charset="0"/>
                <a:cs typeface="Times New Roman" panose="02020603050405020304" pitchFamily="18" charset="0"/>
              </a:rPr>
              <a:t>Thực hiện:</a:t>
            </a:r>
            <a:br>
              <a:rPr lang="en-GB" sz="2400" dirty="0" smtClean="0">
                <a:solidFill>
                  <a:schemeClr val="dk1"/>
                </a:solidFill>
                <a:latin typeface="Times New Roman" panose="02020603050405020304" pitchFamily="18" charset="0"/>
                <a:cs typeface="Times New Roman" panose="02020603050405020304" pitchFamily="18" charset="0"/>
              </a:rPr>
            </a:br>
            <a:r>
              <a:rPr lang="en-GB" sz="2400" dirty="0" smtClean="0">
                <a:solidFill>
                  <a:schemeClr val="dk1"/>
                </a:solidFill>
                <a:latin typeface="Times New Roman" panose="02020603050405020304" pitchFamily="18" charset="0"/>
                <a:cs typeface="Times New Roman" panose="02020603050405020304" pitchFamily="18" charset="0"/>
              </a:rPr>
              <a:t>Nguyễn Khôi Nguyên</a:t>
            </a:r>
            <a:br>
              <a:rPr lang="en-GB" sz="2400" dirty="0" smtClean="0">
                <a:solidFill>
                  <a:schemeClr val="dk1"/>
                </a:solidFill>
                <a:latin typeface="Times New Roman" panose="02020603050405020304" pitchFamily="18" charset="0"/>
                <a:cs typeface="Times New Roman" panose="02020603050405020304" pitchFamily="18" charset="0"/>
              </a:rPr>
            </a:br>
            <a:r>
              <a:rPr lang="en-GB" sz="2400" dirty="0" smtClean="0">
                <a:solidFill>
                  <a:schemeClr val="dk1"/>
                </a:solidFill>
                <a:latin typeface="Times New Roman" panose="02020603050405020304" pitchFamily="18" charset="0"/>
                <a:cs typeface="Times New Roman" panose="02020603050405020304" pitchFamily="18" charset="0"/>
              </a:rPr>
              <a:t>Trương Đoàn Bảo Tuấn</a:t>
            </a:r>
            <a:endParaRPr lang="en-GB" sz="2400" dirty="0" smtClean="0">
              <a:solidFill>
                <a:schemeClr val="dk1"/>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1100"/>
              <a:buFont typeface="Arial" panose="020B0604020202020204"/>
              <a:buNone/>
            </a:pPr>
            <a:r>
              <a:rPr lang="en-GB" sz="2400" dirty="0" smtClean="0">
                <a:solidFill>
                  <a:schemeClr val="dk1"/>
                </a:solidFill>
                <a:latin typeface="Times New Roman" panose="02020603050405020304" pitchFamily="18" charset="0"/>
                <a:cs typeface="Times New Roman" panose="02020603050405020304" pitchFamily="18" charset="0"/>
              </a:rPr>
              <a:t>Lê Hoàng Vũ</a:t>
            </a:r>
            <a:endParaRPr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2"/>
                                        </p:tgtEl>
                                        <p:attrNameLst>
                                          <p:attrName>style.visibility</p:attrName>
                                        </p:attrNameLst>
                                      </p:cBhvr>
                                      <p:to>
                                        <p:strVal val="visible"/>
                                      </p:to>
                                    </p:set>
                                    <p:anim calcmode="lin" valueType="num">
                                      <p:cBhvr additive="base">
                                        <p:cTn id="7" dur="1000"/>
                                        <p:tgtEl>
                                          <p:spTgt spid="482"/>
                                        </p:tgtEl>
                                        <p:attrNameLst>
                                          <p:attrName>ppt_x</p:attrName>
                                        </p:attrNameLst>
                                      </p:cBhvr>
                                      <p:tavLst>
                                        <p:tav tm="0">
                                          <p:val>
                                            <p:strVal val="#ppt_x-1"/>
                                          </p:val>
                                        </p:tav>
                                        <p:tav tm="100000">
                                          <p:val>
                                            <p:strVal val="#ppt_x"/>
                                          </p:val>
                                        </p:tav>
                                      </p:tavLst>
                                    </p:anim>
                                  </p:childTnLst>
                                </p:cTn>
                              </p:par>
                              <p:par>
                                <p:cTn id="8" presetID="2" presetClass="entr" presetSubtype="4" fill="hold" nodeType="withEffect">
                                  <p:stCondLst>
                                    <p:cond delay="0"/>
                                  </p:stCondLst>
                                  <p:childTnLst>
                                    <p:set>
                                      <p:cBhvr>
                                        <p:cTn id="9" dur="1" fill="hold">
                                          <p:stCondLst>
                                            <p:cond delay="0"/>
                                          </p:stCondLst>
                                        </p:cTn>
                                        <p:tgtEl>
                                          <p:spTgt spid="483"/>
                                        </p:tgtEl>
                                        <p:attrNameLst>
                                          <p:attrName>style.visibility</p:attrName>
                                        </p:attrNameLst>
                                      </p:cBhvr>
                                      <p:to>
                                        <p:strVal val="visible"/>
                                      </p:to>
                                    </p:set>
                                    <p:anim calcmode="lin" valueType="num">
                                      <p:cBhvr additive="base">
                                        <p:cTn id="10" dur="1000"/>
                                        <p:tgtEl>
                                          <p:spTgt spid="4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1"/>
          <p:cNvSpPr txBox="1">
            <a:spLocks noGrp="1"/>
          </p:cNvSpPr>
          <p:nvPr>
            <p:ph type="title"/>
          </p:nvPr>
        </p:nvSpPr>
        <p:spPr>
          <a:xfrm>
            <a:off x="713105" y="445135"/>
            <a:ext cx="7577455" cy="57277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smtClean="0">
                <a:latin typeface="Times New Roman" panose="02020603050405020304" pitchFamily="18" charset="0"/>
                <a:cs typeface="Times New Roman" panose="02020603050405020304" pitchFamily="18" charset="0"/>
              </a:rPr>
              <a:t>TỔNG QUAN</a:t>
            </a:r>
            <a:endParaRPr b="1" dirty="0">
              <a:latin typeface="Times New Roman" panose="02020603050405020304" pitchFamily="18" charset="0"/>
              <a:cs typeface="Times New Roman" panose="02020603050405020304" pitchFamily="18" charset="0"/>
            </a:endParaRPr>
          </a:p>
        </p:txBody>
      </p:sp>
      <p:sp>
        <p:nvSpPr>
          <p:cNvPr id="495" name="Google Shape;495;p61"/>
          <p:cNvSpPr txBox="1">
            <a:spLocks noGrp="1"/>
          </p:cNvSpPr>
          <p:nvPr>
            <p:ph type="subTitle" idx="3"/>
          </p:nvPr>
        </p:nvSpPr>
        <p:spPr>
          <a:xfrm>
            <a:off x="621611" y="1180681"/>
            <a:ext cx="1748239" cy="40102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smtClean="0">
                <a:latin typeface="Times New Roman" panose="02020603050405020304" pitchFamily="18" charset="0"/>
                <a:cs typeface="Times New Roman" panose="02020603050405020304" pitchFamily="18" charset="0"/>
              </a:rPr>
              <a:t>Giới thiệu</a:t>
            </a:r>
            <a:endParaRPr b="1" dirty="0">
              <a:latin typeface="Times New Roman" panose="02020603050405020304" pitchFamily="18" charset="0"/>
              <a:cs typeface="Times New Roman" panose="02020603050405020304" pitchFamily="18" charset="0"/>
            </a:endParaRPr>
          </a:p>
        </p:txBody>
      </p:sp>
      <p:sp>
        <p:nvSpPr>
          <p:cNvPr id="498" name="Google Shape;498;p61"/>
          <p:cNvSpPr txBox="1">
            <a:spLocks noGrp="1"/>
          </p:cNvSpPr>
          <p:nvPr>
            <p:ph type="subTitle" idx="4"/>
          </p:nvPr>
        </p:nvSpPr>
        <p:spPr>
          <a:xfrm>
            <a:off x="621613" y="1515447"/>
            <a:ext cx="3113764" cy="87373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smtClean="0">
                <a:latin typeface="Times New Roman" panose="02020603050405020304" pitchFamily="18" charset="0"/>
                <a:cs typeface="Times New Roman" panose="02020603050405020304" pitchFamily="18" charset="0"/>
              </a:rPr>
              <a:t>- Bài toán Perceptron</a:t>
            </a:r>
            <a:endParaRPr sz="1600" dirty="0">
              <a:latin typeface="Times New Roman" panose="02020603050405020304" pitchFamily="18" charset="0"/>
              <a:cs typeface="Times New Roman" panose="02020603050405020304" pitchFamily="18" charset="0"/>
            </a:endParaRPr>
          </a:p>
        </p:txBody>
      </p:sp>
      <p:sp>
        <p:nvSpPr>
          <p:cNvPr id="503" name="Google Shape;503;p61"/>
          <p:cNvSpPr txBox="1">
            <a:spLocks noGrp="1"/>
          </p:cNvSpPr>
          <p:nvPr>
            <p:ph type="title" idx="9"/>
          </p:nvPr>
        </p:nvSpPr>
        <p:spPr>
          <a:xfrm>
            <a:off x="43201" y="1047445"/>
            <a:ext cx="670024"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01</a:t>
            </a:r>
            <a:endParaRPr lang="en-GB" sz="3600" b="1" dirty="0" smtClean="0">
              <a:latin typeface="Times New Roman" panose="02020603050405020304" pitchFamily="18" charset="0"/>
              <a:cs typeface="Times New Roman" panose="02020603050405020304" pitchFamily="18" charset="0"/>
            </a:endParaRPr>
          </a:p>
        </p:txBody>
      </p:sp>
      <p:sp>
        <p:nvSpPr>
          <p:cNvPr id="23" name="Google Shape;495;p61"/>
          <p:cNvSpPr txBox="1">
            <a:spLocks noGrp="1"/>
          </p:cNvSpPr>
          <p:nvPr>
            <p:ph type="subTitle" idx="3"/>
          </p:nvPr>
        </p:nvSpPr>
        <p:spPr>
          <a:xfrm>
            <a:off x="4405401" y="1047445"/>
            <a:ext cx="4007744" cy="6569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smtClean="0">
                <a:latin typeface="Times New Roman" panose="02020603050405020304" pitchFamily="18" charset="0"/>
                <a:cs typeface="Times New Roman" panose="02020603050405020304" pitchFamily="18" charset="0"/>
              </a:rPr>
              <a:t>Thuật toán Perceptron Learning Algorithm (PLA)</a:t>
            </a:r>
            <a:endParaRPr b="1" dirty="0">
              <a:latin typeface="Times New Roman" panose="02020603050405020304" pitchFamily="18" charset="0"/>
              <a:cs typeface="Times New Roman" panose="02020603050405020304" pitchFamily="18" charset="0"/>
            </a:endParaRPr>
          </a:p>
        </p:txBody>
      </p:sp>
      <p:sp>
        <p:nvSpPr>
          <p:cNvPr id="24" name="Google Shape;498;p61"/>
          <p:cNvSpPr txBox="1">
            <a:spLocks noGrp="1"/>
          </p:cNvSpPr>
          <p:nvPr>
            <p:ph type="subTitle" idx="4"/>
          </p:nvPr>
        </p:nvSpPr>
        <p:spPr>
          <a:xfrm>
            <a:off x="4405401" y="1822660"/>
            <a:ext cx="2443740" cy="4330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Xây</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dựng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hàm</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mất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mát</a:t>
            </a:r>
            <a:r>
              <a:rPr lang="en-US" sz="1600" dirty="0" smtClean="0">
                <a:latin typeface="Times New Roman" panose="02020603050405020304" pitchFamily="18" charset="0"/>
                <a:cs typeface="Times New Roman" panose="02020603050405020304" pitchFamily="18" charset="0"/>
              </a:rPr>
              <a:t> </a:t>
            </a:r>
            <a:endParaRPr lang="en-US" sz="1600" dirty="0" smtClean="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Chứng</a:t>
            </a:r>
            <a:r>
              <a:rPr lang="en-US" sz="1600" dirty="0" smtClean="0">
                <a:latin typeface="Times New Roman" panose="02020603050405020304" pitchFamily="18" charset="0"/>
                <a:cs typeface="Times New Roman" panose="02020603050405020304" pitchFamily="18" charset="0"/>
              </a:rPr>
              <a:t> minh </a:t>
            </a:r>
            <a:r>
              <a:rPr lang="en-US" sz="1600" dirty="0" err="1" smtClean="0">
                <a:latin typeface="Times New Roman" panose="02020603050405020304" pitchFamily="18" charset="0"/>
                <a:cs typeface="Times New Roman" panose="02020603050405020304" pitchFamily="18" charset="0"/>
              </a:rPr>
              <a:t>hội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tụ</a:t>
            </a:r>
            <a:endParaRPr sz="1600" dirty="0">
              <a:latin typeface="Times New Roman" panose="02020603050405020304" pitchFamily="18" charset="0"/>
              <a:cs typeface="Times New Roman" panose="02020603050405020304" pitchFamily="18" charset="0"/>
            </a:endParaRPr>
          </a:p>
        </p:txBody>
      </p:sp>
      <p:sp>
        <p:nvSpPr>
          <p:cNvPr id="25" name="Google Shape;503;p61"/>
          <p:cNvSpPr txBox="1">
            <a:spLocks noGrp="1"/>
          </p:cNvSpPr>
          <p:nvPr>
            <p:ph type="title" idx="9"/>
          </p:nvPr>
        </p:nvSpPr>
        <p:spPr>
          <a:xfrm>
            <a:off x="3735377" y="1042173"/>
            <a:ext cx="761636"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02</a:t>
            </a:r>
            <a:endParaRPr lang="en-GB" sz="3600" b="1" dirty="0" smtClean="0">
              <a:latin typeface="Times New Roman" panose="02020603050405020304" pitchFamily="18" charset="0"/>
              <a:cs typeface="Times New Roman" panose="02020603050405020304" pitchFamily="18" charset="0"/>
            </a:endParaRPr>
          </a:p>
        </p:txBody>
      </p:sp>
      <p:sp>
        <p:nvSpPr>
          <p:cNvPr id="29" name="Google Shape;495;p61"/>
          <p:cNvSpPr txBox="1">
            <a:spLocks noGrp="1"/>
          </p:cNvSpPr>
          <p:nvPr>
            <p:ph type="subTitle" idx="3"/>
          </p:nvPr>
        </p:nvSpPr>
        <p:spPr>
          <a:xfrm>
            <a:off x="713225" y="2953160"/>
            <a:ext cx="3022152" cy="4758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smtClean="0">
                <a:latin typeface="Times New Roman" panose="02020603050405020304" pitchFamily="18" charset="0"/>
                <a:cs typeface="Times New Roman" panose="02020603050405020304" pitchFamily="18" charset="0"/>
              </a:rPr>
              <a:t>Ví dụ trên python</a:t>
            </a:r>
            <a:endParaRPr b="1" dirty="0">
              <a:latin typeface="Times New Roman" panose="02020603050405020304" pitchFamily="18" charset="0"/>
              <a:cs typeface="Times New Roman" panose="02020603050405020304" pitchFamily="18" charset="0"/>
            </a:endParaRPr>
          </a:p>
        </p:txBody>
      </p:sp>
      <p:sp>
        <p:nvSpPr>
          <p:cNvPr id="31" name="Google Shape;503;p61"/>
          <p:cNvSpPr txBox="1">
            <a:spLocks noGrp="1"/>
          </p:cNvSpPr>
          <p:nvPr>
            <p:ph type="title" idx="9"/>
          </p:nvPr>
        </p:nvSpPr>
        <p:spPr>
          <a:xfrm>
            <a:off x="43201" y="2829682"/>
            <a:ext cx="761636"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03</a:t>
            </a:r>
            <a:endParaRPr lang="en-GB" sz="36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4"/>
                                        </p:tgtEl>
                                        <p:attrNameLst>
                                          <p:attrName>style.visibility</p:attrName>
                                        </p:attrNameLst>
                                      </p:cBhvr>
                                      <p:to>
                                        <p:strVal val="visible"/>
                                      </p:to>
                                    </p:set>
                                    <p:animEffect transition="in" filter="fade">
                                      <p:cBhvr>
                                        <p:cTn id="7" dur="500"/>
                                        <p:tgtEl>
                                          <p:spTgt spid="4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03"/>
                                        </p:tgtEl>
                                        <p:attrNameLst>
                                          <p:attrName>style.visibility</p:attrName>
                                        </p:attrNameLst>
                                      </p:cBhvr>
                                      <p:to>
                                        <p:strVal val="visible"/>
                                      </p:to>
                                    </p:set>
                                    <p:animEffect transition="in" filter="wipe(down)">
                                      <p:cBhvr>
                                        <p:cTn id="12" dur="500"/>
                                        <p:tgtEl>
                                          <p:spTgt spid="50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495">
                                            <p:txEl>
                                              <p:pRg st="0" end="0"/>
                                            </p:txEl>
                                          </p:spTgt>
                                        </p:tgtEl>
                                        <p:attrNameLst>
                                          <p:attrName>style.visibility</p:attrName>
                                        </p:attrNameLst>
                                      </p:cBhvr>
                                      <p:to>
                                        <p:strVal val="visible"/>
                                      </p:to>
                                    </p:set>
                                    <p:animEffect transition="in" filter="wipe(down)">
                                      <p:cBhvr>
                                        <p:cTn id="15" dur="500"/>
                                        <p:tgtEl>
                                          <p:spTgt spid="495">
                                            <p:txEl>
                                              <p:pRg st="0" end="0"/>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498">
                                            <p:txEl>
                                              <p:pRg st="0" end="0"/>
                                            </p:txEl>
                                          </p:spTgt>
                                        </p:tgtEl>
                                        <p:attrNameLst>
                                          <p:attrName>style.visibility</p:attrName>
                                        </p:attrNameLst>
                                      </p:cBhvr>
                                      <p:to>
                                        <p:strVal val="visible"/>
                                      </p:to>
                                    </p:set>
                                    <p:animEffect transition="in" filter="wipe(down)">
                                      <p:cBhvr>
                                        <p:cTn id="18" dur="500"/>
                                        <p:tgtEl>
                                          <p:spTgt spid="498">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down)">
                                      <p:cBhvr>
                                        <p:cTn id="23" dur="500"/>
                                        <p:tgtEl>
                                          <p:spTgt spid="25"/>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23">
                                            <p:txEl>
                                              <p:pRg st="0" end="0"/>
                                            </p:txEl>
                                          </p:spTgt>
                                        </p:tgtEl>
                                        <p:attrNameLst>
                                          <p:attrName>style.visibility</p:attrName>
                                        </p:attrNameLst>
                                      </p:cBhvr>
                                      <p:to>
                                        <p:strVal val="visible"/>
                                      </p:to>
                                    </p:set>
                                    <p:animEffect transition="in" filter="wipe(down)">
                                      <p:cBhvr>
                                        <p:cTn id="26" dur="500"/>
                                        <p:tgtEl>
                                          <p:spTgt spid="23">
                                            <p:txEl>
                                              <p:pRg st="0" end="0"/>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24">
                                            <p:txEl>
                                              <p:pRg st="0" end="0"/>
                                            </p:txEl>
                                          </p:spTgt>
                                        </p:tgtEl>
                                        <p:attrNameLst>
                                          <p:attrName>style.visibility</p:attrName>
                                        </p:attrNameLst>
                                      </p:cBhvr>
                                      <p:to>
                                        <p:strVal val="visible"/>
                                      </p:to>
                                    </p:set>
                                    <p:animEffect transition="in" filter="wipe(down)">
                                      <p:cBhvr>
                                        <p:cTn id="29" dur="500"/>
                                        <p:tgtEl>
                                          <p:spTgt spid="24">
                                            <p:txEl>
                                              <p:pRg st="0" end="0"/>
                                            </p:txEl>
                                          </p:spTgt>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4">
                                            <p:txEl>
                                              <p:pRg st="1" end="1"/>
                                            </p:txEl>
                                          </p:spTgt>
                                        </p:tgtEl>
                                        <p:attrNameLst>
                                          <p:attrName>style.visibility</p:attrName>
                                        </p:attrNameLst>
                                      </p:cBhvr>
                                      <p:to>
                                        <p:strVal val="visible"/>
                                      </p:to>
                                    </p:set>
                                    <p:animEffect transition="in" filter="wipe(down)">
                                      <p:cBhvr>
                                        <p:cTn id="32" dur="500"/>
                                        <p:tgtEl>
                                          <p:spTgt spid="24">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down)">
                                      <p:cBhvr>
                                        <p:cTn id="37" dur="500"/>
                                        <p:tgtEl>
                                          <p:spTgt spid="31"/>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9">
                                            <p:txEl>
                                              <p:pRg st="0" end="0"/>
                                            </p:txEl>
                                          </p:spTgt>
                                        </p:tgtEl>
                                        <p:attrNameLst>
                                          <p:attrName>style.visibility</p:attrName>
                                        </p:attrNameLst>
                                      </p:cBhvr>
                                      <p:to>
                                        <p:strVal val="visible"/>
                                      </p:to>
                                    </p:set>
                                    <p:animEffect transition="in" filter="wipe(down)">
                                      <p:cBhvr>
                                        <p:cTn id="40"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 grpId="0"/>
      <p:bldP spid="495" grpId="0" build="p"/>
      <p:bldP spid="498" grpId="0" uiExpand="1" build="p"/>
      <p:bldP spid="503" grpId="0"/>
      <p:bldP spid="23" grpId="0" build="p"/>
      <p:bldP spid="24" grpId="0" uiExpand="1" build="p"/>
      <p:bldP spid="25" grpId="0"/>
      <p:bldP spid="29" grpId="0" build="p"/>
      <p:bldP spid="3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69"/>
          <p:cNvSpPr txBox="1">
            <a:spLocks noGrp="1"/>
          </p:cNvSpPr>
          <p:nvPr>
            <p:ph type="title"/>
          </p:nvPr>
        </p:nvSpPr>
        <p:spPr>
          <a:xfrm>
            <a:off x="2714550" y="2317463"/>
            <a:ext cx="3714900" cy="8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b="1" dirty="0" smtClean="0">
                <a:latin typeface="Times New Roman" panose="02020603050405020304" pitchFamily="18" charset="0"/>
                <a:cs typeface="Times New Roman" panose="02020603050405020304" pitchFamily="18" charset="0"/>
              </a:rPr>
              <a:t>Giới thiệu</a:t>
            </a:r>
            <a:endParaRPr b="1" dirty="0">
              <a:latin typeface="Times New Roman" panose="02020603050405020304" pitchFamily="18" charset="0"/>
              <a:cs typeface="Times New Roman" panose="02020603050405020304" pitchFamily="18" charset="0"/>
            </a:endParaRPr>
          </a:p>
        </p:txBody>
      </p:sp>
      <p:sp>
        <p:nvSpPr>
          <p:cNvPr id="573" name="Google Shape;573;p69"/>
          <p:cNvSpPr txBox="1">
            <a:spLocks noGrp="1"/>
          </p:cNvSpPr>
          <p:nvPr>
            <p:ph type="title" idx="2"/>
          </p:nvPr>
        </p:nvSpPr>
        <p:spPr>
          <a:xfrm>
            <a:off x="3746550" y="1339163"/>
            <a:ext cx="1650900" cy="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a:latin typeface="Times New Roman" panose="02020603050405020304" pitchFamily="18" charset="0"/>
                <a:cs typeface="Times New Roman" panose="02020603050405020304" pitchFamily="18" charset="0"/>
              </a:rPr>
              <a:t>01</a:t>
            </a:r>
            <a:endParaRPr lang="en-GB" b="1" dirty="0">
              <a:latin typeface="Times New Roman" panose="02020603050405020304" pitchFamily="18" charset="0"/>
              <a:cs typeface="Times New Roman" panose="02020603050405020304" pitchFamily="18" charset="0"/>
            </a:endParaRPr>
          </a:p>
        </p:txBody>
      </p:sp>
      <p:sp>
        <p:nvSpPr>
          <p:cNvPr id="6" name="Google Shape;498;p61"/>
          <p:cNvSpPr txBox="1">
            <a:spLocks noGrp="1"/>
          </p:cNvSpPr>
          <p:nvPr>
            <p:ph type="subTitle" idx="4294967295"/>
          </p:nvPr>
        </p:nvSpPr>
        <p:spPr>
          <a:xfrm>
            <a:off x="3015118" y="3135863"/>
            <a:ext cx="3113764" cy="87373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400" dirty="0" smtClean="0">
                <a:latin typeface="Times New Roman" panose="02020603050405020304" pitchFamily="18" charset="0"/>
                <a:cs typeface="Times New Roman" panose="02020603050405020304" pitchFamily="18" charset="0"/>
              </a:rPr>
              <a:t>- Bài toán Perceptron</a:t>
            </a:r>
            <a:endParaRPr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73"/>
                                        </p:tgtEl>
                                        <p:attrNameLst>
                                          <p:attrName>style.visibility</p:attrName>
                                        </p:attrNameLst>
                                      </p:cBhvr>
                                      <p:to>
                                        <p:strVal val="visible"/>
                                      </p:to>
                                    </p:set>
                                    <p:animEffect transition="in" filter="fade">
                                      <p:cBhvr>
                                        <p:cTn id="7" dur="700"/>
                                        <p:tgtEl>
                                          <p:spTgt spid="57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2"/>
                                        </p:tgtEl>
                                        <p:attrNameLst>
                                          <p:attrName>style.visibility</p:attrName>
                                        </p:attrNameLst>
                                      </p:cBhvr>
                                      <p:to>
                                        <p:strVal val="visible"/>
                                      </p:to>
                                    </p:set>
                                    <p:animEffect transition="in" filter="fade">
                                      <p:cBhvr>
                                        <p:cTn id="10" dur="800"/>
                                        <p:tgtEl>
                                          <p:spTgt spid="57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fade">
                                      <p:cBhvr>
                                        <p:cTn id="13"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 grpId="0"/>
      <p:bldP spid="573" grpId="0"/>
      <p:bldP spid="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8" name="Google Shape;495;p61"/>
          <p:cNvSpPr txBox="1">
            <a:spLocks noGrp="1"/>
          </p:cNvSpPr>
          <p:nvPr>
            <p:ph type="subTitle" idx="4294967295"/>
          </p:nvPr>
        </p:nvSpPr>
        <p:spPr>
          <a:xfrm>
            <a:off x="603594" y="441954"/>
            <a:ext cx="1748239" cy="40102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b="1" dirty="0" smtClean="0">
                <a:latin typeface="Times New Roman" panose="02020603050405020304" pitchFamily="18" charset="0"/>
                <a:cs typeface="Times New Roman" panose="02020603050405020304" pitchFamily="18" charset="0"/>
              </a:rPr>
              <a:t>Giới thiệu</a:t>
            </a:r>
            <a:endParaRPr sz="2000" b="1" dirty="0">
              <a:latin typeface="Times New Roman" panose="02020603050405020304" pitchFamily="18" charset="0"/>
              <a:cs typeface="Times New Roman" panose="02020603050405020304" pitchFamily="18" charset="0"/>
            </a:endParaRPr>
          </a:p>
        </p:txBody>
      </p:sp>
      <p:sp>
        <p:nvSpPr>
          <p:cNvPr id="10" name="Google Shape;503;p61"/>
          <p:cNvSpPr txBox="1">
            <a:spLocks noGrp="1"/>
          </p:cNvSpPr>
          <p:nvPr>
            <p:ph type="title" idx="4294967295"/>
          </p:nvPr>
        </p:nvSpPr>
        <p:spPr>
          <a:xfrm>
            <a:off x="0" y="308718"/>
            <a:ext cx="670024"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01</a:t>
            </a:r>
            <a:endParaRPr lang="en-GB" sz="3600" b="1" dirty="0" smtClean="0">
              <a:latin typeface="Times New Roman" panose="02020603050405020304" pitchFamily="18" charset="0"/>
              <a:cs typeface="Times New Roman" panose="02020603050405020304" pitchFamily="18" charset="0"/>
            </a:endParaRPr>
          </a:p>
        </p:txBody>
      </p:sp>
      <p:sp>
        <p:nvSpPr>
          <p:cNvPr id="17" name="AutoShape 12" descr="Đã tải lên ảnh"/>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8" name="Picture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42179" y="2217392"/>
            <a:ext cx="3386623" cy="2419653"/>
          </a:xfrm>
          <a:prstGeom prst="rect">
            <a:avLst/>
          </a:prstGeom>
        </p:spPr>
      </p:pic>
      <p:sp>
        <p:nvSpPr>
          <p:cNvPr id="2" name="TextBox 1"/>
          <p:cNvSpPr txBox="1"/>
          <p:nvPr/>
        </p:nvSpPr>
        <p:spPr>
          <a:xfrm>
            <a:off x="474896" y="842980"/>
            <a:ext cx="8121191" cy="1077218"/>
          </a:xfrm>
          <a:prstGeom prst="rect">
            <a:avLst/>
          </a:prstGeom>
          <a:noFill/>
        </p:spPr>
        <p:txBody>
          <a:bodyPr wrap="square" rtlCol="0">
            <a:spAutoFit/>
          </a:bodyPr>
          <a:lstStyle/>
          <a:p>
            <a:r>
              <a:rPr lang="vi-VN" sz="1600" dirty="0">
                <a:latin typeface="+mj-lt"/>
              </a:rPr>
              <a:t>Perceptron là một thuật toán Classification cho trường hợp đơn giản nhất: chỉ có hai class (lớp) (</a:t>
            </a:r>
            <a:r>
              <a:rPr lang="vi-VN" sz="1600" i="1" dirty="0">
                <a:latin typeface="+mj-lt"/>
              </a:rPr>
              <a:t>bài toán với chỉ hai class được gọi là binary classification</a:t>
            </a:r>
            <a:r>
              <a:rPr lang="vi-VN" sz="1600" dirty="0">
                <a:latin typeface="+mj-lt"/>
              </a:rPr>
              <a:t>) và cũng chỉ hoạt động được trong một trường hợp rất cụ thể. Tuy nhiên, nó là nền tảng cho một mảng lớn quan trọng của Machine Learning là Neural Networks và sau này là Deep Learning. </a:t>
            </a:r>
            <a:endParaRPr lang="en-US" sz="1600" dirty="0">
              <a:latin typeface="+mj-lt"/>
            </a:endParaRPr>
          </a:p>
        </p:txBody>
      </p:sp>
      <p:cxnSp>
        <p:nvCxnSpPr>
          <p:cNvPr id="4" name="Straight Connector 3"/>
          <p:cNvCxnSpPr/>
          <p:nvPr/>
        </p:nvCxnSpPr>
        <p:spPr>
          <a:xfrm flipH="1">
            <a:off x="4114800" y="2326640"/>
            <a:ext cx="492760" cy="2001520"/>
          </a:xfrm>
          <a:prstGeom prst="line">
            <a:avLst/>
          </a:prstGeom>
        </p:spPr>
        <p:style>
          <a:lnRef idx="1">
            <a:schemeClr val="accent1"/>
          </a:lnRef>
          <a:fillRef idx="0">
            <a:schemeClr val="accent1"/>
          </a:fillRef>
          <a:effectRef idx="0">
            <a:schemeClr val="accent1"/>
          </a:effectRef>
          <a:fontRef idx="minor">
            <a:schemeClr val="tx1"/>
          </a:fontRef>
        </p:style>
      </p:cxnSp>
      <p:sp>
        <p:nvSpPr>
          <p:cNvPr id="5" name="Isosceles Triangle 4"/>
          <p:cNvSpPr/>
          <p:nvPr/>
        </p:nvSpPr>
        <p:spPr>
          <a:xfrm>
            <a:off x="4578350" y="2995613"/>
            <a:ext cx="79375" cy="82550"/>
          </a:xfrm>
          <a:prstGeom prst="triangle">
            <a:avLst>
              <a:gd name="adj" fmla="val 5000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solidFill>
                <a:srgbClr val="FF0000"/>
              </a:solidFill>
            </a:endParaRPr>
          </a:p>
        </p:txBody>
      </p:sp>
      <p:sp>
        <p:nvSpPr>
          <p:cNvPr id="6" name="Rectangle 5"/>
          <p:cNvSpPr/>
          <p:nvPr/>
        </p:nvSpPr>
        <p:spPr>
          <a:xfrm>
            <a:off x="4702176" y="2978150"/>
            <a:ext cx="50800" cy="77788"/>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par>
                                <p:cTn id="16" presetID="16" presetClass="entr" presetSubtype="21"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arn(inVertical)">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randombar(horizontal)">
                                      <p:cBhvr>
                                        <p:cTn id="23" dur="500"/>
                                        <p:tgtEl>
                                          <p:spTgt spid="4"/>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down)">
                                      <p:cBhvr>
                                        <p:cTn id="26" dur="500"/>
                                        <p:tgtEl>
                                          <p:spTgt spid="5"/>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arn(inVertical)">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0" grpId="0"/>
      <p:bldP spid="2" grpId="0"/>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8" name="Google Shape;495;p61"/>
          <p:cNvSpPr txBox="1">
            <a:spLocks noGrp="1"/>
          </p:cNvSpPr>
          <p:nvPr>
            <p:ph type="subTitle" idx="4294967295"/>
          </p:nvPr>
        </p:nvSpPr>
        <p:spPr>
          <a:xfrm>
            <a:off x="603594" y="441954"/>
            <a:ext cx="1748239" cy="40102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b="1" dirty="0" smtClean="0">
                <a:latin typeface="Times New Roman" panose="02020603050405020304" pitchFamily="18" charset="0"/>
                <a:cs typeface="Times New Roman" panose="02020603050405020304" pitchFamily="18" charset="0"/>
              </a:rPr>
              <a:t>Giới thiệu</a:t>
            </a:r>
            <a:endParaRPr sz="2000" b="1" dirty="0">
              <a:latin typeface="Times New Roman" panose="02020603050405020304" pitchFamily="18" charset="0"/>
              <a:cs typeface="Times New Roman" panose="02020603050405020304" pitchFamily="18" charset="0"/>
            </a:endParaRPr>
          </a:p>
        </p:txBody>
      </p:sp>
      <p:sp>
        <p:nvSpPr>
          <p:cNvPr id="10" name="Google Shape;503;p61"/>
          <p:cNvSpPr txBox="1">
            <a:spLocks noGrp="1"/>
          </p:cNvSpPr>
          <p:nvPr>
            <p:ph type="title" idx="4294967295"/>
          </p:nvPr>
        </p:nvSpPr>
        <p:spPr>
          <a:xfrm>
            <a:off x="0" y="308718"/>
            <a:ext cx="670024"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01</a:t>
            </a:r>
            <a:endParaRPr lang="en-GB" sz="3600" b="1" dirty="0" smtClean="0">
              <a:latin typeface="Times New Roman" panose="02020603050405020304" pitchFamily="18" charset="0"/>
              <a:cs typeface="Times New Roman" panose="02020603050405020304" pitchFamily="18" charset="0"/>
            </a:endParaRPr>
          </a:p>
        </p:txBody>
      </p:sp>
      <p:sp>
        <p:nvSpPr>
          <p:cNvPr id="17" name="AutoShape 12" descr="Đã tải lên ảnh"/>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3" name="TextBox 2"/>
          <p:cNvSpPr txBox="1"/>
          <p:nvPr/>
        </p:nvSpPr>
        <p:spPr>
          <a:xfrm>
            <a:off x="670024" y="1072559"/>
            <a:ext cx="7808495" cy="3476625"/>
          </a:xfrm>
          <a:prstGeom prst="rect">
            <a:avLst/>
          </a:prstGeom>
          <a:noFill/>
        </p:spPr>
        <p:txBody>
          <a:bodyPr wrap="square" rtlCol="0">
            <a:spAutoFit/>
          </a:bodyPr>
          <a:lstStyle/>
          <a:p>
            <a:r>
              <a:rPr lang="vi-VN" sz="2000" dirty="0">
                <a:latin typeface="+mj-lt"/>
              </a:rPr>
              <a:t>Bài toán Perceptron đơn </a:t>
            </a:r>
            <a:r>
              <a:rPr lang="vi-VN" sz="2000" dirty="0">
                <a:latin typeface="+mj-lt"/>
              </a:rPr>
              <a:t>giản được phát biểu như sau: </a:t>
            </a:r>
            <a:endParaRPr lang="vi-VN" sz="2000" dirty="0">
              <a:latin typeface="+mj-lt"/>
            </a:endParaRPr>
          </a:p>
          <a:p>
            <a:endParaRPr lang="vi-VN" sz="2000" dirty="0">
              <a:latin typeface="+mj-lt"/>
            </a:endParaRPr>
          </a:p>
          <a:p>
            <a:r>
              <a:rPr lang="vi-VN" sz="2000" i="1" dirty="0">
                <a:latin typeface="+mj-lt"/>
              </a:rPr>
              <a:t>“Cho hai class được gán nhãn, hãy tìm một đường phẳng sao cho toàn bộ các điểm thuộc class 1 nằm về 1 phía, toàn bộ các điểm thuộc class 2 nằm về phía còn lại của đường </a:t>
            </a:r>
            <a:r>
              <a:rPr lang="vi-VN" sz="2000" i="1" dirty="0">
                <a:latin typeface="+mj-lt"/>
                <a:sym typeface="+mn-ea"/>
              </a:rPr>
              <a:t>phẳng </a:t>
            </a:r>
            <a:r>
              <a:rPr lang="vi-VN" sz="2000" i="1" dirty="0">
                <a:latin typeface="+mj-lt"/>
              </a:rPr>
              <a:t>đó. Với giả định rằng tồn tại một đường </a:t>
            </a:r>
            <a:r>
              <a:rPr lang="vi-VN" sz="2000" i="1" dirty="0">
                <a:latin typeface="+mj-lt"/>
                <a:sym typeface="+mn-ea"/>
              </a:rPr>
              <a:t>phẳng </a:t>
            </a:r>
            <a:r>
              <a:rPr lang="vi-VN" sz="2000" i="1" dirty="0">
                <a:latin typeface="+mj-lt"/>
              </a:rPr>
              <a:t>như thế</a:t>
            </a:r>
            <a:r>
              <a:rPr lang="vi-VN" sz="2000" i="1" dirty="0" smtClean="0">
                <a:latin typeface="+mj-lt"/>
              </a:rPr>
              <a:t>.”</a:t>
            </a:r>
            <a:endParaRPr lang="en-US" sz="2000" i="1" dirty="0" smtClean="0">
              <a:latin typeface="+mj-lt"/>
            </a:endParaRPr>
          </a:p>
          <a:p>
            <a:endParaRPr lang="vi-VN" sz="2000" dirty="0">
              <a:latin typeface="+mj-lt"/>
            </a:endParaRPr>
          </a:p>
          <a:p>
            <a:r>
              <a:rPr lang="vi-VN" sz="2000" dirty="0">
                <a:latin typeface="+mj-lt"/>
              </a:rPr>
              <a:t>Nếu tồn tại một đường </a:t>
            </a:r>
            <a:r>
              <a:rPr lang="vi-VN" sz="2000" i="1" dirty="0">
                <a:latin typeface="+mj-lt"/>
                <a:sym typeface="+mn-ea"/>
              </a:rPr>
              <a:t>phẳng </a:t>
            </a:r>
            <a:r>
              <a:rPr lang="vi-VN" sz="2000" dirty="0">
                <a:latin typeface="+mj-lt"/>
              </a:rPr>
              <a:t>phân chia hai class thì ta gọi hai class đó là </a:t>
            </a:r>
            <a:r>
              <a:rPr lang="vi-VN" sz="2000" i="1" dirty="0">
                <a:latin typeface="+mj-lt"/>
              </a:rPr>
              <a:t>linearly separable</a:t>
            </a:r>
            <a:r>
              <a:rPr lang="vi-VN" sz="2000" dirty="0">
                <a:latin typeface="+mj-lt"/>
              </a:rPr>
              <a:t>. Các thuật toán classification tạo ra các boundary là các đường </a:t>
            </a:r>
            <a:r>
              <a:rPr lang="vi-VN" sz="2000" i="1" dirty="0">
                <a:latin typeface="+mj-lt"/>
                <a:sym typeface="+mn-ea"/>
              </a:rPr>
              <a:t>phẳng </a:t>
            </a:r>
            <a:r>
              <a:rPr lang="vi-VN" sz="2000" dirty="0">
                <a:latin typeface="+mj-lt"/>
              </a:rPr>
              <a:t>được gọi chung là Linear Classifier.</a:t>
            </a:r>
            <a:endParaRPr lang="vi-VN" sz="2000" dirty="0">
              <a:latin typeface="+mj-lt"/>
            </a:endParaRPr>
          </a:p>
          <a:p>
            <a:endParaRPr lang="en-US" sz="200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69"/>
          <p:cNvSpPr txBox="1">
            <a:spLocks noGrp="1"/>
          </p:cNvSpPr>
          <p:nvPr>
            <p:ph type="title"/>
          </p:nvPr>
        </p:nvSpPr>
        <p:spPr>
          <a:xfrm>
            <a:off x="755650" y="1777713"/>
            <a:ext cx="7467600" cy="81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4400" b="1" dirty="0" smtClean="0">
                <a:latin typeface="Times New Roman" panose="02020603050405020304" pitchFamily="18" charset="0"/>
                <a:cs typeface="Times New Roman" panose="02020603050405020304" pitchFamily="18" charset="0"/>
              </a:rPr>
              <a:t>Thuật toán Perceptron Learning Algorithm (PLA)</a:t>
            </a:r>
            <a:endParaRPr sz="4400" b="1" dirty="0">
              <a:latin typeface="Times New Roman" panose="02020603050405020304" pitchFamily="18" charset="0"/>
              <a:cs typeface="Times New Roman" panose="02020603050405020304" pitchFamily="18" charset="0"/>
            </a:endParaRPr>
          </a:p>
        </p:txBody>
      </p:sp>
      <p:sp>
        <p:nvSpPr>
          <p:cNvPr id="573" name="Google Shape;573;p69"/>
          <p:cNvSpPr txBox="1">
            <a:spLocks noGrp="1"/>
          </p:cNvSpPr>
          <p:nvPr>
            <p:ph type="title" idx="2"/>
          </p:nvPr>
        </p:nvSpPr>
        <p:spPr>
          <a:xfrm>
            <a:off x="3746550" y="799413"/>
            <a:ext cx="1650900" cy="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dirty="0" smtClean="0">
                <a:latin typeface="Times New Roman" panose="02020603050405020304" pitchFamily="18" charset="0"/>
                <a:cs typeface="Times New Roman" panose="02020603050405020304" pitchFamily="18" charset="0"/>
              </a:rPr>
              <a:t>02</a:t>
            </a:r>
            <a:endParaRPr lang="en-GB" b="1" dirty="0" smtClean="0">
              <a:latin typeface="Times New Roman" panose="02020603050405020304" pitchFamily="18" charset="0"/>
              <a:cs typeface="Times New Roman" panose="02020603050405020304" pitchFamily="18" charset="0"/>
            </a:endParaRPr>
          </a:p>
        </p:txBody>
      </p:sp>
      <p:sp>
        <p:nvSpPr>
          <p:cNvPr id="5" name="Google Shape;498;p61"/>
          <p:cNvSpPr txBox="1">
            <a:spLocks noGrp="1"/>
          </p:cNvSpPr>
          <p:nvPr>
            <p:ph type="subTitle" idx="4294967295"/>
          </p:nvPr>
        </p:nvSpPr>
        <p:spPr>
          <a:xfrm>
            <a:off x="2691650" y="3283160"/>
            <a:ext cx="3760699" cy="4330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Xây</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dựng</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hàm</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mất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mát</a:t>
            </a:r>
            <a:r>
              <a:rPr lang="en-US" sz="2400" dirty="0" smtClean="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marL="0" lvl="0" indent="0" algn="l" rtl="0">
              <a:spcBef>
                <a:spcPts val="0"/>
              </a:spcBef>
              <a:spcAft>
                <a:spcPts val="0"/>
              </a:spcAft>
              <a:buNone/>
            </a:pP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Chứng</a:t>
            </a:r>
            <a:r>
              <a:rPr lang="en-US" sz="2400" dirty="0" smtClean="0">
                <a:latin typeface="Times New Roman" panose="02020603050405020304" pitchFamily="18" charset="0"/>
                <a:cs typeface="Times New Roman" panose="02020603050405020304" pitchFamily="18" charset="0"/>
              </a:rPr>
              <a:t> minh </a:t>
            </a:r>
            <a:r>
              <a:rPr lang="en-US" sz="2400" dirty="0" err="1" smtClean="0">
                <a:latin typeface="Times New Roman" panose="02020603050405020304" pitchFamily="18" charset="0"/>
                <a:cs typeface="Times New Roman" panose="02020603050405020304" pitchFamily="18" charset="0"/>
              </a:rPr>
              <a:t>hội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tụ</a:t>
            </a:r>
            <a:endParaRPr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73"/>
                                        </p:tgtEl>
                                        <p:attrNameLst>
                                          <p:attrName>style.visibility</p:attrName>
                                        </p:attrNameLst>
                                      </p:cBhvr>
                                      <p:to>
                                        <p:strVal val="visible"/>
                                      </p:to>
                                    </p:set>
                                    <p:animEffect transition="in" filter="fade">
                                      <p:cBhvr>
                                        <p:cTn id="7" dur="600"/>
                                        <p:tgtEl>
                                          <p:spTgt spid="57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2"/>
                                        </p:tgtEl>
                                        <p:attrNameLst>
                                          <p:attrName>style.visibility</p:attrName>
                                        </p:attrNameLst>
                                      </p:cBhvr>
                                      <p:to>
                                        <p:strVal val="visible"/>
                                      </p:to>
                                    </p:set>
                                    <p:animEffect transition="in" filter="fade">
                                      <p:cBhvr>
                                        <p:cTn id="10" dur="900"/>
                                        <p:tgtEl>
                                          <p:spTgt spid="57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wipe(down)">
                                      <p:cBhvr>
                                        <p:cTn id="13" dur="1400"/>
                                        <p:tgtEl>
                                          <p:spTgt spid="5">
                                            <p:txEl>
                                              <p:pRg st="0" end="0"/>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wipe(down)">
                                      <p:cBhvr>
                                        <p:cTn id="16" dur="14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 grpId="0"/>
      <p:bldP spid="573" grpId="0"/>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8" name="Google Shape;495;p61"/>
          <p:cNvSpPr txBox="1">
            <a:spLocks noGrp="1"/>
          </p:cNvSpPr>
          <p:nvPr>
            <p:ph type="subTitle" idx="4294967295"/>
          </p:nvPr>
        </p:nvSpPr>
        <p:spPr>
          <a:xfrm>
            <a:off x="603885" y="441960"/>
            <a:ext cx="6203950" cy="4013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b="1" dirty="0" smtClean="0">
                <a:latin typeface="Times New Roman" panose="02020603050405020304" pitchFamily="18" charset="0"/>
                <a:cs typeface="Times New Roman" panose="02020603050405020304" pitchFamily="18" charset="0"/>
              </a:rPr>
              <a:t>Thuật toán Perceptron Learning Algorithm (PLA)</a:t>
            </a:r>
            <a:endParaRPr sz="2000" b="1" dirty="0">
              <a:latin typeface="Times New Roman" panose="02020603050405020304" pitchFamily="18" charset="0"/>
              <a:cs typeface="Times New Roman" panose="02020603050405020304" pitchFamily="18" charset="0"/>
            </a:endParaRPr>
          </a:p>
        </p:txBody>
      </p:sp>
      <p:sp>
        <p:nvSpPr>
          <p:cNvPr id="10" name="Google Shape;503;p61"/>
          <p:cNvSpPr txBox="1">
            <a:spLocks noGrp="1"/>
          </p:cNvSpPr>
          <p:nvPr>
            <p:ph type="title" idx="4294967295"/>
          </p:nvPr>
        </p:nvSpPr>
        <p:spPr>
          <a:xfrm>
            <a:off x="-1" y="308718"/>
            <a:ext cx="718457"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02</a:t>
            </a:r>
            <a:endParaRPr lang="en-GB" sz="3600" b="1" dirty="0" smtClean="0">
              <a:latin typeface="Times New Roman" panose="02020603050405020304" pitchFamily="18" charset="0"/>
              <a:cs typeface="Times New Roman" panose="02020603050405020304" pitchFamily="18" charset="0"/>
            </a:endParaRPr>
          </a:p>
        </p:txBody>
      </p:sp>
      <p:sp>
        <p:nvSpPr>
          <p:cNvPr id="17" name="AutoShape 12" descr="Đã tải lên ảnh"/>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mc:AlternateContent xmlns:mc="http://schemas.openxmlformats.org/markup-compatibility/2006">
        <mc:Choice xmlns:a14="http://schemas.microsoft.com/office/drawing/2010/main" Requires="a14">
          <p:sp>
            <p:nvSpPr>
              <p:cNvPr id="3" name="TextBox 2"/>
              <p:cNvSpPr txBox="1"/>
              <p:nvPr/>
            </p:nvSpPr>
            <p:spPr>
              <a:xfrm>
                <a:off x="612775" y="972196"/>
                <a:ext cx="7776210" cy="1764201"/>
              </a:xfrm>
              <a:prstGeom prst="rect">
                <a:avLst/>
              </a:prstGeom>
              <a:noFill/>
            </p:spPr>
            <p:txBody>
              <a:bodyPr wrap="square" rtlCol="0">
                <a:spAutoFit/>
              </a:bodyPr>
              <a:lstStyle/>
              <a:p>
                <a:r>
                  <a:rPr lang="en-US" sz="1800" dirty="0" err="1" smtClean="0">
                    <a:latin typeface="Times New Roman" panose="02020603050405020304" pitchFamily="18" charset="0"/>
                    <a:cs typeface="Times New Roman" panose="02020603050405020304" pitchFamily="18" charset="0"/>
                  </a:rPr>
                  <a:t>Một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số</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ký</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hiệu</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r>
                  <a:rPr lang="en-US" sz="1800" dirty="0" err="1" smtClean="0">
                    <a:latin typeface="Times New Roman" panose="02020603050405020304" pitchFamily="18" charset="0"/>
                    <a:cs typeface="Times New Roman" panose="02020603050405020304" pitchFamily="18" charset="0"/>
                  </a:rPr>
                  <a:t>Giả</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sử</a:t>
                </a:r>
                <a:r>
                  <a:rPr lang="en-US" sz="1800" dirty="0" smtClean="0">
                    <a:latin typeface="Times New Roman" panose="02020603050405020304" pitchFamily="18" charset="0"/>
                    <a:cs typeface="Times New Roman" panose="02020603050405020304" pitchFamily="18" charset="0"/>
                  </a:rPr>
                  <a:t> X=[x</a:t>
                </a:r>
                <a:r>
                  <a:rPr lang="en-US" sz="1800" baseline="-25000" dirty="0" smtClean="0">
                    <a:latin typeface="Times New Roman" panose="02020603050405020304" pitchFamily="18" charset="0"/>
                    <a:cs typeface="Times New Roman" panose="02020603050405020304" pitchFamily="18" charset="0"/>
                  </a:rPr>
                  <a:t>1</a:t>
                </a:r>
                <a:r>
                  <a:rPr lang="en-US" sz="1800" dirty="0" smtClean="0">
                    <a:latin typeface="Times New Roman" panose="02020603050405020304" pitchFamily="18" charset="0"/>
                    <a:cs typeface="Times New Roman" panose="02020603050405020304" pitchFamily="18" charset="0"/>
                  </a:rPr>
                  <a:t>,</a:t>
                </a:r>
                <a:r>
                  <a:rPr lang="en-US" sz="1800" baseline="-250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x</a:t>
                </a:r>
                <a:r>
                  <a:rPr lang="en-US" sz="1800" baseline="-25000" dirty="0" smtClean="0">
                    <a:latin typeface="Times New Roman" panose="02020603050405020304" pitchFamily="18" charset="0"/>
                    <a:cs typeface="Times New Roman" panose="02020603050405020304" pitchFamily="18" charset="0"/>
                  </a:rPr>
                  <a:t>2</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x</a:t>
                </a:r>
                <a:r>
                  <a:rPr lang="en-US" sz="1800" baseline="-25000" dirty="0" err="1">
                    <a:latin typeface="Times New Roman" panose="02020603050405020304" pitchFamily="18" charset="0"/>
                    <a:cs typeface="Times New Roman" panose="02020603050405020304" pitchFamily="18" charset="0"/>
                  </a:rPr>
                  <a:t>N</a:t>
                </a:r>
                <a:r>
                  <a:rPr lang="en-US" sz="1800" dirty="0" smtClean="0">
                    <a:latin typeface="Times New Roman" panose="02020603050405020304" pitchFamily="18" charset="0"/>
                    <a:cs typeface="Times New Roman" panose="02020603050405020304" pitchFamily="18" charset="0"/>
                  </a:rPr>
                  <a:t>]</a:t>
                </a:r>
                <a14:m>
                  <m:oMath xmlns:m="http://schemas.openxmlformats.org/officeDocument/2006/math">
                    <m:r>
                      <a:rPr lang="en-US" sz="1800" i="1" smtClean="0">
                        <a:latin typeface="Cambria Math" panose="02040503050406030204" pitchFamily="18" charset="0"/>
                        <a:ea typeface="Cambria Math" panose="02040503050406030204" pitchFamily="18" charset="0"/>
                      </a:rPr>
                      <m:t>∈</m:t>
                    </m:r>
                    <m:sSup>
                      <m:sSupPr>
                        <m:ctrlPr>
                          <a:rPr lang="en-US" sz="1800" i="1" smtClean="0">
                            <a:latin typeface="Cambria Math" panose="02040503050406030204" pitchFamily="18" charset="0"/>
                            <a:ea typeface="Cambria Math" panose="02040503050406030204" pitchFamily="18" charset="0"/>
                          </a:rPr>
                        </m:ctrlPr>
                      </m:sSupPr>
                      <m:e>
                        <m:r>
                          <a:rPr lang="en-US" sz="1800" i="1" smtClean="0">
                            <a:latin typeface="Cambria Math" panose="02040503050406030204" pitchFamily="18" charset="0"/>
                            <a:ea typeface="Cambria Math" panose="02040503050406030204" pitchFamily="18" charset="0"/>
                          </a:rPr>
                          <m:t>ℝ</m:t>
                        </m:r>
                      </m:e>
                      <m:sup>
                        <m:r>
                          <a:rPr lang="en-US" sz="1800" b="0" i="1" smtClean="0">
                            <a:latin typeface="Cambria Math" panose="02040503050406030204" pitchFamily="18" charset="0"/>
                            <a:ea typeface="Cambria Math" panose="02040503050406030204" pitchFamily="18" charset="0"/>
                          </a:rPr>
                          <m:t>𝑑</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𝑁</m:t>
                        </m:r>
                      </m:sup>
                    </m:sSup>
                  </m:oMath>
                </a14:m>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là</a:t>
                </a:r>
                <a:r>
                  <a:rPr lang="en-US" sz="1800" dirty="0" smtClean="0">
                    <a:latin typeface="Times New Roman" panose="02020603050405020304" pitchFamily="18" charset="0"/>
                    <a:cs typeface="Times New Roman" panose="02020603050405020304" pitchFamily="18" charset="0"/>
                  </a:rPr>
                  <a:t> ma </a:t>
                </a:r>
                <a:r>
                  <a:rPr lang="en-US" sz="1800" dirty="0" err="1" smtClean="0">
                    <a:latin typeface="Times New Roman" panose="02020603050405020304" pitchFamily="18" charset="0"/>
                    <a:cs typeface="Times New Roman" panose="02020603050405020304" pitchFamily="18" charset="0"/>
                  </a:rPr>
                  <a:t>trận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chứa</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các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điểm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dữ</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liệu</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mà</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mỗi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cột</a:t>
                </a:r>
                <a:r>
                  <a:rPr lang="en-US" sz="1800" dirty="0" smtClean="0">
                    <a:latin typeface="Times New Roman" panose="02020603050405020304" pitchFamily="18" charset="0"/>
                    <a:cs typeface="Times New Roman" panose="02020603050405020304" pitchFamily="18" charset="0"/>
                  </a:rPr>
                  <a:t> x</a:t>
                </a:r>
                <a:r>
                  <a:rPr lang="en-US" sz="1800" baseline="-25000" dirty="0"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r>
                      <a:rPr lang="en-US" sz="1800" i="1" smtClean="0">
                        <a:latin typeface="Cambria Math" panose="02040503050406030204" pitchFamily="18" charset="0"/>
                        <a:ea typeface="Cambria Math" panose="02040503050406030204" pitchFamily="18" charset="0"/>
                      </a:rPr>
                      <m:t>∈</m:t>
                    </m:r>
                  </m:oMath>
                </a14:m>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ℝ</m:t>
                        </m:r>
                      </m:e>
                      <m:sup>
                        <m:r>
                          <a:rPr lang="en-US" sz="1800" i="1">
                            <a:latin typeface="Cambria Math" panose="02040503050406030204" pitchFamily="18" charset="0"/>
                            <a:ea typeface="Cambria Math" panose="02040503050406030204" pitchFamily="18" charset="0"/>
                          </a:rPr>
                          <m:t>𝑑</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1</m:t>
                        </m:r>
                      </m:sup>
                    </m:sSup>
                  </m:oMath>
                </a14:m>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là</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một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điểm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dữ</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liệu</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trong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không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gian</a:t>
                </a:r>
                <a:r>
                  <a:rPr lang="en-US" sz="1800" dirty="0" smtClean="0">
                    <a:latin typeface="Times New Roman" panose="02020603050405020304" pitchFamily="18" charset="0"/>
                    <a:cs typeface="Times New Roman" panose="02020603050405020304" pitchFamily="18" charset="0"/>
                  </a:rPr>
                  <a:t> d </a:t>
                </a:r>
                <a:r>
                  <a:rPr lang="en-US" sz="1800" dirty="0" err="1" smtClean="0">
                    <a:latin typeface="Times New Roman" panose="02020603050405020304" pitchFamily="18" charset="0"/>
                    <a:cs typeface="Times New Roman" panose="02020603050405020304" pitchFamily="18" charset="0"/>
                  </a:rPr>
                  <a:t>chiều</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r>
                  <a:rPr lang="en-US" sz="1800" dirty="0" err="1" smtClean="0">
                    <a:latin typeface="Times New Roman" panose="02020603050405020304" pitchFamily="18" charset="0"/>
                    <a:cs typeface="Times New Roman" panose="02020603050405020304" pitchFamily="18" charset="0"/>
                  </a:rPr>
                  <a:t>Giả</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sử</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thêm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các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nhãn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tương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ứng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với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từng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điểm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dữ</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liệu</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được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lưu</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trong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một</a:t>
                </a:r>
                <a:r>
                  <a:rPr lang="en-US" sz="1800" dirty="0" smtClean="0">
                    <a:latin typeface="Times New Roman" panose="02020603050405020304" pitchFamily="18" charset="0"/>
                    <a:cs typeface="Times New Roman" panose="02020603050405020304" pitchFamily="18" charset="0"/>
                  </a:rPr>
                  <a:t> vector </a:t>
                </a:r>
                <a:r>
                  <a:rPr lang="en-US" sz="1800" dirty="0" err="1" smtClean="0">
                    <a:latin typeface="Times New Roman" panose="02020603050405020304" pitchFamily="18" charset="0"/>
                    <a:cs typeface="Times New Roman" panose="02020603050405020304" pitchFamily="18" charset="0"/>
                  </a:rPr>
                  <a:t>hàng</a:t>
                </a:r>
                <a:r>
                  <a:rPr lang="en-US" sz="1800" dirty="0" smtClean="0">
                    <a:latin typeface="Times New Roman" panose="02020603050405020304" pitchFamily="18" charset="0"/>
                    <a:cs typeface="Times New Roman" panose="02020603050405020304" pitchFamily="18" charset="0"/>
                  </a:rPr>
                  <a:t> y=[y</a:t>
                </a:r>
                <a:r>
                  <a:rPr lang="en-US" sz="1800" baseline="-25000" dirty="0" smtClean="0">
                    <a:latin typeface="Times New Roman" panose="02020603050405020304" pitchFamily="18" charset="0"/>
                    <a:cs typeface="Times New Roman" panose="02020603050405020304" pitchFamily="18" charset="0"/>
                  </a:rPr>
                  <a:t>1</a:t>
                </a:r>
                <a:r>
                  <a:rPr lang="en-US" sz="1800" dirty="0" smtClean="0">
                    <a:latin typeface="Times New Roman" panose="02020603050405020304" pitchFamily="18" charset="0"/>
                    <a:cs typeface="Times New Roman" panose="02020603050405020304" pitchFamily="18" charset="0"/>
                  </a:rPr>
                  <a:t>, y</a:t>
                </a:r>
                <a:r>
                  <a:rPr lang="en-US" sz="1800" baseline="-25000" dirty="0" smtClean="0">
                    <a:latin typeface="Times New Roman" panose="02020603050405020304" pitchFamily="18" charset="0"/>
                    <a:cs typeface="Times New Roman" panose="02020603050405020304" pitchFamily="18" charset="0"/>
                  </a:rPr>
                  <a:t>2</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y</a:t>
                </a:r>
                <a:r>
                  <a:rPr lang="en-US" sz="1800" baseline="-25000" dirty="0" err="1" smtClean="0">
                    <a:latin typeface="Times New Roman" panose="02020603050405020304" pitchFamily="18" charset="0"/>
                    <a:cs typeface="Times New Roman" panose="02020603050405020304" pitchFamily="18" charset="0"/>
                  </a:rPr>
                  <a:t>N</a:t>
                </a: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r>
                      <a:rPr lang="en-US" sz="180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 </m:t>
                    </m:r>
                    <m:sSup>
                      <m:sSupPr>
                        <m:ctrlPr>
                          <a:rPr lang="en-US" sz="1800" i="1">
                            <a:latin typeface="Cambria Math" panose="02040503050406030204" pitchFamily="18" charset="0"/>
                            <a:ea typeface="Cambria Math" panose="02040503050406030204" pitchFamily="18" charset="0"/>
                          </a:rPr>
                        </m:ctrlPr>
                      </m:sSupPr>
                      <m:e>
                        <m:r>
                          <a:rPr lang="en-US" sz="1800" i="1">
                            <a:latin typeface="Cambria Math" panose="02040503050406030204" pitchFamily="18" charset="0"/>
                            <a:ea typeface="Cambria Math" panose="02040503050406030204" pitchFamily="18" charset="0"/>
                          </a:rPr>
                          <m:t>ℝ</m:t>
                        </m:r>
                      </m:e>
                      <m:sup>
                        <m:r>
                          <a:rPr lang="en-US" sz="1800" b="0" i="1" smtClean="0">
                            <a:latin typeface="Cambria Math" panose="02040503050406030204" pitchFamily="18" charset="0"/>
                            <a:ea typeface="Cambria Math" panose="02040503050406030204" pitchFamily="18" charset="0"/>
                          </a:rPr>
                          <m:t>1</m:t>
                        </m:r>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𝑁</m:t>
                        </m:r>
                        <m:r>
                          <a:rPr lang="en-US" sz="1800" b="0" i="1" smtClean="0">
                            <a:latin typeface="Cambria Math" panose="02040503050406030204" pitchFamily="18" charset="0"/>
                            <a:ea typeface="Cambria Math" panose="02040503050406030204" pitchFamily="18" charset="0"/>
                          </a:rPr>
                          <m:t> </m:t>
                        </m:r>
                      </m:sup>
                    </m:sSup>
                  </m:oMath>
                </a14:m>
                <a:r>
                  <a:rPr lang="en-US" sz="1800" dirty="0" err="1" smtClean="0">
                    <a:latin typeface="Times New Roman" panose="02020603050405020304" pitchFamily="18" charset="0"/>
                    <a:cs typeface="Times New Roman" panose="02020603050405020304" pitchFamily="18" charset="0"/>
                  </a:rPr>
                  <a:t>với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y</a:t>
                </a:r>
                <a:r>
                  <a:rPr lang="en-US" sz="1800" baseline="-25000" dirty="0" err="1" smtClean="0">
                    <a:latin typeface="Times New Roman" panose="02020603050405020304" pitchFamily="18" charset="0"/>
                    <a:cs typeface="Times New Roman" panose="02020603050405020304" pitchFamily="18" charset="0"/>
                  </a:rPr>
                  <a:t>i</a:t>
                </a:r>
                <a:r>
                  <a:rPr lang="en-US" sz="1800" baseline="-250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1 </a:t>
                </a:r>
                <a:r>
                  <a:rPr lang="en-US" sz="1800" dirty="0" err="1" smtClean="0">
                    <a:latin typeface="Times New Roman" panose="02020603050405020304" pitchFamily="18" charset="0"/>
                    <a:cs typeface="Times New Roman" panose="02020603050405020304" pitchFamily="18" charset="0"/>
                  </a:rPr>
                  <a:t>nếu</a:t>
                </a:r>
                <a:r>
                  <a:rPr lang="en-US" sz="1800" dirty="0" smtClean="0">
                    <a:latin typeface="Times New Roman" panose="02020603050405020304" pitchFamily="18" charset="0"/>
                    <a:cs typeface="Times New Roman" panose="02020603050405020304" pitchFamily="18" charset="0"/>
                  </a:rPr>
                  <a:t> x</a:t>
                </a:r>
                <a:r>
                  <a:rPr lang="en-US" sz="1800" baseline="-25000" dirty="0"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thuộc</a:t>
                </a:r>
                <a:r>
                  <a:rPr lang="en-US" sz="1800" dirty="0" smtClean="0">
                    <a:latin typeface="Times New Roman" panose="02020603050405020304" pitchFamily="18" charset="0"/>
                    <a:cs typeface="Times New Roman" panose="02020603050405020304" pitchFamily="18" charset="0"/>
                  </a:rPr>
                  <a:t> class 1 (</a:t>
                </a:r>
                <a:r>
                  <a:rPr lang="en-US" sz="1800" dirty="0" err="1" smtClean="0">
                    <a:latin typeface="Times New Roman" panose="02020603050405020304" pitchFamily="18" charset="0"/>
                    <a:cs typeface="Times New Roman" panose="02020603050405020304" pitchFamily="18" charset="0"/>
                  </a:rPr>
                  <a:t>xanh</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và</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y</a:t>
                </a:r>
                <a:r>
                  <a:rPr lang="en-US" sz="1800" baseline="-25000" dirty="0" err="1"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 = -1 </a:t>
                </a:r>
                <a:r>
                  <a:rPr lang="en-US" sz="1800" dirty="0" err="1" smtClean="0">
                    <a:latin typeface="Times New Roman" panose="02020603050405020304" pitchFamily="18" charset="0"/>
                    <a:cs typeface="Times New Roman" panose="02020603050405020304" pitchFamily="18" charset="0"/>
                  </a:rPr>
                  <a:t>nếu</a:t>
                </a:r>
                <a:r>
                  <a:rPr lang="en-US" sz="1800" dirty="0" smtClean="0">
                    <a:latin typeface="Times New Roman" panose="02020603050405020304" pitchFamily="18" charset="0"/>
                    <a:cs typeface="Times New Roman" panose="02020603050405020304" pitchFamily="18" charset="0"/>
                  </a:rPr>
                  <a:t> x</a:t>
                </a:r>
                <a:r>
                  <a:rPr lang="en-US" sz="1800" baseline="-25000" dirty="0"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thuộc</a:t>
                </a:r>
                <a:r>
                  <a:rPr lang="en-US" sz="1800" dirty="0" smtClean="0">
                    <a:latin typeface="Times New Roman" panose="02020603050405020304" pitchFamily="18" charset="0"/>
                    <a:cs typeface="Times New Roman" panose="02020603050405020304" pitchFamily="18" charset="0"/>
                  </a:rPr>
                  <a:t> class 2 (</a:t>
                </a:r>
                <a:r>
                  <a:rPr lang="en-US" sz="1800" dirty="0" err="1" smtClean="0">
                    <a:latin typeface="Times New Roman" panose="02020603050405020304" pitchFamily="18" charset="0"/>
                    <a:cs typeface="Times New Roman" panose="02020603050405020304" pitchFamily="18" charset="0"/>
                  </a:rPr>
                  <a:t>đỏ</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mc:Choice>
        <mc:Fallback>
          <p:sp>
            <p:nvSpPr>
              <p:cNvPr id="3" name="TextBox 2"/>
              <p:cNvSpPr txBox="1">
                <a:spLocks noRot="1" noChangeAspect="1" noMove="1" noResize="1" noEditPoints="1" noAdjustHandles="1" noChangeArrowheads="1" noChangeShapeType="1" noTextEdit="1"/>
              </p:cNvSpPr>
              <p:nvPr/>
            </p:nvSpPr>
            <p:spPr>
              <a:xfrm>
                <a:off x="612775" y="972196"/>
                <a:ext cx="7776210" cy="1764201"/>
              </a:xfrm>
              <a:prstGeom prst="rect">
                <a:avLst/>
              </a:prstGeom>
              <a:blipFill rotWithShape="1">
                <a:blip r:embed="rId1"/>
                <a:stretch>
                  <a:fillRect t="-1" b="-1609"/>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6" name="TextBox 5"/>
              <p:cNvSpPr txBox="1"/>
              <p:nvPr/>
            </p:nvSpPr>
            <p:spPr>
              <a:xfrm>
                <a:off x="603594" y="2736397"/>
                <a:ext cx="8299106" cy="1483995"/>
              </a:xfrm>
              <a:prstGeom prst="rect">
                <a:avLst/>
              </a:prstGeom>
              <a:noFill/>
            </p:spPr>
            <p:txBody>
              <a:bodyPr wrap="square" rtlCol="0">
                <a:spAutoFit/>
              </a:bodyPr>
              <a:lstStyle/>
              <a:p>
                <a:r>
                  <a:rPr lang="en-US" sz="1800" dirty="0" smtClean="0">
                    <a:latin typeface="Times New Roman" panose="02020603050405020304" pitchFamily="18" charset="0"/>
                    <a:cs typeface="Times New Roman" panose="02020603050405020304" pitchFamily="18" charset="0"/>
                  </a:rPr>
                  <a:t>Tại </a:t>
                </a:r>
                <a:r>
                  <a:rPr lang="en-US" sz="1800" dirty="0" err="1" smtClean="0">
                    <a:latin typeface="Times New Roman" panose="02020603050405020304" pitchFamily="18" charset="0"/>
                    <a:cs typeface="Times New Roman" panose="02020603050405020304" pitchFamily="18" charset="0"/>
                  </a:rPr>
                  <a:t>một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thời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điểm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giả</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sử</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tìm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được</a:t>
                </a:r>
                <a:r>
                  <a:rPr lang="en-US" sz="1800" dirty="0" smtClean="0">
                    <a:latin typeface="Times New Roman" panose="02020603050405020304" pitchFamily="18" charset="0"/>
                    <a:cs typeface="Times New Roman" panose="02020603050405020304" pitchFamily="18" charset="0"/>
                  </a:rPr>
                  <a:t> boundary </a:t>
                </a:r>
                <a:r>
                  <a:rPr lang="en-US" sz="1800" dirty="0" err="1" smtClean="0">
                    <a:latin typeface="Times New Roman" panose="02020603050405020304" pitchFamily="18" charset="0"/>
                    <a:cs typeface="Times New Roman" panose="02020603050405020304" pitchFamily="18" charset="0"/>
                  </a:rPr>
                  <a:t>là</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đường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phẳng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có</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phương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trình</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𝑓</m:t>
                        </m:r>
                      </m:e>
                      <m:sub>
                        <m:r>
                          <a:rPr lang="en-US" sz="1800" b="0" i="1" smtClean="0">
                            <a:latin typeface="Cambria Math" panose="02040503050406030204" pitchFamily="18" charset="0"/>
                          </a:rPr>
                          <m:t>𝑤</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a:rPr lang="en-US" sz="1800" b="0" i="1" smtClean="0">
                            <a:latin typeface="Cambria Math" panose="02040503050406030204" pitchFamily="18" charset="0"/>
                          </a:rPr>
                          <m:t>1</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oMath>
                </a14:m>
                <a:r>
                  <a:rPr lang="en-US" sz="1800"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𝑤</m:t>
                        </m:r>
                      </m:e>
                      <m:sub>
                        <m:r>
                          <a:rPr lang="en-US" sz="1800" b="0" i="1" dirty="0" smtClean="0">
                            <a:latin typeface="Cambria Math" panose="02040503050406030204" pitchFamily="18" charset="0"/>
                          </a:rPr>
                          <m:t>𝑑</m:t>
                        </m:r>
                      </m:sub>
                    </m:sSub>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𝑥</m:t>
                        </m:r>
                      </m:e>
                      <m:sub>
                        <m:r>
                          <a:rPr lang="en-US" sz="1800" b="0" i="1" dirty="0" smtClean="0">
                            <a:latin typeface="Cambria Math" panose="02040503050406030204" pitchFamily="18" charset="0"/>
                          </a:rPr>
                          <m:t>𝑑</m:t>
                        </m:r>
                      </m:sub>
                    </m:sSub>
                    <m:r>
                      <a:rPr lang="en-US" sz="1800" b="0" i="1" dirty="0" smtClean="0">
                        <a:latin typeface="Cambria Math" panose="02040503050406030204" pitchFamily="18" charset="0"/>
                      </a:rPr>
                      <m:t>+</m:t>
                    </m:r>
                    <m:r>
                      <a:rPr lang="en-US" sz="1800" b="0" i="0" dirty="0" smtClean="0">
                        <a:latin typeface="Cambria Math" panose="02040503050406030204" pitchFamily="18" charset="0"/>
                      </a:rPr>
                      <m:t> </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𝑤</m:t>
                        </m:r>
                      </m:e>
                      <m:sub>
                        <m:r>
                          <a:rPr lang="en-US" sz="1800" b="0" i="1" dirty="0" smtClean="0">
                            <a:latin typeface="Cambria Math" panose="02040503050406030204" pitchFamily="18" charset="0"/>
                          </a:rPr>
                          <m:t>0</m:t>
                        </m:r>
                      </m:sub>
                    </m:sSub>
                    <m:r>
                      <a:rPr lang="en-US" sz="1800" b="0" i="0" dirty="0" smtClean="0">
                        <a:latin typeface="Cambria Math" panose="02040503050406030204" pitchFamily="18" charset="0"/>
                      </a:rPr>
                      <m:t>= </m:t>
                    </m:r>
                    <m:sSup>
                      <m:sSupPr>
                        <m:ctrlPr>
                          <a:rPr lang="en-US" sz="1800" b="0" i="1" dirty="0" smtClean="0">
                            <a:latin typeface="Cambria Math" panose="02040503050406030204" pitchFamily="18" charset="0"/>
                          </a:rPr>
                        </m:ctrlPr>
                      </m:sSupPr>
                      <m:e>
                        <m:r>
                          <a:rPr lang="en-US" sz="1800" b="0" i="1" dirty="0" smtClean="0">
                            <a:latin typeface="Cambria Math" panose="02040503050406030204" pitchFamily="18" charset="0"/>
                          </a:rPr>
                          <m:t>𝑤</m:t>
                        </m:r>
                      </m:e>
                      <m:sup>
                        <m:r>
                          <a:rPr lang="en-US" sz="1800" b="0" i="1" dirty="0" smtClean="0">
                            <a:latin typeface="Cambria Math" panose="02040503050406030204" pitchFamily="18" charset="0"/>
                          </a:rPr>
                          <m:t>𝑇</m:t>
                        </m:r>
                      </m:sup>
                    </m:sSup>
                    <m:acc>
                      <m:accPr>
                        <m:chr m:val="̅"/>
                        <m:ctrlPr>
                          <a:rPr lang="en-US" sz="1800" b="0" i="1" dirty="0" smtClean="0">
                            <a:latin typeface="Cambria Math" panose="02040503050406030204" pitchFamily="18" charset="0"/>
                          </a:rPr>
                        </m:ctrlPr>
                      </m:accPr>
                      <m:e>
                        <m:r>
                          <a:rPr lang="en-US" sz="1800" b="0" i="1" dirty="0" smtClean="0">
                            <a:latin typeface="Cambria Math" panose="02040503050406030204" pitchFamily="18" charset="0"/>
                          </a:rPr>
                          <m:t>𝑥</m:t>
                        </m:r>
                      </m:e>
                    </m:acc>
                  </m:oMath>
                </a14:m>
                <a:r>
                  <a:rPr lang="en-US" sz="1800" b="0" dirty="0" smtClean="0">
                    <a:latin typeface="Times New Roman" panose="02020603050405020304" pitchFamily="18" charset="0"/>
                    <a:cs typeface="Times New Roman" panose="02020603050405020304" pitchFamily="18" charset="0"/>
                  </a:rPr>
                  <a:t> </a:t>
                </a:r>
                <a:endParaRPr lang="en-US" sz="1800" b="0" dirty="0" smtClean="0">
                  <a:latin typeface="Times New Roman" panose="02020603050405020304" pitchFamily="18" charset="0"/>
                  <a:cs typeface="Times New Roman" panose="02020603050405020304" pitchFamily="18" charset="0"/>
                </a:endParaRPr>
              </a:p>
              <a:p>
                <a:r>
                  <a:rPr lang="en-US" sz="1800" dirty="0" err="1" smtClean="0">
                    <a:latin typeface="Times New Roman" panose="02020603050405020304" pitchFamily="18" charset="0"/>
                    <a:cs typeface="Times New Roman" panose="02020603050405020304" pitchFamily="18" charset="0"/>
                  </a:rPr>
                  <a:t>Với</a:t>
                </a: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𝑥</m:t>
                        </m:r>
                      </m:e>
                    </m:acc>
                  </m:oMath>
                </a14:m>
                <a:r>
                  <a:rPr lang="en-US" sz="1800" b="0" dirty="0" smtClean="0">
                    <a:latin typeface="Times New Roman" panose="02020603050405020304" pitchFamily="18" charset="0"/>
                    <a:cs typeface="Times New Roman" panose="02020603050405020304" pitchFamily="18" charset="0"/>
                  </a:rPr>
                  <a:t> </a:t>
                </a:r>
                <a:r>
                  <a:rPr lang="en-US" sz="1800" b="0" dirty="0" err="1" smtClean="0">
                    <a:latin typeface="Times New Roman" panose="02020603050405020304" pitchFamily="18" charset="0"/>
                    <a:cs typeface="Times New Roman" panose="02020603050405020304" pitchFamily="18" charset="0"/>
                  </a:rPr>
                  <a:t>là</a:t>
                </a:r>
                <a:r>
                  <a:rPr lang="en-US" sz="1800" b="0" dirty="0" smtClean="0">
                    <a:latin typeface="Times New Roman" panose="02020603050405020304" pitchFamily="18" charset="0"/>
                    <a:cs typeface="Times New Roman" panose="02020603050405020304" pitchFamily="18" charset="0"/>
                  </a:rPr>
                  <a:t> </a:t>
                </a:r>
                <a:r>
                  <a:rPr lang="en-US" sz="1800" b="0" dirty="0" err="1" smtClean="0">
                    <a:latin typeface="Times New Roman" panose="02020603050405020304" pitchFamily="18" charset="0"/>
                    <a:cs typeface="Times New Roman" panose="02020603050405020304" pitchFamily="18" charset="0"/>
                  </a:rPr>
                  <a:t>điểm</a:t>
                </a:r>
                <a:r>
                  <a:rPr lang="en-US" sz="1800" b="0" dirty="0" smtClean="0">
                    <a:latin typeface="Times New Roman" panose="02020603050405020304" pitchFamily="18" charset="0"/>
                    <a:cs typeface="Times New Roman" panose="02020603050405020304" pitchFamily="18" charset="0"/>
                  </a:rPr>
                  <a:t> </a:t>
                </a:r>
                <a:r>
                  <a:rPr lang="en-US" sz="1800" b="0" dirty="0" err="1" smtClean="0">
                    <a:latin typeface="Times New Roman" panose="02020603050405020304" pitchFamily="18" charset="0"/>
                    <a:cs typeface="Times New Roman" panose="02020603050405020304" pitchFamily="18" charset="0"/>
                  </a:rPr>
                  <a:t>dữ</a:t>
                </a:r>
                <a:r>
                  <a:rPr lang="en-US" sz="1800" b="0" dirty="0" smtClean="0">
                    <a:latin typeface="Times New Roman" panose="02020603050405020304" pitchFamily="18" charset="0"/>
                    <a:cs typeface="Times New Roman" panose="02020603050405020304" pitchFamily="18" charset="0"/>
                  </a:rPr>
                  <a:t> </a:t>
                </a:r>
                <a:r>
                  <a:rPr lang="en-US" sz="1800" b="0" dirty="0" err="1" smtClean="0">
                    <a:latin typeface="Times New Roman" panose="02020603050405020304" pitchFamily="18" charset="0"/>
                    <a:cs typeface="Times New Roman" panose="02020603050405020304" pitchFamily="18" charset="0"/>
                  </a:rPr>
                  <a:t>liệu</a:t>
                </a:r>
                <a:r>
                  <a:rPr lang="en-US" sz="1800" b="0" dirty="0" smtClean="0">
                    <a:latin typeface="Times New Roman" panose="02020603050405020304" pitchFamily="18" charset="0"/>
                    <a:cs typeface="Times New Roman" panose="02020603050405020304" pitchFamily="18" charset="0"/>
                  </a:rPr>
                  <a:t> </a:t>
                </a:r>
                <a:r>
                  <a:rPr lang="en-US" sz="1800" b="0" dirty="0" err="1" smtClean="0">
                    <a:latin typeface="Times New Roman" panose="02020603050405020304" pitchFamily="18" charset="0"/>
                    <a:cs typeface="Times New Roman" panose="02020603050405020304" pitchFamily="18" charset="0"/>
                  </a:rPr>
                  <a:t>mở</a:t>
                </a:r>
                <a:r>
                  <a:rPr lang="en-US" sz="1800" b="0" dirty="0" smtClean="0">
                    <a:latin typeface="Times New Roman" panose="02020603050405020304" pitchFamily="18" charset="0"/>
                    <a:cs typeface="Times New Roman" panose="02020603050405020304" pitchFamily="18" charset="0"/>
                  </a:rPr>
                  <a:t> </a:t>
                </a:r>
                <a:r>
                  <a:rPr lang="en-US" sz="1800" b="0" dirty="0" err="1" smtClean="0">
                    <a:latin typeface="Times New Roman" panose="02020603050405020304" pitchFamily="18" charset="0"/>
                    <a:cs typeface="Times New Roman" panose="02020603050405020304" pitchFamily="18" charset="0"/>
                  </a:rPr>
                  <a:t>rộng</a:t>
                </a:r>
                <a:r>
                  <a:rPr lang="en-US" sz="1800" b="0" dirty="0" smtClean="0">
                    <a:latin typeface="Times New Roman" panose="02020603050405020304" pitchFamily="18" charset="0"/>
                    <a:cs typeface="Times New Roman" panose="02020603050405020304" pitchFamily="18" charset="0"/>
                  </a:rPr>
                  <a:t> </a:t>
                </a:r>
                <a:r>
                  <a:rPr lang="en-US" sz="1800" b="0" dirty="0" err="1" smtClean="0">
                    <a:latin typeface="Times New Roman" panose="02020603050405020304" pitchFamily="18" charset="0"/>
                    <a:cs typeface="Times New Roman" panose="02020603050405020304" pitchFamily="18" charset="0"/>
                  </a:rPr>
                  <a:t>bằng</a:t>
                </a:r>
                <a:r>
                  <a:rPr lang="en-US" sz="1800" b="0" dirty="0" smtClean="0">
                    <a:latin typeface="Times New Roman" panose="02020603050405020304" pitchFamily="18" charset="0"/>
                    <a:cs typeface="Times New Roman" panose="02020603050405020304" pitchFamily="18" charset="0"/>
                  </a:rPr>
                  <a:t> </a:t>
                </a:r>
                <a:r>
                  <a:rPr lang="en-US" sz="1800" b="0" dirty="0" err="1" smtClean="0">
                    <a:latin typeface="Times New Roman" panose="02020603050405020304" pitchFamily="18" charset="0"/>
                    <a:cs typeface="Times New Roman" panose="02020603050405020304" pitchFamily="18" charset="0"/>
                  </a:rPr>
                  <a:t>cách</a:t>
                </a:r>
                <a:r>
                  <a:rPr lang="en-US" sz="1800" b="0" dirty="0" smtClean="0">
                    <a:latin typeface="Times New Roman" panose="02020603050405020304" pitchFamily="18" charset="0"/>
                    <a:cs typeface="Times New Roman" panose="02020603050405020304" pitchFamily="18" charset="0"/>
                  </a:rPr>
                  <a:t> </a:t>
                </a:r>
                <a:r>
                  <a:rPr lang="en-US" sz="1800" b="0" dirty="0" err="1" smtClean="0">
                    <a:latin typeface="Times New Roman" panose="02020603050405020304" pitchFamily="18" charset="0"/>
                    <a:cs typeface="Times New Roman" panose="02020603050405020304" pitchFamily="18" charset="0"/>
                  </a:rPr>
                  <a:t>thêm</a:t>
                </a:r>
                <a:r>
                  <a:rPr lang="en-US" sz="1800" b="0" dirty="0" smtClean="0">
                    <a:latin typeface="Times New Roman" panose="02020603050405020304" pitchFamily="18" charset="0"/>
                    <a:cs typeface="Times New Roman" panose="02020603050405020304" pitchFamily="18" charset="0"/>
                  </a:rPr>
                  <a:t> </a:t>
                </a:r>
                <a:r>
                  <a:rPr lang="en-US" sz="1800" b="0" dirty="0" err="1" smtClean="0">
                    <a:latin typeface="Times New Roman" panose="02020603050405020304" pitchFamily="18" charset="0"/>
                    <a:cs typeface="Times New Roman" panose="02020603050405020304" pitchFamily="18" charset="0"/>
                  </a:rPr>
                  <a:t>phần</a:t>
                </a:r>
                <a:r>
                  <a:rPr lang="en-US" sz="1800" b="0" dirty="0" smtClean="0">
                    <a:latin typeface="Times New Roman" panose="02020603050405020304" pitchFamily="18" charset="0"/>
                    <a:cs typeface="Times New Roman" panose="02020603050405020304" pitchFamily="18" charset="0"/>
                  </a:rPr>
                  <a:t> </a:t>
                </a:r>
                <a:r>
                  <a:rPr lang="en-US" sz="1800" b="0" dirty="0" err="1" smtClean="0">
                    <a:latin typeface="Times New Roman" panose="02020603050405020304" pitchFamily="18" charset="0"/>
                    <a:cs typeface="Times New Roman" panose="02020603050405020304" pitchFamily="18" charset="0"/>
                  </a:rPr>
                  <a:t>tử</a:t>
                </a:r>
                <a:r>
                  <a:rPr lang="en-US" sz="1800" b="0" dirty="0" smtClean="0">
                    <a:latin typeface="Times New Roman" panose="02020603050405020304" pitchFamily="18" charset="0"/>
                    <a:cs typeface="Times New Roman" panose="02020603050405020304" pitchFamily="18" charset="0"/>
                  </a:rPr>
                  <a:t> x</a:t>
                </a:r>
                <a:r>
                  <a:rPr lang="en-US" sz="1800" b="0" baseline="-25000" dirty="0" smtClean="0">
                    <a:latin typeface="Times New Roman" panose="02020603050405020304" pitchFamily="18" charset="0"/>
                    <a:cs typeface="Times New Roman" panose="02020603050405020304" pitchFamily="18" charset="0"/>
                  </a:rPr>
                  <a:t>0 </a:t>
                </a:r>
                <a:r>
                  <a:rPr lang="en-US" sz="1800" b="0" dirty="0" smtClean="0">
                    <a:latin typeface="Times New Roman" panose="02020603050405020304" pitchFamily="18" charset="0"/>
                    <a:cs typeface="Times New Roman" panose="02020603050405020304" pitchFamily="18" charset="0"/>
                  </a:rPr>
                  <a:t>= 1 </a:t>
                </a:r>
                <a:r>
                  <a:rPr lang="en-US" sz="1800" b="0" dirty="0" err="1" smtClean="0">
                    <a:latin typeface="Times New Roman" panose="02020603050405020304" pitchFamily="18" charset="0"/>
                    <a:cs typeface="Times New Roman" panose="02020603050405020304" pitchFamily="18" charset="0"/>
                  </a:rPr>
                  <a:t>lên</a:t>
                </a:r>
                <a:r>
                  <a:rPr lang="en-US" sz="1800" b="0" dirty="0" smtClean="0">
                    <a:latin typeface="Times New Roman" panose="02020603050405020304" pitchFamily="18" charset="0"/>
                    <a:cs typeface="Times New Roman" panose="02020603050405020304" pitchFamily="18" charset="0"/>
                  </a:rPr>
                  <a:t> </a:t>
                </a:r>
                <a:r>
                  <a:rPr lang="en-US" sz="1800" b="0" dirty="0" err="1" smtClean="0">
                    <a:latin typeface="Times New Roman" panose="02020603050405020304" pitchFamily="18" charset="0"/>
                    <a:cs typeface="Times New Roman" panose="02020603050405020304" pitchFamily="18" charset="0"/>
                  </a:rPr>
                  <a:t>trước</a:t>
                </a:r>
                <a:r>
                  <a:rPr lang="en-US" sz="1800" b="0" dirty="0" smtClean="0">
                    <a:latin typeface="Times New Roman" panose="02020603050405020304" pitchFamily="18" charset="0"/>
                    <a:cs typeface="Times New Roman" panose="02020603050405020304" pitchFamily="18" charset="0"/>
                  </a:rPr>
                  <a:t> vector x.</a:t>
                </a:r>
                <a:endParaRPr lang="en-US" sz="1800" b="0" dirty="0" smtClean="0">
                  <a:latin typeface="Times New Roman" panose="02020603050405020304" pitchFamily="18" charset="0"/>
                  <a:cs typeface="Times New Roman" panose="02020603050405020304" pitchFamily="18" charset="0"/>
                </a:endParaRPr>
              </a:p>
              <a:p>
                <a:endParaRPr lang="en-US" sz="1800"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p:txBody>
          </p:sp>
        </mc:Choice>
        <mc:Fallback>
          <p:sp>
            <p:nvSpPr>
              <p:cNvPr id="6" name="TextBox 5"/>
              <p:cNvSpPr txBox="1">
                <a:spLocks noRot="1" noChangeAspect="1" noMove="1" noResize="1" noEditPoints="1" noAdjustHandles="1" noChangeArrowheads="1" noChangeShapeType="1" noTextEdit="1"/>
              </p:cNvSpPr>
              <p:nvPr/>
            </p:nvSpPr>
            <p:spPr>
              <a:xfrm>
                <a:off x="603594" y="2736397"/>
                <a:ext cx="8299106" cy="1483995"/>
              </a:xfrm>
              <a:prstGeom prst="rect">
                <a:avLst/>
              </a:prstGeom>
              <a:blipFill rotWithShape="1">
                <a:blip r:embed="rId2"/>
                <a:stretch>
                  <a:fillRect l="-4" t="-12" r="8" b="12"/>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barn(inVertical)">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wipe(down)">
                                      <p:cBhvr>
                                        <p:cTn id="20" dur="500"/>
                                        <p:tgtEl>
                                          <p:spTgt spid="3">
                                            <p:txEl>
                                              <p:pRg st="1" end="1"/>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00"/>
                                        <p:tgtEl>
                                          <p:spTgt spid="3">
                                            <p:txEl>
                                              <p:pRg st="2" end="2"/>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6">
                                            <p:txEl>
                                              <p:pRg st="0" end="0"/>
                                            </p:txEl>
                                          </p:spTgt>
                                        </p:tgtEl>
                                        <p:attrNameLst>
                                          <p:attrName>style.visibility</p:attrName>
                                        </p:attrNameLst>
                                      </p:cBhvr>
                                      <p:to>
                                        <p:strVal val="visible"/>
                                      </p:to>
                                    </p:set>
                                    <p:animEffect transition="in" filter="wipe(down)">
                                      <p:cBhvr>
                                        <p:cTn id="26" dur="500"/>
                                        <p:tgtEl>
                                          <p:spTgt spid="6">
                                            <p:txEl>
                                              <p:pRg st="0" end="0"/>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Effect transition="in" filter="wipe(down)">
                                      <p:cBhvr>
                                        <p:cTn id="29" dur="500"/>
                                        <p:tgtEl>
                                          <p:spTgt spid="6">
                                            <p:txEl>
                                              <p:pRg st="1" end="1"/>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6">
                                            <p:txEl>
                                              <p:pRg st="2" end="2"/>
                                            </p:txEl>
                                          </p:spTgt>
                                        </p:tgtEl>
                                        <p:attrNameLst>
                                          <p:attrName>style.visibility</p:attrName>
                                        </p:attrNameLst>
                                      </p:cBhvr>
                                      <p:to>
                                        <p:strVal val="visible"/>
                                      </p:to>
                                    </p:set>
                                    <p:animEffect transition="in" filter="wipe(down)">
                                      <p:cBhvr>
                                        <p:cTn id="3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8" name="Google Shape;495;p61"/>
          <p:cNvSpPr txBox="1">
            <a:spLocks noGrp="1"/>
          </p:cNvSpPr>
          <p:nvPr>
            <p:ph type="subTitle" idx="4294967295"/>
          </p:nvPr>
        </p:nvSpPr>
        <p:spPr>
          <a:xfrm>
            <a:off x="603594" y="441954"/>
            <a:ext cx="5617592" cy="40102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b="1" dirty="0" smtClean="0">
                <a:latin typeface="Times New Roman" panose="02020603050405020304" pitchFamily="18" charset="0"/>
                <a:cs typeface="Times New Roman" panose="02020603050405020304" pitchFamily="18" charset="0"/>
              </a:rPr>
              <a:t>Thuật toán Perceptron Learning Algorithm (PLA)</a:t>
            </a:r>
            <a:endParaRPr sz="2000" b="1" dirty="0">
              <a:latin typeface="Times New Roman" panose="02020603050405020304" pitchFamily="18" charset="0"/>
              <a:cs typeface="Times New Roman" panose="02020603050405020304" pitchFamily="18" charset="0"/>
            </a:endParaRPr>
          </a:p>
        </p:txBody>
      </p:sp>
      <p:sp>
        <p:nvSpPr>
          <p:cNvPr id="10" name="Google Shape;503;p61"/>
          <p:cNvSpPr txBox="1">
            <a:spLocks noGrp="1"/>
          </p:cNvSpPr>
          <p:nvPr>
            <p:ph type="title" idx="4294967295"/>
          </p:nvPr>
        </p:nvSpPr>
        <p:spPr>
          <a:xfrm>
            <a:off x="-1" y="308718"/>
            <a:ext cx="718457"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dirty="0" smtClean="0">
                <a:latin typeface="Times New Roman" panose="02020603050405020304" pitchFamily="18" charset="0"/>
                <a:cs typeface="Times New Roman" panose="02020603050405020304" pitchFamily="18" charset="0"/>
              </a:rPr>
              <a:t>02</a:t>
            </a:r>
            <a:endParaRPr lang="en-GB" sz="3600" dirty="0" smtClean="0">
              <a:latin typeface="Times New Roman" panose="02020603050405020304" pitchFamily="18" charset="0"/>
              <a:cs typeface="Times New Roman" panose="02020603050405020304" pitchFamily="18" charset="0"/>
            </a:endParaRPr>
          </a:p>
        </p:txBody>
      </p:sp>
      <p:sp>
        <p:nvSpPr>
          <p:cNvPr id="17" name="AutoShape 12" descr="Đã tải lên ảnh"/>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6" name="Picture 2" descr="https://machinelearningcoban.com/assets/pla/pla4.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76450" y="1051845"/>
            <a:ext cx="4567672" cy="32026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8" name="Google Shape;495;p61"/>
          <p:cNvSpPr txBox="1">
            <a:spLocks noGrp="1"/>
          </p:cNvSpPr>
          <p:nvPr>
            <p:ph type="subTitle" idx="4294967295"/>
          </p:nvPr>
        </p:nvSpPr>
        <p:spPr>
          <a:xfrm>
            <a:off x="603885" y="441960"/>
            <a:ext cx="6543040" cy="4013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b="1" dirty="0" smtClean="0">
                <a:latin typeface="Times New Roman" panose="02020603050405020304" pitchFamily="18" charset="0"/>
                <a:cs typeface="Times New Roman" panose="02020603050405020304" pitchFamily="18" charset="0"/>
              </a:rPr>
              <a:t>Thuật toán Perceptron Learning Algorithm (PLA)</a:t>
            </a:r>
            <a:endParaRPr sz="2000" b="1" dirty="0">
              <a:latin typeface="Times New Roman" panose="02020603050405020304" pitchFamily="18" charset="0"/>
              <a:cs typeface="Times New Roman" panose="02020603050405020304" pitchFamily="18" charset="0"/>
            </a:endParaRPr>
          </a:p>
        </p:txBody>
      </p:sp>
      <p:sp>
        <p:nvSpPr>
          <p:cNvPr id="10" name="Google Shape;503;p61"/>
          <p:cNvSpPr txBox="1">
            <a:spLocks noGrp="1"/>
          </p:cNvSpPr>
          <p:nvPr>
            <p:ph type="title" idx="4294967295"/>
          </p:nvPr>
        </p:nvSpPr>
        <p:spPr>
          <a:xfrm>
            <a:off x="-1" y="308718"/>
            <a:ext cx="718457"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02</a:t>
            </a:r>
            <a:endParaRPr lang="en-GB" sz="3600" b="1" dirty="0" smtClean="0">
              <a:latin typeface="Times New Roman" panose="02020603050405020304" pitchFamily="18" charset="0"/>
              <a:cs typeface="Times New Roman" panose="02020603050405020304" pitchFamily="18" charset="0"/>
            </a:endParaRPr>
          </a:p>
        </p:txBody>
      </p:sp>
      <p:sp>
        <p:nvSpPr>
          <p:cNvPr id="17" name="AutoShape 12" descr="Đã tải lên ảnh"/>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2" name="TextBox 1"/>
          <p:cNvSpPr txBox="1"/>
          <p:nvPr/>
        </p:nvSpPr>
        <p:spPr>
          <a:xfrm>
            <a:off x="612775" y="1143761"/>
            <a:ext cx="7575550" cy="1754326"/>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N</a:t>
            </a:r>
            <a:r>
              <a:rPr lang="vi-VN" sz="1800" dirty="0" smtClean="0">
                <a:latin typeface="Times New Roman" panose="02020603050405020304" pitchFamily="18" charset="0"/>
                <a:cs typeface="Times New Roman" panose="02020603050405020304" pitchFamily="18" charset="0"/>
              </a:rPr>
              <a:t>ếu</a:t>
            </a:r>
            <a:r>
              <a:rPr lang="vi-VN" sz="1800" dirty="0">
                <a:latin typeface="Times New Roman" panose="02020603050405020304" pitchFamily="18" charset="0"/>
                <a:cs typeface="Times New Roman" panose="02020603050405020304" pitchFamily="18" charset="0"/>
              </a:rPr>
              <a:t> w là một nghiệm của bài toán Perceptron, với một điểm dữ liệu mới x chưa được gán nhãn, ta có thể xác định class của nó bằng phép toán đơn giản như sau:</a:t>
            </a:r>
            <a:endParaRPr lang="en-US" sz="1800" dirty="0" smtClean="0">
              <a:latin typeface="Times New Roman" panose="02020603050405020304" pitchFamily="18" charset="0"/>
              <a:cs typeface="Times New Roman" panose="02020603050405020304" pitchFamily="18" charset="0"/>
            </a:endParaRPr>
          </a:p>
          <a:p>
            <a:pPr algn="ctr"/>
            <a:r>
              <a:rPr lang="en-US" sz="1800" dirty="0" smtClean="0">
                <a:latin typeface="Times New Roman" panose="02020603050405020304" pitchFamily="18" charset="0"/>
                <a:cs typeface="Times New Roman" panose="02020603050405020304" pitchFamily="18" charset="0"/>
              </a:rPr>
              <a:t>label(x</a:t>
            </a:r>
            <a:r>
              <a:rPr lang="en-US" sz="1800" dirty="0">
                <a:latin typeface="Times New Roman" panose="02020603050405020304" pitchFamily="18" charset="0"/>
                <a:cs typeface="Times New Roman" panose="02020603050405020304" pitchFamily="18" charset="0"/>
              </a:rPr>
              <a:t>) = 1 if w</a:t>
            </a:r>
            <a:r>
              <a:rPr lang="en-US" sz="1800" baseline="30000" dirty="0" smtClean="0">
                <a:latin typeface="Times New Roman" panose="02020603050405020304" pitchFamily="18" charset="0"/>
                <a:cs typeface="Times New Roman" panose="02020603050405020304" pitchFamily="18" charset="0"/>
              </a:rPr>
              <a:t>T</a:t>
            </a:r>
            <a:r>
              <a:rPr lang="en-US" sz="1800" dirty="0" smtClean="0">
                <a:latin typeface="Times New Roman" panose="02020603050405020304" pitchFamily="18" charset="0"/>
                <a:cs typeface="Times New Roman" panose="02020603050405020304" pitchFamily="18" charset="0"/>
              </a:rPr>
              <a:t>x</a:t>
            </a:r>
            <a:r>
              <a:rPr lang="en-US" sz="1800" dirty="0">
                <a:latin typeface="Times New Roman" panose="02020603050405020304" pitchFamily="18" charset="0"/>
                <a:cs typeface="Times New Roman" panose="02020603050405020304" pitchFamily="18" charset="0"/>
              </a:rPr>
              <a:t>≥0, otherwise −</a:t>
            </a:r>
            <a:r>
              <a:rPr lang="en-US" sz="1800" dirty="0" smtClean="0">
                <a:latin typeface="Times New Roman" panose="02020603050405020304" pitchFamily="18" charset="0"/>
                <a:cs typeface="Times New Roman" panose="02020603050405020304" pitchFamily="18" charset="0"/>
              </a:rPr>
              <a:t>1</a:t>
            </a:r>
            <a:endParaRPr lang="en-US" sz="1800" dirty="0" smtClean="0">
              <a:latin typeface="Times New Roman" panose="02020603050405020304" pitchFamily="18" charset="0"/>
              <a:cs typeface="Times New Roman" panose="02020603050405020304" pitchFamily="18" charset="0"/>
            </a:endParaRPr>
          </a:p>
          <a:p>
            <a:r>
              <a:rPr lang="en-US" sz="1800" dirty="0" err="1" smtClean="0">
                <a:latin typeface="Times New Roman" panose="02020603050405020304" pitchFamily="18" charset="0"/>
                <a:cs typeface="Times New Roman" panose="02020603050405020304" pitchFamily="18" charset="0"/>
              </a:rPr>
              <a:t>Ngắn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gọn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hơn</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pPr algn="ctr"/>
            <a:r>
              <a:rPr lang="en-US" sz="1800" dirty="0">
                <a:latin typeface="Times New Roman" panose="02020603050405020304" pitchFamily="18" charset="0"/>
                <a:cs typeface="Times New Roman" panose="02020603050405020304" pitchFamily="18" charset="0"/>
              </a:rPr>
              <a:t>label(x) = </a:t>
            </a:r>
            <a:r>
              <a:rPr lang="en-US" sz="1800" dirty="0" err="1" smtClean="0">
                <a:latin typeface="Times New Roman" panose="02020603050405020304" pitchFamily="18" charset="0"/>
                <a:cs typeface="Times New Roman" panose="02020603050405020304" pitchFamily="18" charset="0"/>
              </a:rPr>
              <a:t>sgn</a:t>
            </a:r>
            <a:r>
              <a:rPr lang="en-US" sz="1800" dirty="0" smtClean="0">
                <a:latin typeface="Times New Roman" panose="02020603050405020304" pitchFamily="18" charset="0"/>
                <a:cs typeface="Times New Roman" panose="02020603050405020304" pitchFamily="18" charset="0"/>
              </a:rPr>
              <a:t>(</a:t>
            </a:r>
            <a:r>
              <a:rPr lang="en-US" sz="1800" dirty="0" err="1" smtClean="0">
                <a:latin typeface="Times New Roman" panose="02020603050405020304" pitchFamily="18" charset="0"/>
                <a:cs typeface="Times New Roman" panose="02020603050405020304" pitchFamily="18" charset="0"/>
              </a:rPr>
              <a:t>w</a:t>
            </a:r>
            <a:r>
              <a:rPr lang="en-US" sz="1800" baseline="30000" dirty="0" err="1" smtClean="0">
                <a:latin typeface="Times New Roman" panose="02020603050405020304" pitchFamily="18" charset="0"/>
                <a:cs typeface="Times New Roman" panose="02020603050405020304" pitchFamily="18" charset="0"/>
              </a:rPr>
              <a:t>T</a:t>
            </a:r>
            <a:r>
              <a:rPr lang="en-US" sz="1800" dirty="0" err="1" smtClean="0">
                <a:latin typeface="Times New Roman" panose="02020603050405020304" pitchFamily="18" charset="0"/>
                <a:cs typeface="Times New Roman" panose="02020603050405020304" pitchFamily="18" charset="0"/>
              </a:rPr>
              <a:t>x</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r>
              <a:rPr lang="en-US" sz="1800" dirty="0" err="1" smtClean="0">
                <a:latin typeface="Times New Roman" panose="02020603050405020304" pitchFamily="18" charset="0"/>
                <a:cs typeface="Times New Roman" panose="02020603050405020304" pitchFamily="18" charset="0"/>
              </a:rPr>
              <a:t>trong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đó</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sgn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là</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hàm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xác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định</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dấu</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với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giả</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sử</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rằng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sgn</a:t>
            </a:r>
            <a:r>
              <a:rPr lang="en-US" sz="1800" dirty="0" smtClean="0">
                <a:latin typeface="Times New Roman" panose="02020603050405020304" pitchFamily="18" charset="0"/>
                <a:cs typeface="Times New Roman" panose="02020603050405020304" pitchFamily="18" charset="0"/>
              </a:rPr>
              <a:t>(0) = 1.</a:t>
            </a:r>
            <a:endParaRPr lang="en-US" sz="18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8" name="Google Shape;495;p61"/>
          <p:cNvSpPr txBox="1">
            <a:spLocks noGrp="1"/>
          </p:cNvSpPr>
          <p:nvPr>
            <p:ph type="subTitle" idx="4294967295"/>
          </p:nvPr>
        </p:nvSpPr>
        <p:spPr>
          <a:xfrm>
            <a:off x="603885" y="441960"/>
            <a:ext cx="6369685" cy="4013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b="1" dirty="0" smtClean="0">
                <a:latin typeface="Times New Roman" panose="02020603050405020304" pitchFamily="18" charset="0"/>
                <a:cs typeface="Times New Roman" panose="02020603050405020304" pitchFamily="18" charset="0"/>
              </a:rPr>
              <a:t>Thuật toán Perceptron Learning Algorithm (PLA)</a:t>
            </a:r>
            <a:endParaRPr sz="2000" b="1" dirty="0">
              <a:latin typeface="Times New Roman" panose="02020603050405020304" pitchFamily="18" charset="0"/>
              <a:cs typeface="Times New Roman" panose="02020603050405020304" pitchFamily="18" charset="0"/>
            </a:endParaRPr>
          </a:p>
        </p:txBody>
      </p:sp>
      <p:sp>
        <p:nvSpPr>
          <p:cNvPr id="10" name="Google Shape;503;p61"/>
          <p:cNvSpPr txBox="1">
            <a:spLocks noGrp="1"/>
          </p:cNvSpPr>
          <p:nvPr>
            <p:ph type="title" idx="4294967295"/>
          </p:nvPr>
        </p:nvSpPr>
        <p:spPr>
          <a:xfrm>
            <a:off x="-1" y="308718"/>
            <a:ext cx="718457"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02</a:t>
            </a:r>
            <a:endParaRPr lang="en-GB" sz="3600" b="1" dirty="0" smtClean="0">
              <a:latin typeface="Times New Roman" panose="02020603050405020304" pitchFamily="18" charset="0"/>
              <a:cs typeface="Times New Roman" panose="02020603050405020304" pitchFamily="18" charset="0"/>
            </a:endParaRPr>
          </a:p>
        </p:txBody>
      </p:sp>
      <p:sp>
        <p:nvSpPr>
          <p:cNvPr id="17" name="AutoShape 12" descr="Đã tải lên ảnh"/>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3" name="TextBox 2"/>
          <p:cNvSpPr txBox="1"/>
          <p:nvPr/>
        </p:nvSpPr>
        <p:spPr>
          <a:xfrm>
            <a:off x="612775" y="895350"/>
            <a:ext cx="4508500" cy="369332"/>
          </a:xfrm>
          <a:prstGeom prst="rect">
            <a:avLst/>
          </a:prstGeom>
          <a:noFill/>
        </p:spPr>
        <p:txBody>
          <a:bodyPr wrap="square" rtlCol="0">
            <a:spAutoFit/>
          </a:bodyPr>
          <a:lstStyle/>
          <a:p>
            <a:r>
              <a:rPr lang="en-US" sz="1800" dirty="0" err="1" smtClean="0">
                <a:latin typeface="Times New Roman" panose="02020603050405020304" pitchFamily="18" charset="0"/>
                <a:cs typeface="Times New Roman" panose="02020603050405020304" pitchFamily="18" charset="0"/>
              </a:rPr>
              <a:t>Xây</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dựng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hàm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mất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mát</a:t>
            </a:r>
            <a:endParaRPr lang="en-US" sz="1800" dirty="0">
              <a:latin typeface="Times New Roman" panose="02020603050405020304" pitchFamily="18" charset="0"/>
              <a:cs typeface="Times New Roman" panose="02020603050405020304" pitchFamily="18" charset="0"/>
            </a:endParaRPr>
          </a:p>
        </p:txBody>
      </p:sp>
      <p:pic>
        <p:nvPicPr>
          <p:cNvPr id="2050" name="Picture 2" descr="https://machinelearningcoban.com/assets/pla/pla3.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25534" y="1264682"/>
            <a:ext cx="3750625" cy="262977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4" name="TextBox 13"/>
              <p:cNvSpPr txBox="1"/>
              <p:nvPr/>
            </p:nvSpPr>
            <p:spPr>
              <a:xfrm>
                <a:off x="381000" y="1317051"/>
                <a:ext cx="4800600" cy="2370392"/>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𝐽</m:t>
                          </m:r>
                        </m:e>
                        <m:sub>
                          <m:r>
                            <a:rPr lang="en-US" sz="1800" b="0" i="1" smtClean="0">
                              <a:latin typeface="Cambria Math" panose="02040503050406030204" pitchFamily="18" charset="0"/>
                            </a:rPr>
                            <m:t>1</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𝑤</m:t>
                          </m:r>
                        </m:e>
                      </m:d>
                      <m:r>
                        <a:rPr lang="en-US" sz="1800" b="0" i="1" smtClean="0">
                          <a:latin typeface="Cambria Math" panose="02040503050406030204" pitchFamily="18" charset="0"/>
                        </a:rPr>
                        <m:t>= </m:t>
                      </m:r>
                      <m:nary>
                        <m:naryPr>
                          <m:chr m:val="∑"/>
                          <m:supHide m:val="on"/>
                          <m:ctrlPr>
                            <a:rPr lang="en-US" sz="1800" b="0" i="1" smtClean="0">
                              <a:latin typeface="Cambria Math" panose="02040503050406030204" pitchFamily="18" charset="0"/>
                            </a:rPr>
                          </m:ctrlPr>
                        </m:naryPr>
                        <m: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r>
                            <m:rPr>
                              <m:brk m:alnAt="7"/>
                            </m:rP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ℳ</m:t>
                          </m:r>
                        </m:sub>
                        <m:sup/>
                        <m:e>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𝑠𝑔𝑛</m:t>
                          </m:r>
                          <m:d>
                            <m:dPr>
                              <m:ctrlPr>
                                <a:rPr lang="en-US" sz="1800" b="0" i="1" smtClean="0">
                                  <a:latin typeface="Cambria Math" panose="02040503050406030204" pitchFamily="18" charset="0"/>
                                </a:rPr>
                              </m:ctrlPr>
                            </m:dPr>
                            <m:e>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𝑤</m:t>
                                  </m:r>
                                </m:e>
                                <m:sup>
                                  <m:r>
                                    <a:rPr lang="en-US" sz="1800" b="0" i="1" smtClean="0">
                                      <a:latin typeface="Cambria Math" panose="02040503050406030204" pitchFamily="18" charset="0"/>
                                    </a:rPr>
                                    <m:t>𝑇</m:t>
                                  </m:r>
                                </m:sup>
                              </m:sSup>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e>
                          </m:d>
                          <m:r>
                            <a:rPr lang="en-US" sz="1800" b="0" i="1" smtClean="0">
                              <a:latin typeface="Cambria Math" panose="02040503050406030204" pitchFamily="18" charset="0"/>
                            </a:rPr>
                            <m:t>)</m:t>
                          </m:r>
                        </m:e>
                      </m:nary>
                    </m:oMath>
                  </m:oMathPara>
                </a14:m>
                <a:endParaRPr lang="en-US" sz="1800" dirty="0" smtClean="0">
                  <a:latin typeface="Times New Roman" panose="02020603050405020304" pitchFamily="18" charset="0"/>
                  <a:cs typeface="Times New Roman" panose="02020603050405020304" pitchFamily="18" charset="0"/>
                </a:endParaRPr>
              </a:p>
              <a:p>
                <a:pPr algn="just"/>
                <a:r>
                  <a:rPr lang="en-US" sz="1800" dirty="0" err="1">
                    <a:latin typeface="Times New Roman" panose="02020603050405020304" pitchFamily="18" charset="0"/>
                    <a:cs typeface="Times New Roman" panose="02020603050405020304" pitchFamily="18" charset="0"/>
                  </a:rPr>
                  <a:t>trong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đó</a:t>
                </a:r>
                <a:r>
                  <a:rPr lang="en-US" sz="1800" dirty="0">
                    <a:latin typeface="Times New Roman" panose="02020603050405020304" pitchFamily="18" charset="0"/>
                    <a:cs typeface="Times New Roman" panose="02020603050405020304" pitchFamily="18" charset="0"/>
                  </a:rPr>
                  <a:t> </a:t>
                </a:r>
                <a14:m>
                  <m:oMath xmlns:m="http://schemas.openxmlformats.org/officeDocument/2006/math">
                    <m:r>
                      <a:rPr lang="en-US" sz="1800" i="1" smtClean="0">
                        <a:latin typeface="Cambria Math" panose="02040503050406030204" pitchFamily="18" charset="0"/>
                        <a:ea typeface="Cambria Math" panose="02040503050406030204" pitchFamily="18" charset="0"/>
                      </a:rPr>
                      <m:t>ℳ</m:t>
                    </m:r>
                  </m:oMath>
                </a14:m>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tập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hợp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điểm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bị</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misclassified. </a:t>
                </a:r>
                <a:r>
                  <a:rPr lang="en-US" sz="1800" dirty="0" err="1" smtClean="0">
                    <a:latin typeface="Times New Roman" panose="02020603050405020304" pitchFamily="18" charset="0"/>
                    <a:cs typeface="Times New Roman" panose="02020603050405020304" pitchFamily="18" charset="0"/>
                  </a:rPr>
                  <a:t>Với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mỗi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điểm</a:t>
                </a: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𝑥</m:t>
                        </m:r>
                      </m:e>
                      <m:sub>
                        <m:r>
                          <a:rPr lang="en-US" sz="1800" b="0" i="1" smtClean="0">
                            <a:latin typeface="Cambria Math" panose="02040503050406030204" pitchFamily="18" charset="0"/>
                            <a:cs typeface="Times New Roman" panose="02020603050405020304" pitchFamily="18" charset="0"/>
                          </a:rPr>
                          <m:t>𝑖</m:t>
                        </m:r>
                      </m:sub>
                    </m:sSub>
                    <m:r>
                      <a:rPr lang="en-US" sz="1800" i="1" smtClean="0">
                        <a:latin typeface="Cambria Math" panose="02040503050406030204" pitchFamily="18" charset="0"/>
                        <a:ea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ea typeface="Cambria Math" panose="02040503050406030204" pitchFamily="18" charset="0"/>
                        <a:cs typeface="Times New Roman" panose="02020603050405020304" pitchFamily="18" charset="0"/>
                      </a:rPr>
                      <m:t>ℳ</m:t>
                    </m:r>
                  </m:oMath>
                </a14:m>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vì</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điểm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này</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bị</a:t>
                </a:r>
                <a:r>
                  <a:rPr lang="en-US" sz="1800" dirty="0" smtClean="0">
                    <a:latin typeface="Times New Roman" panose="02020603050405020304" pitchFamily="18" charset="0"/>
                    <a:cs typeface="Times New Roman" panose="02020603050405020304" pitchFamily="18" charset="0"/>
                  </a:rPr>
                  <a:t> misclassified </a:t>
                </a:r>
                <a:r>
                  <a:rPr lang="en-US" sz="1800" dirty="0" err="1" smtClean="0">
                    <a:latin typeface="Times New Roman" panose="02020603050405020304" pitchFamily="18" charset="0"/>
                    <a:cs typeface="Times New Roman" panose="02020603050405020304" pitchFamily="18" charset="0"/>
                  </a:rPr>
                  <a:t>nên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y</a:t>
                </a:r>
                <a:r>
                  <a:rPr lang="en-US" sz="1800" baseline="-25000" dirty="0" err="1"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và</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sgn</a:t>
                </a:r>
                <a:r>
                  <a:rPr lang="en-US" sz="1800" dirty="0" smtClean="0">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1800" i="1" smtClean="0">
                            <a:latin typeface="Cambria Math" panose="02040503050406030204" pitchFamily="18" charset="0"/>
                            <a:cs typeface="Times New Roman" panose="02020603050405020304" pitchFamily="18" charset="0"/>
                          </a:rPr>
                        </m:ctrlPr>
                      </m:sSupPr>
                      <m:e>
                        <m:r>
                          <a:rPr lang="en-US" sz="1800" b="0" i="1" smtClean="0">
                            <a:latin typeface="Cambria Math" panose="02040503050406030204" pitchFamily="18" charset="0"/>
                            <a:cs typeface="Times New Roman" panose="02020603050405020304" pitchFamily="18" charset="0"/>
                          </a:rPr>
                          <m:t>𝑤</m:t>
                        </m:r>
                      </m:e>
                      <m:sup>
                        <m:r>
                          <a:rPr lang="en-US" sz="1800" b="0" i="1" smtClean="0">
                            <a:latin typeface="Cambria Math" panose="02040503050406030204" pitchFamily="18" charset="0"/>
                            <a:cs typeface="Times New Roman" panose="02020603050405020304" pitchFamily="18" charset="0"/>
                          </a:rPr>
                          <m:t>𝑇</m:t>
                        </m:r>
                      </m:sup>
                    </m:sSup>
                    <m:r>
                      <a:rPr lang="en-US" sz="1800" b="0" i="1" smtClean="0">
                        <a:latin typeface="Cambria Math" panose="02040503050406030204" pitchFamily="18" charset="0"/>
                        <a:cs typeface="Times New Roman" panose="02020603050405020304" pitchFamily="18" charset="0"/>
                      </a:rPr>
                      <m:t>𝑥</m:t>
                    </m:r>
                  </m:oMath>
                </a14:m>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khác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nhau</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và</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vì</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thế</a:t>
                </a: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r>
                      <a:rPr lang="en-US" sz="1800" b="0" i="1" smtClean="0">
                        <a:latin typeface="Cambria Math" panose="02040503050406030204" pitchFamily="18" charset="0"/>
                        <a:cs typeface="Times New Roman" panose="02020603050405020304" pitchFamily="18" charset="0"/>
                      </a:rPr>
                      <m:t>−</m:t>
                    </m:r>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𝑦</m:t>
                        </m:r>
                      </m:e>
                      <m:sub>
                        <m:r>
                          <a:rPr lang="en-US" sz="1800" b="0" i="1" smtClean="0">
                            <a:latin typeface="Cambria Math" panose="02040503050406030204" pitchFamily="18" charset="0"/>
                            <a:cs typeface="Times New Roman" panose="02020603050405020304" pitchFamily="18" charset="0"/>
                          </a:rPr>
                          <m:t>𝑖</m:t>
                        </m:r>
                      </m:sub>
                    </m:sSub>
                    <m:r>
                      <a:rPr lang="en-US" sz="1800" b="0" i="1" smtClean="0">
                        <a:latin typeface="Cambria Math" panose="02040503050406030204" pitchFamily="18" charset="0"/>
                        <a:cs typeface="Times New Roman" panose="02020603050405020304" pitchFamily="18" charset="0"/>
                      </a:rPr>
                      <m:t>𝑠𝑔𝑛</m:t>
                    </m:r>
                    <m:d>
                      <m:dPr>
                        <m:ctrlPr>
                          <a:rPr lang="en-US" sz="1800" b="0" i="1" smtClean="0">
                            <a:latin typeface="Cambria Math" panose="02040503050406030204" pitchFamily="18" charset="0"/>
                            <a:cs typeface="Times New Roman" panose="02020603050405020304" pitchFamily="18" charset="0"/>
                          </a:rPr>
                        </m:ctrlPr>
                      </m:dPr>
                      <m:e>
                        <m:sSup>
                          <m:sSupPr>
                            <m:ctrlPr>
                              <a:rPr lang="en-US" sz="1800" b="0" i="1" smtClean="0">
                                <a:latin typeface="Cambria Math" panose="02040503050406030204" pitchFamily="18" charset="0"/>
                                <a:cs typeface="Times New Roman" panose="02020603050405020304" pitchFamily="18" charset="0"/>
                              </a:rPr>
                            </m:ctrlPr>
                          </m:sSupPr>
                          <m:e>
                            <m:r>
                              <a:rPr lang="en-US" sz="1800" b="0" i="1" smtClean="0">
                                <a:latin typeface="Cambria Math" panose="02040503050406030204" pitchFamily="18" charset="0"/>
                                <a:cs typeface="Times New Roman" panose="02020603050405020304" pitchFamily="18" charset="0"/>
                              </a:rPr>
                              <m:t>𝑤</m:t>
                            </m:r>
                          </m:e>
                          <m:sup>
                            <m:r>
                              <a:rPr lang="en-US" sz="1800" b="0" i="1" smtClean="0">
                                <a:latin typeface="Cambria Math" panose="02040503050406030204" pitchFamily="18" charset="0"/>
                                <a:cs typeface="Times New Roman" panose="02020603050405020304" pitchFamily="18" charset="0"/>
                              </a:rPr>
                              <m:t>𝑇</m:t>
                            </m:r>
                          </m:sup>
                        </m:sSup>
                        <m:sSub>
                          <m:sSubPr>
                            <m:ctrlPr>
                              <a:rPr lang="en-US" sz="1800" b="0" i="1" smtClean="0">
                                <a:latin typeface="Cambria Math" panose="02040503050406030204" pitchFamily="18" charset="0"/>
                                <a:cs typeface="Times New Roman" panose="02020603050405020304" pitchFamily="18" charset="0"/>
                              </a:rPr>
                            </m:ctrlPr>
                          </m:sSubPr>
                          <m:e>
                            <m:r>
                              <a:rPr lang="en-US" sz="1800" b="0" i="1" smtClean="0">
                                <a:latin typeface="Cambria Math" panose="02040503050406030204" pitchFamily="18" charset="0"/>
                                <a:cs typeface="Times New Roman" panose="02020603050405020304" pitchFamily="18" charset="0"/>
                              </a:rPr>
                              <m:t>𝑥</m:t>
                            </m:r>
                          </m:e>
                          <m:sub>
                            <m:r>
                              <a:rPr lang="en-US" sz="1800" b="0" i="1" smtClean="0">
                                <a:latin typeface="Cambria Math" panose="02040503050406030204" pitchFamily="18" charset="0"/>
                                <a:cs typeface="Times New Roman" panose="02020603050405020304" pitchFamily="18" charset="0"/>
                              </a:rPr>
                              <m:t>𝑖</m:t>
                            </m:r>
                          </m:sub>
                        </m:sSub>
                      </m:e>
                    </m:d>
                    <m:r>
                      <a:rPr lang="en-US" sz="1800" b="0" i="1" smtClean="0">
                        <a:latin typeface="Cambria Math" panose="02040503050406030204" pitchFamily="18" charset="0"/>
                        <a:cs typeface="Times New Roman" panose="02020603050405020304" pitchFamily="18" charset="0"/>
                      </a:rPr>
                      <m:t>=</m:t>
                    </m:r>
                    <m:r>
                      <a:rPr lang="en-US" sz="1800" b="0" i="1" smtClean="0">
                        <a:latin typeface="Cambria Math" panose="02040503050406030204" pitchFamily="18" charset="0"/>
                        <a:cs typeface="Times New Roman" panose="02020603050405020304" pitchFamily="18" charset="0"/>
                      </a:rPr>
                      <m:t>1</m:t>
                    </m:r>
                  </m:oMath>
                </a14:m>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pPr algn="just"/>
                <a:r>
                  <a:rPr lang="vi-VN" sz="1800" dirty="0">
                    <a:latin typeface="+mj-lt"/>
                  </a:rPr>
                  <a:t>Một điểm quan trọng, hàm số này là rời rạc, không tính được đạo hàm theo w nên rất khó tối ưu</a:t>
                </a:r>
                <a:r>
                  <a:rPr lang="vi-VN" sz="1800" dirty="0" smtClean="0">
                    <a:latin typeface="+mj-lt"/>
                  </a:rPr>
                  <a:t>.</a:t>
                </a:r>
                <a:endParaRPr lang="en-US" sz="2400" dirty="0">
                  <a:latin typeface="+mj-lt"/>
                  <a:cs typeface="Times New Roman" panose="02020603050405020304" pitchFamily="18" charset="0"/>
                </a:endParaRPr>
              </a:p>
            </p:txBody>
          </p:sp>
        </mc:Choice>
        <mc:Fallback>
          <p:sp>
            <p:nvSpPr>
              <p:cNvPr id="14" name="TextBox 13"/>
              <p:cNvSpPr txBox="1">
                <a:spLocks noRot="1" noChangeAspect="1" noMove="1" noResize="1" noEditPoints="1" noAdjustHandles="1" noChangeArrowheads="1" noChangeShapeType="1" noTextEdit="1"/>
              </p:cNvSpPr>
              <p:nvPr/>
            </p:nvSpPr>
            <p:spPr>
              <a:xfrm>
                <a:off x="381000" y="1317051"/>
                <a:ext cx="4800600" cy="2370392"/>
              </a:xfrm>
              <a:prstGeom prst="rect">
                <a:avLst/>
              </a:prstGeom>
              <a:blipFill rotWithShape="1">
                <a:blip r:embed="rId2"/>
                <a:stretch>
                  <a:fillRect t="-3" b="27"/>
                </a:stretch>
              </a:blipFill>
            </p:spPr>
            <p:txBody>
              <a:bodyPr/>
              <a:lstStyle/>
              <a:p>
                <a:r>
                  <a:rPr lang="en-US" altLang="en-US">
                    <a:noFill/>
                  </a:rPr>
                  <a:t> </a:t>
                </a:r>
              </a:p>
            </p:txBody>
          </p:sp>
        </mc:Fallback>
      </mc:AlternateContent>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8" name="Google Shape;495;p61"/>
          <p:cNvSpPr txBox="1">
            <a:spLocks noGrp="1"/>
          </p:cNvSpPr>
          <p:nvPr>
            <p:ph type="subTitle" idx="4294967295"/>
          </p:nvPr>
        </p:nvSpPr>
        <p:spPr>
          <a:xfrm>
            <a:off x="603594" y="441954"/>
            <a:ext cx="5617592" cy="40102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smtClean="0">
                <a:latin typeface="Times New Roman" panose="02020603050405020304" pitchFamily="18" charset="0"/>
                <a:cs typeface="Times New Roman" panose="02020603050405020304" pitchFamily="18" charset="0"/>
              </a:rPr>
              <a:t>Thuật toán Perceptron Learning Algorithm (PLA)</a:t>
            </a:r>
            <a:endParaRPr sz="1800" b="1" dirty="0">
              <a:latin typeface="Times New Roman" panose="02020603050405020304" pitchFamily="18" charset="0"/>
              <a:cs typeface="Times New Roman" panose="02020603050405020304" pitchFamily="18" charset="0"/>
            </a:endParaRPr>
          </a:p>
        </p:txBody>
      </p:sp>
      <p:sp>
        <p:nvSpPr>
          <p:cNvPr id="10" name="Google Shape;503;p61"/>
          <p:cNvSpPr txBox="1">
            <a:spLocks noGrp="1"/>
          </p:cNvSpPr>
          <p:nvPr>
            <p:ph type="title" idx="4294967295"/>
          </p:nvPr>
        </p:nvSpPr>
        <p:spPr>
          <a:xfrm>
            <a:off x="-1" y="308718"/>
            <a:ext cx="718457"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02</a:t>
            </a:r>
            <a:endParaRPr lang="en-GB" sz="3600" b="1" dirty="0" smtClean="0">
              <a:latin typeface="Times New Roman" panose="02020603050405020304" pitchFamily="18" charset="0"/>
              <a:cs typeface="Times New Roman" panose="02020603050405020304" pitchFamily="18" charset="0"/>
            </a:endParaRPr>
          </a:p>
        </p:txBody>
      </p:sp>
      <p:sp>
        <p:nvSpPr>
          <p:cNvPr id="17" name="AutoShape 12" descr="Đã tải lên ảnh"/>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3" name="TextBox 2"/>
          <p:cNvSpPr txBox="1"/>
          <p:nvPr/>
        </p:nvSpPr>
        <p:spPr>
          <a:xfrm>
            <a:off x="612775" y="895350"/>
            <a:ext cx="4508500" cy="369332"/>
          </a:xfrm>
          <a:prstGeom prst="rect">
            <a:avLst/>
          </a:prstGeom>
          <a:noFill/>
        </p:spPr>
        <p:txBody>
          <a:bodyPr wrap="square" rtlCol="0">
            <a:spAutoFit/>
          </a:bodyPr>
          <a:lstStyle/>
          <a:p>
            <a:r>
              <a:rPr lang="en-US" sz="1800" dirty="0" err="1" smtClean="0">
                <a:latin typeface="Times New Roman" panose="02020603050405020304" pitchFamily="18" charset="0"/>
                <a:cs typeface="Times New Roman" panose="02020603050405020304" pitchFamily="18" charset="0"/>
              </a:rPr>
              <a:t>Xây</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dựng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hàm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mất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mát</a:t>
            </a:r>
            <a:endParaRPr lang="en-US" sz="1800" dirty="0">
              <a:latin typeface="Times New Roman" panose="02020603050405020304" pitchFamily="18" charset="0"/>
              <a:cs typeface="Times New Roman" panose="02020603050405020304" pitchFamily="18" charset="0"/>
            </a:endParaRPr>
          </a:p>
        </p:txBody>
      </p:sp>
      <p:pic>
        <p:nvPicPr>
          <p:cNvPr id="2050" name="Picture 2" descr="https://machinelearningcoban.com/assets/pla/pla3.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25534" y="1264682"/>
            <a:ext cx="3750625" cy="262977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4" name="TextBox 13"/>
              <p:cNvSpPr txBox="1"/>
              <p:nvPr/>
            </p:nvSpPr>
            <p:spPr>
              <a:xfrm>
                <a:off x="381000" y="1317051"/>
                <a:ext cx="4800600" cy="2044065"/>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𝐽</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𝑤</m:t>
                          </m:r>
                        </m:e>
                      </m:d>
                      <m:r>
                        <a:rPr lang="en-US" sz="1800" b="0" i="1" smtClean="0">
                          <a:latin typeface="Cambria Math" panose="02040503050406030204" pitchFamily="18" charset="0"/>
                        </a:rPr>
                        <m:t>= </m:t>
                      </m:r>
                      <m:nary>
                        <m:naryPr>
                          <m:chr m:val="∑"/>
                          <m:supHide m:val="on"/>
                          <m:ctrlPr>
                            <a:rPr lang="en-US" sz="1800" b="0" i="1" smtClean="0">
                              <a:latin typeface="Cambria Math" panose="02040503050406030204" pitchFamily="18" charset="0"/>
                            </a:rPr>
                          </m:ctrlPr>
                        </m:naryPr>
                        <m: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r>
                            <m:rPr>
                              <m:brk m:alnAt="7"/>
                            </m:rP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ℳ</m:t>
                          </m:r>
                        </m:sub>
                        <m:sup/>
                        <m:e>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sSup>
                            <m:sSupPr>
                              <m:ctrlPr>
                                <a:rPr lang="en-US" sz="1800" i="1">
                                  <a:latin typeface="Cambria Math" panose="02040503050406030204" pitchFamily="18" charset="0"/>
                                </a:rPr>
                              </m:ctrlPr>
                            </m:sSupPr>
                            <m:e>
                              <m:r>
                                <a:rPr lang="en-US" sz="1800" i="1">
                                  <a:latin typeface="Cambria Math" panose="02040503050406030204" pitchFamily="18" charset="0"/>
                                </a:rPr>
                                <m:t>𝑤</m:t>
                              </m:r>
                            </m:e>
                            <m:sup>
                              <m:r>
                                <a:rPr lang="en-US" sz="1800" i="1">
                                  <a:latin typeface="Cambria Math" panose="02040503050406030204" pitchFamily="18" charset="0"/>
                                </a:rPr>
                                <m:t>𝑇</m:t>
                              </m:r>
                            </m:sup>
                          </m:sSup>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𝑖</m:t>
                              </m:r>
                            </m:sub>
                          </m:sSub>
                          <m:r>
                            <a:rPr lang="en-US" sz="1800" b="0" i="1" smtClean="0">
                              <a:latin typeface="Cambria Math" panose="02040503050406030204" pitchFamily="18" charset="0"/>
                            </a:rPr>
                            <m:t>)</m:t>
                          </m:r>
                        </m:e>
                      </m:nary>
                    </m:oMath>
                  </m:oMathPara>
                </a14:m>
                <a:endParaRPr lang="en-US" sz="1800" dirty="0" smtClean="0">
                  <a:latin typeface="Times New Roman" panose="02020603050405020304" pitchFamily="18" charset="0"/>
                  <a:cs typeface="Times New Roman" panose="02020603050405020304" pitchFamily="18" charset="0"/>
                </a:endParaRPr>
              </a:p>
              <a:p>
                <a:pPr algn="just"/>
                <a:r>
                  <a:rPr lang="en-US" sz="1800" dirty="0" err="1" smtClean="0">
                    <a:latin typeface="Times New Roman" panose="02020603050405020304" pitchFamily="18" charset="0"/>
                    <a:cs typeface="Times New Roman" panose="02020603050405020304" pitchFamily="18" charset="0"/>
                  </a:rPr>
                  <a:t>Khác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biệt</a:t>
                </a:r>
                <a:r>
                  <a:rPr lang="en-US" sz="1800" dirty="0" smtClean="0">
                    <a:latin typeface="Times New Roman" panose="02020603050405020304" pitchFamily="18" charset="0"/>
                    <a:cs typeface="Times New Roman" panose="02020603050405020304" pitchFamily="18" charset="0"/>
                  </a:rPr>
                  <a:t> so </a:t>
                </a:r>
                <a:r>
                  <a:rPr lang="en-US" sz="1800" dirty="0" err="1" smtClean="0">
                    <a:latin typeface="Times New Roman" panose="02020603050405020304" pitchFamily="18" charset="0"/>
                    <a:cs typeface="Times New Roman" panose="02020603050405020304" pitchFamily="18" charset="0"/>
                  </a:rPr>
                  <a:t>với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hàm</a:t>
                </a:r>
                <a:r>
                  <a:rPr lang="en-US" sz="1800" dirty="0" smtClean="0">
                    <a:latin typeface="Times New Roman" panose="02020603050405020304" pitchFamily="18" charset="0"/>
                    <a:cs typeface="Times New Roman" panose="02020603050405020304" pitchFamily="18" charset="0"/>
                  </a:rPr>
                  <a:t> J</a:t>
                </a:r>
                <a:r>
                  <a:rPr lang="en-US" sz="1800" baseline="-25000" dirty="0" smtClean="0">
                    <a:latin typeface="Times New Roman" panose="02020603050405020304" pitchFamily="18" charset="0"/>
                    <a:cs typeface="Times New Roman" panose="02020603050405020304" pitchFamily="18" charset="0"/>
                  </a:rPr>
                  <a:t>1</a:t>
                </a:r>
                <a:r>
                  <a:rPr lang="en-US" sz="1800" dirty="0" smtClean="0">
                    <a:latin typeface="Times New Roman" panose="02020603050405020304" pitchFamily="18" charset="0"/>
                    <a:cs typeface="Times New Roman" panose="02020603050405020304" pitchFamily="18" charset="0"/>
                  </a:rPr>
                  <a:t>(w) </a:t>
                </a:r>
                <a:r>
                  <a:rPr lang="en-US" sz="1800" dirty="0" err="1" smtClean="0">
                    <a:latin typeface="Times New Roman" panose="02020603050405020304" pitchFamily="18" charset="0"/>
                    <a:cs typeface="Times New Roman" panose="02020603050405020304" pitchFamily="18" charset="0"/>
                  </a:rPr>
                  <a:t>là</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bỏ</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hàm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sgn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Nhận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xét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khi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một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điểm</a:t>
                </a:r>
                <a:r>
                  <a:rPr lang="en-US" sz="1800" dirty="0" smtClean="0">
                    <a:latin typeface="Times New Roman" panose="02020603050405020304" pitchFamily="18" charset="0"/>
                    <a:cs typeface="Times New Roman" panose="02020603050405020304" pitchFamily="18" charset="0"/>
                  </a:rPr>
                  <a:t> misclassified x</a:t>
                </a:r>
                <a:r>
                  <a:rPr lang="en-US" sz="1800" baseline="-25000" dirty="0" smtClean="0">
                    <a:latin typeface="Times New Roman" panose="02020603050405020304" pitchFamily="18" charset="0"/>
                    <a:cs typeface="Times New Roman" panose="02020603050405020304" pitchFamily="18" charset="0"/>
                  </a:rPr>
                  <a:t>i </a:t>
                </a:r>
                <a:r>
                  <a:rPr lang="en-US" sz="1800" dirty="0" err="1" smtClean="0">
                    <a:latin typeface="Times New Roman" panose="02020603050405020304" pitchFamily="18" charset="0"/>
                    <a:cs typeface="Times New Roman" panose="02020603050405020304" pitchFamily="18" charset="0"/>
                  </a:rPr>
                  <a:t>nằm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càng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xa</a:t>
                </a:r>
                <a:r>
                  <a:rPr lang="en-US" sz="1800" dirty="0" smtClean="0">
                    <a:latin typeface="Times New Roman" panose="02020603050405020304" pitchFamily="18" charset="0"/>
                    <a:cs typeface="Times New Roman" panose="02020603050405020304" pitchFamily="18" charset="0"/>
                  </a:rPr>
                  <a:t> boundary </a:t>
                </a:r>
                <a:r>
                  <a:rPr lang="en-US" sz="1800" dirty="0" err="1" smtClean="0">
                    <a:latin typeface="Times New Roman" panose="02020603050405020304" pitchFamily="18" charset="0"/>
                    <a:cs typeface="Times New Roman" panose="02020603050405020304" pitchFamily="18" charset="0"/>
                  </a:rPr>
                  <a:t>thì</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giá</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trị</a:t>
                </a: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sSup>
                      <m:sSupPr>
                        <m:ctrlPr>
                          <a:rPr lang="en-US" sz="1800" i="1">
                            <a:latin typeface="Cambria Math" panose="02040503050406030204" pitchFamily="18" charset="0"/>
                          </a:rPr>
                        </m:ctrlPr>
                      </m:sSupPr>
                      <m:e>
                        <m:r>
                          <a:rPr lang="en-US" sz="1800" i="1">
                            <a:latin typeface="Cambria Math" panose="02040503050406030204" pitchFamily="18" charset="0"/>
                          </a:rPr>
                          <m:t>𝑤</m:t>
                        </m:r>
                      </m:e>
                      <m:sup>
                        <m:r>
                          <a:rPr lang="en-US" sz="1800" i="1">
                            <a:latin typeface="Cambria Math" panose="02040503050406030204" pitchFamily="18" charset="0"/>
                          </a:rPr>
                          <m:t>𝑇</m:t>
                        </m:r>
                      </m:sup>
                    </m:sSup>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𝑖</m:t>
                        </m:r>
                      </m:sub>
                    </m:sSub>
                    <m:r>
                      <a:rPr lang="en-US" sz="1800" b="0" i="0" smtClean="0">
                        <a:latin typeface="Cambria Math" panose="02040503050406030204" pitchFamily="18" charset="0"/>
                      </a:rPr>
                      <m:t> </m:t>
                    </m:r>
                  </m:oMath>
                </a14:m>
                <a:r>
                  <a:rPr lang="en-US" sz="1800" dirty="0" err="1" smtClean="0">
                    <a:latin typeface="Times New Roman" panose="02020603050405020304" pitchFamily="18" charset="0"/>
                    <a:cs typeface="Times New Roman" panose="02020603050405020304" pitchFamily="18" charset="0"/>
                  </a:rPr>
                  <a:t>càng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lớn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tức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sai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lệch</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càng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lớn</a:t>
                </a:r>
                <a:r>
                  <a:rPr lang="en-US" sz="1800" dirty="0" smtClean="0">
                    <a:latin typeface="Times New Roman" panose="02020603050405020304" pitchFamily="18" charset="0"/>
                    <a:cs typeface="Times New Roman" panose="02020603050405020304" pitchFamily="18" charset="0"/>
                  </a:rPr>
                  <a:t>. Min </a:t>
                </a:r>
                <a:r>
                  <a:rPr lang="en-US" sz="1800" dirty="0" err="1" smtClean="0">
                    <a:latin typeface="Times New Roman" panose="02020603050405020304" pitchFamily="18" charset="0"/>
                    <a:cs typeface="Times New Roman" panose="02020603050405020304" pitchFamily="18" charset="0"/>
                  </a:rPr>
                  <a:t>của</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hàm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mất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mát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này</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bằng</a:t>
                </a:r>
                <a:r>
                  <a:rPr lang="en-US" sz="1800" dirty="0" smtClean="0">
                    <a:latin typeface="Times New Roman" panose="02020603050405020304" pitchFamily="18" charset="0"/>
                    <a:cs typeface="Times New Roman" panose="02020603050405020304" pitchFamily="18" charset="0"/>
                  </a:rPr>
                  <a:t> 0 </a:t>
                </a:r>
                <a:r>
                  <a:rPr lang="en-US" sz="1800" dirty="0" err="1" smtClean="0">
                    <a:latin typeface="Times New Roman" panose="02020603050405020304" pitchFamily="18" charset="0"/>
                    <a:cs typeface="Times New Roman" panose="02020603050405020304" pitchFamily="18" charset="0"/>
                  </a:rPr>
                  <a:t>nếu</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không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có</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điểm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nào</a:t>
                </a:r>
                <a:r>
                  <a:rPr lang="en-US" sz="1800" dirty="0" smtClean="0">
                    <a:latin typeface="Times New Roman" panose="02020603050405020304" pitchFamily="18" charset="0"/>
                    <a:cs typeface="Times New Roman" panose="02020603050405020304" pitchFamily="18" charset="0"/>
                  </a:rPr>
                  <a:t> misclassified. </a:t>
                </a:r>
                <a:endParaRPr lang="en-US" sz="2400" dirty="0">
                  <a:latin typeface="+mj-lt"/>
                  <a:cs typeface="Times New Roman" panose="02020603050405020304" pitchFamily="18" charset="0"/>
                </a:endParaRPr>
              </a:p>
            </p:txBody>
          </p:sp>
        </mc:Choice>
        <mc:Fallback>
          <p:sp>
            <p:nvSpPr>
              <p:cNvPr id="14" name="TextBox 13"/>
              <p:cNvSpPr txBox="1">
                <a:spLocks noRot="1" noChangeAspect="1" noMove="1" noResize="1" noEditPoints="1" noAdjustHandles="1" noChangeArrowheads="1" noChangeShapeType="1" noTextEdit="1"/>
              </p:cNvSpPr>
              <p:nvPr/>
            </p:nvSpPr>
            <p:spPr>
              <a:xfrm>
                <a:off x="381000" y="1317051"/>
                <a:ext cx="4800600" cy="2044065"/>
              </a:xfrm>
              <a:prstGeom prst="rect">
                <a:avLst/>
              </a:prstGeom>
              <a:blipFill rotWithShape="1">
                <a:blip r:embed="rId2"/>
                <a:stretch>
                  <a:fillRect t="-3" b="3"/>
                </a:stretch>
              </a:blipFill>
            </p:spPr>
            <p:txBody>
              <a:bodyPr/>
              <a:lstStyle/>
              <a:p>
                <a:r>
                  <a:rPr lang="en-US" altLang="en-US">
                    <a:noFill/>
                  </a:rPr>
                  <a:t> </a:t>
                </a:r>
              </a:p>
            </p:txBody>
          </p:sp>
        </mc:Fallback>
      </mc:AlternateContent>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8" name="Google Shape;495;p61"/>
          <p:cNvSpPr txBox="1">
            <a:spLocks noGrp="1"/>
          </p:cNvSpPr>
          <p:nvPr>
            <p:ph type="subTitle" idx="4294967295"/>
          </p:nvPr>
        </p:nvSpPr>
        <p:spPr>
          <a:xfrm>
            <a:off x="603594" y="441954"/>
            <a:ext cx="5617592" cy="40102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smtClean="0">
                <a:latin typeface="Times New Roman" panose="02020603050405020304" pitchFamily="18" charset="0"/>
                <a:cs typeface="Times New Roman" panose="02020603050405020304" pitchFamily="18" charset="0"/>
              </a:rPr>
              <a:t>Thuật toán Perceptron Learning Algorithm (PLA)</a:t>
            </a:r>
            <a:endParaRPr sz="1800" b="1" dirty="0">
              <a:latin typeface="Times New Roman" panose="02020603050405020304" pitchFamily="18" charset="0"/>
              <a:cs typeface="Times New Roman" panose="02020603050405020304" pitchFamily="18" charset="0"/>
            </a:endParaRPr>
          </a:p>
        </p:txBody>
      </p:sp>
      <p:sp>
        <p:nvSpPr>
          <p:cNvPr id="10" name="Google Shape;503;p61"/>
          <p:cNvSpPr txBox="1">
            <a:spLocks noGrp="1"/>
          </p:cNvSpPr>
          <p:nvPr>
            <p:ph type="title" idx="4294967295"/>
          </p:nvPr>
        </p:nvSpPr>
        <p:spPr>
          <a:xfrm>
            <a:off x="-1" y="308718"/>
            <a:ext cx="718457"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02</a:t>
            </a:r>
            <a:endParaRPr lang="en-GB" sz="3600" b="1" dirty="0" smtClean="0">
              <a:latin typeface="Times New Roman" panose="02020603050405020304" pitchFamily="18" charset="0"/>
              <a:cs typeface="Times New Roman" panose="02020603050405020304" pitchFamily="18" charset="0"/>
            </a:endParaRPr>
          </a:p>
        </p:txBody>
      </p:sp>
      <p:sp>
        <p:nvSpPr>
          <p:cNvPr id="17" name="AutoShape 12" descr="Đã tải lên ảnh"/>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3" name="TextBox 2"/>
          <p:cNvSpPr txBox="1"/>
          <p:nvPr/>
        </p:nvSpPr>
        <p:spPr>
          <a:xfrm>
            <a:off x="612775" y="895350"/>
            <a:ext cx="4508500" cy="369332"/>
          </a:xfrm>
          <a:prstGeom prst="rect">
            <a:avLst/>
          </a:prstGeom>
          <a:noFill/>
        </p:spPr>
        <p:txBody>
          <a:bodyPr wrap="square" rtlCol="0">
            <a:spAutoFit/>
          </a:bodyPr>
          <a:lstStyle/>
          <a:p>
            <a:r>
              <a:rPr lang="en-US" sz="1800" smtClean="0">
                <a:latin typeface="Times New Roman" panose="02020603050405020304" pitchFamily="18" charset="0"/>
                <a:cs typeface="Times New Roman" panose="02020603050405020304" pitchFamily="18" charset="0"/>
              </a:rPr>
              <a:t>Xây dựng hàm mất mát</a:t>
            </a:r>
            <a:endParaRPr lang="en-US" sz="18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TextBox 8"/>
              <p:cNvSpPr txBox="1"/>
              <p:nvPr/>
            </p:nvSpPr>
            <p:spPr>
              <a:xfrm>
                <a:off x="612775" y="1279984"/>
                <a:ext cx="7346606" cy="2585323"/>
              </a:xfrm>
              <a:prstGeom prst="rect">
                <a:avLst/>
              </a:prstGeom>
              <a:noFill/>
            </p:spPr>
            <p:txBody>
              <a:bodyPr wrap="square" rtlCol="0">
                <a:spAutoFit/>
              </a:bodyPr>
              <a:lstStyle/>
              <a:p>
                <a:r>
                  <a:rPr lang="en-US" sz="1800" dirty="0" smtClean="0">
                    <a:latin typeface="Times New Roman" panose="02020603050405020304" pitchFamily="18" charset="0"/>
                    <a:cs typeface="Times New Roman" panose="02020603050405020304" pitchFamily="18" charset="0"/>
                  </a:rPr>
                  <a:t>Với</a:t>
                </a:r>
                <a:r>
                  <a:rPr lang="en-US" sz="1800"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một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điểm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dữ</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liệu</a:t>
                </a:r>
                <a:r>
                  <a:rPr lang="en-US" sz="1800" dirty="0">
                    <a:latin typeface="Times New Roman" panose="02020603050405020304" pitchFamily="18" charset="0"/>
                    <a:cs typeface="Times New Roman" panose="02020603050405020304" pitchFamily="18" charset="0"/>
                  </a:rPr>
                  <a:t> xi </a:t>
                </a:r>
                <a:r>
                  <a:rPr lang="en-US" sz="1800" dirty="0" err="1">
                    <a:latin typeface="Times New Roman" panose="02020603050405020304" pitchFamily="18" charset="0"/>
                    <a:cs typeface="Times New Roman" panose="02020603050405020304" pitchFamily="18" charset="0"/>
                  </a:rPr>
                  <a:t>bị</a:t>
                </a:r>
                <a:r>
                  <a:rPr lang="en-US" sz="1800" dirty="0">
                    <a:latin typeface="Times New Roman" panose="02020603050405020304" pitchFamily="18" charset="0"/>
                    <a:cs typeface="Times New Roman" panose="02020603050405020304" pitchFamily="18" charset="0"/>
                  </a:rPr>
                  <a:t> misclassified, </a:t>
                </a:r>
                <a:r>
                  <a:rPr lang="en-US" sz="1800" dirty="0" err="1">
                    <a:latin typeface="Times New Roman" panose="02020603050405020304" pitchFamily="18" charset="0"/>
                    <a:cs typeface="Times New Roman" panose="02020603050405020304" pitchFamily="18" charset="0"/>
                  </a:rPr>
                  <a:t>hàm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mất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trở</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thành</a:t>
                </a:r>
                <a:r>
                  <a:rPr lang="en-US" sz="1800"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𝐽</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𝑤</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e>
                      </m:d>
                      <m:r>
                        <a:rPr lang="en-US" sz="1800" b="0" i="0"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𝑤</m:t>
                          </m:r>
                        </m:e>
                        <m:sup>
                          <m:r>
                            <a:rPr lang="en-US" sz="1800" b="0" i="1" smtClean="0">
                              <a:latin typeface="Cambria Math" panose="02040503050406030204" pitchFamily="18" charset="0"/>
                            </a:rPr>
                            <m:t>𝑇</m:t>
                          </m:r>
                        </m:sup>
                      </m:sSup>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oMath>
                  </m:oMathPara>
                </a14:m>
                <a:endParaRPr lang="en-US" sz="1800" dirty="0" smtClean="0">
                  <a:latin typeface="Times New Roman" panose="02020603050405020304" pitchFamily="18" charset="0"/>
                  <a:cs typeface="Times New Roman" panose="02020603050405020304" pitchFamily="18" charset="0"/>
                </a:endParaRPr>
              </a:p>
              <a:p>
                <a:r>
                  <a:rPr lang="en-US" sz="1800" dirty="0" err="1" smtClean="0">
                    <a:latin typeface="Times New Roman" panose="02020603050405020304" pitchFamily="18" charset="0"/>
                    <a:cs typeface="Times New Roman" panose="02020603050405020304" pitchFamily="18" charset="0"/>
                  </a:rPr>
                  <a:t>Đạo</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hàm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tương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ứng</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m:t>
                          </m:r>
                        </m:e>
                        <m:sub>
                          <m:r>
                            <a:rPr lang="en-US" sz="1800" b="0" i="1" smtClean="0">
                              <a:latin typeface="Cambria Math" panose="02040503050406030204" pitchFamily="18" charset="0"/>
                              <a:ea typeface="Cambria Math" panose="02040503050406030204" pitchFamily="18" charset="0"/>
                            </a:rPr>
                            <m:t>𝑤</m:t>
                          </m:r>
                        </m:sub>
                      </m:sSub>
                      <m:r>
                        <a:rPr lang="en-US" sz="1800" b="0" i="1" smtClean="0">
                          <a:latin typeface="Cambria Math" panose="02040503050406030204" pitchFamily="18" charset="0"/>
                          <a:ea typeface="Cambria Math" panose="02040503050406030204" pitchFamily="18" charset="0"/>
                        </a:rPr>
                        <m:t>𝐽</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𝑤</m:t>
                          </m:r>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𝑥</m:t>
                              </m:r>
                            </m:e>
                            <m:sub>
                              <m:r>
                                <a:rPr lang="en-US" sz="1800" b="0" i="1" smtClean="0">
                                  <a:latin typeface="Cambria Math" panose="02040503050406030204" pitchFamily="18" charset="0"/>
                                  <a:ea typeface="Cambria Math" panose="02040503050406030204" pitchFamily="18" charset="0"/>
                                </a:rPr>
                                <m:t>𝑖</m:t>
                              </m:r>
                            </m:sub>
                          </m:sSub>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𝑦</m:t>
                              </m:r>
                            </m:e>
                            <m:sub>
                              <m:r>
                                <a:rPr lang="en-US" sz="1800" b="0" i="1" smtClean="0">
                                  <a:latin typeface="Cambria Math" panose="02040503050406030204" pitchFamily="18" charset="0"/>
                                  <a:ea typeface="Cambria Math" panose="02040503050406030204" pitchFamily="18" charset="0"/>
                                </a:rPr>
                                <m:t>𝑖</m:t>
                              </m:r>
                            </m:sub>
                          </m:sSub>
                        </m:e>
                      </m:d>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𝑦</m:t>
                          </m:r>
                        </m:e>
                        <m:sub>
                          <m:r>
                            <a:rPr lang="en-US" sz="1800" b="0" i="1" smtClean="0">
                              <a:latin typeface="Cambria Math" panose="02040503050406030204" pitchFamily="18" charset="0"/>
                              <a:ea typeface="Cambria Math" panose="02040503050406030204" pitchFamily="18" charset="0"/>
                            </a:rPr>
                            <m:t>𝑖</m:t>
                          </m:r>
                        </m:sub>
                      </m:sSub>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𝑥</m:t>
                          </m:r>
                        </m:e>
                        <m:sub>
                          <m:r>
                            <a:rPr lang="en-US" sz="1800" b="0" i="1" smtClean="0">
                              <a:latin typeface="Cambria Math" panose="02040503050406030204" pitchFamily="18" charset="0"/>
                              <a:ea typeface="Cambria Math" panose="02040503050406030204" pitchFamily="18" charset="0"/>
                            </a:rPr>
                            <m:t>𝑖</m:t>
                          </m:r>
                        </m:sub>
                      </m:sSub>
                    </m:oMath>
                  </m:oMathPara>
                </a14:m>
                <a:endParaRPr lang="en-US" sz="1800" b="0" dirty="0" smtClean="0">
                  <a:latin typeface="Times New Roman" panose="02020603050405020304" pitchFamily="18" charset="0"/>
                  <a:ea typeface="Cambria Math" panose="02040503050406030204" pitchFamily="18" charset="0"/>
                  <a:cs typeface="Times New Roman" panose="02020603050405020304" pitchFamily="18" charset="0"/>
                </a:endParaRPr>
              </a:p>
              <a:p>
                <a:r>
                  <a:rPr lang="en-US" sz="1800" dirty="0" err="1" smtClean="0">
                    <a:latin typeface="Times New Roman" panose="02020603050405020304" pitchFamily="18" charset="0"/>
                    <a:cs typeface="Times New Roman" panose="02020603050405020304" pitchFamily="18" charset="0"/>
                  </a:rPr>
                  <a:t>Vậy</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quy</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tắc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cập</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nhật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là</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w = w + </a:t>
                </a:r>
                <a14:m>
                  <m:oMath xmlns:m="http://schemas.openxmlformats.org/officeDocument/2006/math">
                    <m:r>
                      <a:rPr lang="en-US" sz="1800" i="1" smtClean="0">
                        <a:latin typeface="Cambria Math" panose="02040503050406030204" pitchFamily="18" charset="0"/>
                        <a:ea typeface="Cambria Math" panose="02040503050406030204" pitchFamily="18" charset="0"/>
                      </a:rPr>
                      <m:t>𝜂</m:t>
                    </m:r>
                    <m:sSub>
                      <m:sSubPr>
                        <m:ctrlPr>
                          <a:rPr lang="en-US" sz="180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𝑦</m:t>
                        </m:r>
                      </m:e>
                      <m:sub>
                        <m:r>
                          <a:rPr lang="en-US" sz="1800" b="0" i="1" smtClean="0">
                            <a:latin typeface="Cambria Math" panose="02040503050406030204" pitchFamily="18" charset="0"/>
                            <a:ea typeface="Cambria Math" panose="02040503050406030204" pitchFamily="18" charset="0"/>
                          </a:rPr>
                          <m:t>𝑖</m:t>
                        </m:r>
                      </m:sub>
                    </m:sSub>
                    <m:sSub>
                      <m:sSubPr>
                        <m:ctrlPr>
                          <a:rPr lang="en-US" sz="180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𝑥</m:t>
                        </m:r>
                      </m:e>
                      <m:sub>
                        <m:r>
                          <a:rPr lang="en-US" sz="1800" b="0" i="1" smtClean="0">
                            <a:latin typeface="Cambria Math" panose="02040503050406030204" pitchFamily="18" charset="0"/>
                            <a:ea typeface="Cambria Math" panose="02040503050406030204" pitchFamily="18" charset="0"/>
                          </a:rPr>
                          <m:t>𝑖</m:t>
                        </m:r>
                      </m:sub>
                    </m:sSub>
                  </m:oMath>
                </a14:m>
                <a:endParaRPr lang="en-US" sz="1800" dirty="0" smtClean="0">
                  <a:latin typeface="Times New Roman" panose="02020603050405020304" pitchFamily="18" charset="0"/>
                  <a:cs typeface="Times New Roman" panose="02020603050405020304" pitchFamily="18" charset="0"/>
                </a:endParaRPr>
              </a:p>
              <a:p>
                <a:r>
                  <a:rPr lang="en-US" sz="1800" dirty="0" err="1">
                    <a:latin typeface="Times New Roman" panose="02020603050405020304" pitchFamily="18" charset="0"/>
                    <a:cs typeface="Times New Roman" panose="02020603050405020304" pitchFamily="18" charset="0"/>
                  </a:rPr>
                  <a:t>v</a:t>
                </a:r>
                <a:r>
                  <a:rPr lang="en-US" sz="1800" dirty="0" err="1" smtClean="0">
                    <a:latin typeface="Times New Roman" panose="02020603050405020304" pitchFamily="18" charset="0"/>
                    <a:cs typeface="Times New Roman" panose="02020603050405020304" pitchFamily="18" charset="0"/>
                  </a:rPr>
                  <a:t>ới</a:t>
                </a: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r>
                      <a:rPr lang="en-US" sz="1800" i="1">
                        <a:latin typeface="Cambria Math" panose="02040503050406030204" pitchFamily="18" charset="0"/>
                        <a:ea typeface="Cambria Math" panose="02040503050406030204" pitchFamily="18" charset="0"/>
                      </a:rPr>
                      <m:t>𝜂</m:t>
                    </m:r>
                    <m:r>
                      <a:rPr lang="en-US" sz="1800" b="0" i="1" smtClean="0">
                        <a:latin typeface="Cambria Math" panose="02040503050406030204" pitchFamily="18" charset="0"/>
                        <a:ea typeface="Cambria Math" panose="02040503050406030204" pitchFamily="18" charset="0"/>
                      </a:rPr>
                      <m:t> </m:t>
                    </m:r>
                  </m:oMath>
                </a14:m>
                <a:r>
                  <a:rPr lang="en-US" sz="1800" dirty="0" err="1" smtClean="0">
                    <a:latin typeface="Times New Roman" panose="02020603050405020304" pitchFamily="18" charset="0"/>
                    <a:cs typeface="Times New Roman" panose="02020603050405020304" pitchFamily="18" charset="0"/>
                  </a:rPr>
                  <a:t>là</a:t>
                </a:r>
                <a:r>
                  <a:rPr lang="en-US" sz="1800" dirty="0" smtClean="0">
                    <a:latin typeface="Times New Roman" panose="02020603050405020304" pitchFamily="18" charset="0"/>
                    <a:cs typeface="Times New Roman" panose="02020603050405020304" pitchFamily="18" charset="0"/>
                  </a:rPr>
                  <a:t> learning rate </a:t>
                </a:r>
                <a:r>
                  <a:rPr lang="en-US" sz="1800" dirty="0" err="1" smtClean="0">
                    <a:latin typeface="Times New Roman" panose="02020603050405020304" pitchFamily="18" charset="0"/>
                    <a:cs typeface="Times New Roman" panose="02020603050405020304" pitchFamily="18" charset="0"/>
                  </a:rPr>
                  <a:t>được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chọn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bằng</a:t>
                </a:r>
                <a:r>
                  <a:rPr lang="en-US" sz="1800" dirty="0" smtClean="0">
                    <a:latin typeface="Times New Roman" panose="02020603050405020304" pitchFamily="18" charset="0"/>
                    <a:cs typeface="Times New Roman" panose="02020603050405020304" pitchFamily="18" charset="0"/>
                  </a:rPr>
                  <a:t> 1. Ta </a:t>
                </a:r>
                <a:r>
                  <a:rPr lang="en-US" sz="1800" dirty="0" err="1" smtClean="0">
                    <a:latin typeface="Times New Roman" panose="02020603050405020304" pitchFamily="18" charset="0"/>
                    <a:cs typeface="Times New Roman" panose="02020603050405020304" pitchFamily="18" charset="0"/>
                  </a:rPr>
                  <a:t>có</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quy</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tắc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cập</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nhật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rất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gọn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là</a:t>
                </a:r>
                <a:r>
                  <a:rPr lang="en-US" sz="1800" dirty="0" smtClean="0">
                    <a:latin typeface="Times New Roman" panose="02020603050405020304" pitchFamily="18" charset="0"/>
                    <a:cs typeface="Times New Roman" panose="02020603050405020304" pitchFamily="18" charset="0"/>
                  </a:rPr>
                  <a:t> w</a:t>
                </a:r>
                <a:r>
                  <a:rPr lang="en-US" sz="1800" baseline="-25000" dirty="0" smtClean="0">
                    <a:latin typeface="Times New Roman" panose="02020603050405020304" pitchFamily="18" charset="0"/>
                    <a:cs typeface="Times New Roman" panose="02020603050405020304" pitchFamily="18" charset="0"/>
                  </a:rPr>
                  <a:t>t+1</a:t>
                </a:r>
                <a:r>
                  <a:rPr lang="en-US" sz="1800" dirty="0" smtClean="0">
                    <a:latin typeface="Times New Roman" panose="02020603050405020304" pitchFamily="18" charset="0"/>
                    <a:cs typeface="Times New Roman" panose="02020603050405020304" pitchFamily="18" charset="0"/>
                  </a:rPr>
                  <a:t> = </a:t>
                </a:r>
                <a:r>
                  <a:rPr lang="en-US" sz="1800" dirty="0" err="1" smtClean="0">
                    <a:latin typeface="Times New Roman" panose="02020603050405020304" pitchFamily="18" charset="0"/>
                    <a:cs typeface="Times New Roman" panose="02020603050405020304" pitchFamily="18" charset="0"/>
                  </a:rPr>
                  <a:t>w</a:t>
                </a:r>
                <a:r>
                  <a:rPr lang="en-US" sz="1800" baseline="-25000" dirty="0" err="1" smtClean="0">
                    <a:latin typeface="Times New Roman" panose="02020603050405020304" pitchFamily="18" charset="0"/>
                    <a:cs typeface="Times New Roman" panose="02020603050405020304" pitchFamily="18" charset="0"/>
                  </a:rPr>
                  <a:t>t</a:t>
                </a:r>
                <a:r>
                  <a:rPr lang="en-US" sz="1800" baseline="-250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 </a:t>
                </a:r>
                <a:r>
                  <a:rPr lang="en-US" sz="1800" dirty="0" err="1" smtClean="0">
                    <a:latin typeface="Times New Roman" panose="02020603050405020304" pitchFamily="18" charset="0"/>
                    <a:cs typeface="Times New Roman" panose="02020603050405020304" pitchFamily="18" charset="0"/>
                  </a:rPr>
                  <a:t>y</a:t>
                </a:r>
                <a:r>
                  <a:rPr lang="en-US" sz="1800" baseline="-25000" dirty="0" err="1" smtClean="0">
                    <a:latin typeface="Times New Roman" panose="02020603050405020304" pitchFamily="18" charset="0"/>
                    <a:cs typeface="Times New Roman" panose="02020603050405020304" pitchFamily="18" charset="0"/>
                  </a:rPr>
                  <a:t>i</a:t>
                </a:r>
                <a:r>
                  <a:rPr lang="en-US" sz="1800" dirty="0" err="1" smtClean="0">
                    <a:latin typeface="Times New Roman" panose="02020603050405020304" pitchFamily="18" charset="0"/>
                    <a:cs typeface="Times New Roman" panose="02020603050405020304" pitchFamily="18" charset="0"/>
                  </a:rPr>
                  <a:t>x</a:t>
                </a:r>
                <a:r>
                  <a:rPr lang="en-US" sz="1800" baseline="-25000" dirty="0" err="1"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Nói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cách</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khác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với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mỗi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điểm</a:t>
                </a:r>
                <a:r>
                  <a:rPr lang="en-US" sz="1800" dirty="0" smtClean="0">
                    <a:latin typeface="Times New Roman" panose="02020603050405020304" pitchFamily="18" charset="0"/>
                    <a:cs typeface="Times New Roman" panose="02020603050405020304" pitchFamily="18" charset="0"/>
                  </a:rPr>
                  <a:t> x</a:t>
                </a:r>
                <a:r>
                  <a:rPr lang="en-US" sz="1800" baseline="-25000" dirty="0"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bị</a:t>
                </a:r>
                <a:r>
                  <a:rPr lang="en-US" sz="1800" dirty="0" smtClean="0">
                    <a:latin typeface="Times New Roman" panose="02020603050405020304" pitchFamily="18" charset="0"/>
                    <a:cs typeface="Times New Roman" panose="02020603050405020304" pitchFamily="18" charset="0"/>
                  </a:rPr>
                  <a:t> misclassified, ta </a:t>
                </a:r>
                <a:r>
                  <a:rPr lang="en-US" sz="1800" dirty="0" err="1" smtClean="0">
                    <a:latin typeface="Times New Roman" panose="02020603050405020304" pitchFamily="18" charset="0"/>
                    <a:cs typeface="Times New Roman" panose="02020603050405020304" pitchFamily="18" charset="0"/>
                  </a:rPr>
                  <a:t>chỉ</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cần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nhân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điểm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đó</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với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nhãn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y</a:t>
                </a:r>
                <a:r>
                  <a:rPr lang="en-US" sz="1800" baseline="-25000" dirty="0" err="1"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của</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nó</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lấy</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kết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quả</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cộng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vào</a:t>
                </a:r>
                <a:r>
                  <a:rPr lang="en-US" sz="1800" dirty="0" smtClean="0">
                    <a:latin typeface="Times New Roman" panose="02020603050405020304" pitchFamily="18" charset="0"/>
                    <a:cs typeface="Times New Roman" panose="02020603050405020304" pitchFamily="18" charset="0"/>
                  </a:rPr>
                  <a:t> w ta </a:t>
                </a:r>
                <a:r>
                  <a:rPr lang="en-US" sz="1800" dirty="0" err="1" smtClean="0">
                    <a:latin typeface="Times New Roman" panose="02020603050405020304" pitchFamily="18" charset="0"/>
                    <a:cs typeface="Times New Roman" panose="02020603050405020304" pitchFamily="18" charset="0"/>
                  </a:rPr>
                  <a:t>được</a:t>
                </a:r>
                <a:r>
                  <a:rPr lang="en-US" sz="1800" dirty="0" smtClean="0">
                    <a:latin typeface="Times New Roman" panose="02020603050405020304" pitchFamily="18" charset="0"/>
                    <a:cs typeface="Times New Roman" panose="02020603050405020304" pitchFamily="18" charset="0"/>
                  </a:rPr>
                  <a:t> w </a:t>
                </a:r>
                <a:r>
                  <a:rPr lang="en-US" sz="1800" dirty="0" err="1" smtClean="0">
                    <a:latin typeface="Times New Roman" panose="02020603050405020304" pitchFamily="18" charset="0"/>
                    <a:cs typeface="Times New Roman" panose="02020603050405020304" pitchFamily="18" charset="0"/>
                  </a:rPr>
                  <a:t>mới</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612775" y="1279984"/>
                <a:ext cx="7346606" cy="2585323"/>
              </a:xfrm>
              <a:prstGeom prst="rect">
                <a:avLst/>
              </a:prstGeom>
              <a:blipFill rotWithShape="1">
                <a:blip r:embed="rId1"/>
                <a:stretch>
                  <a:fillRect t="-18" r="4" b="2"/>
                </a:stretch>
              </a:blipFill>
            </p:spPr>
            <p:txBody>
              <a:bodyPr/>
              <a:lstStyle/>
              <a:p>
                <a:r>
                  <a:rPr lang="en-US" altLang="en-US">
                    <a:noFill/>
                  </a:rPr>
                  <a:t> </a:t>
                </a:r>
              </a:p>
            </p:txBody>
          </p:sp>
        </mc:Fallback>
      </mc:AlternateContent>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8" name="Google Shape;495;p61"/>
          <p:cNvSpPr txBox="1">
            <a:spLocks noGrp="1"/>
          </p:cNvSpPr>
          <p:nvPr>
            <p:ph type="subTitle" idx="4294967295"/>
          </p:nvPr>
        </p:nvSpPr>
        <p:spPr>
          <a:xfrm>
            <a:off x="603885" y="441960"/>
            <a:ext cx="6189345" cy="4013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b="1" dirty="0" smtClean="0">
                <a:latin typeface="Times New Roman" panose="02020603050405020304" pitchFamily="18" charset="0"/>
                <a:cs typeface="Times New Roman" panose="02020603050405020304" pitchFamily="18" charset="0"/>
              </a:rPr>
              <a:t>Thuật toán Perceptron Learning Algorithm (PLA)</a:t>
            </a:r>
            <a:endParaRPr sz="2000" b="1" dirty="0">
              <a:latin typeface="Times New Roman" panose="02020603050405020304" pitchFamily="18" charset="0"/>
              <a:cs typeface="Times New Roman" panose="02020603050405020304" pitchFamily="18" charset="0"/>
            </a:endParaRPr>
          </a:p>
        </p:txBody>
      </p:sp>
      <p:sp>
        <p:nvSpPr>
          <p:cNvPr id="10" name="Google Shape;503;p61"/>
          <p:cNvSpPr txBox="1">
            <a:spLocks noGrp="1"/>
          </p:cNvSpPr>
          <p:nvPr>
            <p:ph type="title" idx="4294967295"/>
          </p:nvPr>
        </p:nvSpPr>
        <p:spPr>
          <a:xfrm>
            <a:off x="-1" y="308718"/>
            <a:ext cx="718457"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02</a:t>
            </a:r>
            <a:endParaRPr lang="en-GB" sz="3600" b="1" dirty="0" smtClean="0">
              <a:latin typeface="Times New Roman" panose="02020603050405020304" pitchFamily="18" charset="0"/>
              <a:cs typeface="Times New Roman" panose="02020603050405020304" pitchFamily="18" charset="0"/>
            </a:endParaRPr>
          </a:p>
        </p:txBody>
      </p:sp>
      <p:sp>
        <p:nvSpPr>
          <p:cNvPr id="17" name="AutoShape 12" descr="Đã tải lên ảnh"/>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mc:AlternateContent xmlns:mc="http://schemas.openxmlformats.org/markup-compatibility/2006">
        <mc:Choice xmlns:a14="http://schemas.microsoft.com/office/drawing/2010/main" Requires="a14">
          <p:sp>
            <p:nvSpPr>
              <p:cNvPr id="4" name="TextBox 3"/>
              <p:cNvSpPr txBox="1"/>
              <p:nvPr/>
            </p:nvSpPr>
            <p:spPr>
              <a:xfrm>
                <a:off x="1219200" y="1038236"/>
                <a:ext cx="6918959" cy="1400127"/>
              </a:xfrm>
              <a:prstGeom prst="rect">
                <a:avLst/>
              </a:prstGeom>
              <a:noFill/>
            </p:spPr>
            <p:txBody>
              <a:bodyPr wrap="square" lIns="0" tIns="0" rIns="0" bIns="0" rtlCol="0">
                <a:spAutoFit/>
              </a:bodyPr>
              <a:lstStyle/>
              <a:p>
                <a:pPr algn="ctr"/>
                <a14:m>
                  <m:oMath xmlns:m="http://schemas.openxmlformats.org/officeDocument/2006/math">
                    <m:sSubSup>
                      <m:sSubSupPr>
                        <m:ctrlPr>
                          <a:rPr lang="en-US" sz="180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b="0" i="1" smtClean="0">
                            <a:latin typeface="Cambria Math" panose="02040503050406030204" pitchFamily="18" charset="0"/>
                          </a:rPr>
                          <m:t>1</m:t>
                        </m:r>
                      </m:sub>
                      <m:sup>
                        <m:r>
                          <a:rPr lang="en-US" sz="1800" b="0" i="1" smtClean="0">
                            <a:latin typeface="Cambria Math" panose="02040503050406030204" pitchFamily="18" charset="0"/>
                          </a:rPr>
                          <m:t>𝑇</m:t>
                        </m:r>
                      </m:sup>
                    </m:sSubSup>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oMath>
                </a14:m>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1800" i="1" dirty="0" smtClean="0">
                            <a:latin typeface="Cambria Math" panose="02040503050406030204" pitchFamily="18" charset="0"/>
                          </a:rPr>
                        </m:ctrlPr>
                      </m:sSupPr>
                      <m:e>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𝑤</m:t>
                            </m:r>
                          </m:e>
                          <m:sub>
                            <m:r>
                              <a:rPr lang="en-US" sz="1800" i="1">
                                <a:latin typeface="Cambria Math" panose="02040503050406030204" pitchFamily="18" charset="0"/>
                              </a:rPr>
                              <m:t>𝑡</m:t>
                            </m:r>
                          </m:sub>
                        </m:sSub>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𝑦</m:t>
                            </m:r>
                          </m:e>
                          <m:sub>
                            <m:r>
                              <a:rPr lang="en-US" sz="1800" i="1">
                                <a:latin typeface="Cambria Math" panose="02040503050406030204" pitchFamily="18" charset="0"/>
                              </a:rPr>
                              <m:t>𝑖</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𝑖</m:t>
                            </m:r>
                          </m:sub>
                        </m:sSub>
                        <m:r>
                          <a:rPr lang="en-US" sz="1800" i="1">
                            <a:latin typeface="Cambria Math" panose="02040503050406030204" pitchFamily="18" charset="0"/>
                          </a:rPr>
                          <m:t>)</m:t>
                        </m:r>
                      </m:e>
                      <m:sup>
                        <m:r>
                          <a:rPr lang="en-US" sz="1800" b="0" i="1" dirty="0" smtClean="0">
                            <a:latin typeface="Cambria Math" panose="02040503050406030204" pitchFamily="18" charset="0"/>
                          </a:rPr>
                          <m:t>𝑇</m:t>
                        </m:r>
                      </m:sup>
                    </m:sSup>
                    <m:sSub>
                      <m:sSubPr>
                        <m:ctrlPr>
                          <a:rPr lang="en-US" sz="1800" i="1" dirty="0" smtClean="0">
                            <a:latin typeface="Cambria Math" panose="02040503050406030204" pitchFamily="18" charset="0"/>
                          </a:rPr>
                        </m:ctrlPr>
                      </m:sSubPr>
                      <m:e>
                        <m:r>
                          <a:rPr lang="en-US" sz="1800" b="0" i="1" dirty="0" smtClean="0">
                            <a:latin typeface="Cambria Math" panose="02040503050406030204" pitchFamily="18" charset="0"/>
                          </a:rPr>
                          <m:t>𝑥</m:t>
                        </m:r>
                      </m:e>
                      <m:sub>
                        <m:r>
                          <a:rPr lang="en-US" sz="1800" b="0" i="1" dirty="0" smtClean="0">
                            <a:latin typeface="Cambria Math" panose="02040503050406030204" pitchFamily="18" charset="0"/>
                          </a:rPr>
                          <m:t>𝑖</m:t>
                        </m:r>
                      </m:sub>
                    </m:sSub>
                  </m:oMath>
                </a14:m>
                <a:endParaRPr lang="en-US" sz="1800" dirty="0" smtClean="0">
                  <a:latin typeface="Times New Roman" panose="02020603050405020304" pitchFamily="18" charset="0"/>
                  <a:cs typeface="Times New Roman" panose="02020603050405020304" pitchFamily="18" charset="0"/>
                </a:endParaRPr>
              </a:p>
              <a:p>
                <a:pPr algn="ct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sz="180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𝑡</m:t>
                        </m:r>
                      </m:sub>
                      <m:sup>
                        <m:r>
                          <a:rPr lang="en-US" sz="1800" b="0" i="1" smtClean="0">
                            <a:latin typeface="Cambria Math" panose="02040503050406030204" pitchFamily="18" charset="0"/>
                          </a:rPr>
                          <m:t>𝑇</m:t>
                        </m:r>
                      </m:sup>
                    </m:sSubSup>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r>
                      <a:rPr lang="en-US" sz="1800" b="0" i="0"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sSubSup>
                      <m:sSubSupPr>
                        <m:ctrlPr>
                          <a:rPr lang="en-US" sz="1800" b="0" i="1" smtClean="0">
                            <a:latin typeface="Cambria Math" panose="02040503050406030204" pitchFamily="18" charset="0"/>
                          </a:rPr>
                        </m:ctrlPr>
                      </m:sSubSupPr>
                      <m:e>
                        <m:d>
                          <m:dPr>
                            <m:begChr m:val="‖"/>
                            <m:endChr m:val="‖"/>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𝑖</m:t>
                                </m:r>
                              </m:sub>
                            </m:sSub>
                          </m:e>
                        </m:d>
                      </m:e>
                      <m:sub>
                        <m:r>
                          <a:rPr lang="en-US" sz="1800" b="0" i="1" smtClean="0">
                            <a:latin typeface="Cambria Math" panose="02040503050406030204" pitchFamily="18" charset="0"/>
                          </a:rPr>
                          <m:t>2</m:t>
                        </m:r>
                      </m:sub>
                      <m:sup>
                        <m:r>
                          <a:rPr lang="en-US" sz="1800" b="0" i="1" smtClean="0">
                            <a:latin typeface="Cambria Math" panose="02040503050406030204" pitchFamily="18" charset="0"/>
                          </a:rPr>
                          <m:t>2</m:t>
                        </m:r>
                      </m:sup>
                    </m:sSubSup>
                  </m:oMath>
                </a14:m>
                <a:endParaRPr lang="en-US" sz="1800" dirty="0" smtClean="0">
                  <a:latin typeface="Times New Roman" panose="02020603050405020304" pitchFamily="18" charset="0"/>
                  <a:cs typeface="Times New Roman" panose="02020603050405020304" pitchFamily="18" charset="0"/>
                </a:endParaRPr>
              </a:p>
              <a:p>
                <a:pPr algn="just"/>
                <a:r>
                  <a:rPr lang="en-US" sz="1800" dirty="0" err="1" smtClean="0">
                    <a:latin typeface="Times New Roman" panose="02020603050405020304" pitchFamily="18" charset="0"/>
                    <a:cs typeface="Times New Roman" panose="02020603050405020304" pitchFamily="18" charset="0"/>
                  </a:rPr>
                  <a:t>Nếu</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y</a:t>
                </a:r>
                <a:r>
                  <a:rPr lang="en-US" sz="1800" baseline="-25000" dirty="0" err="1"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 = 1, </a:t>
                </a:r>
                <a:r>
                  <a:rPr lang="en-US" sz="1800" dirty="0" err="1" smtClean="0">
                    <a:latin typeface="Times New Roman" panose="02020603050405020304" pitchFamily="18" charset="0"/>
                    <a:cs typeface="Times New Roman" panose="02020603050405020304" pitchFamily="18" charset="0"/>
                  </a:rPr>
                  <a:t>vì</a:t>
                </a:r>
                <a:r>
                  <a:rPr lang="en-US" sz="1800" dirty="0" smtClean="0">
                    <a:latin typeface="Times New Roman" panose="02020603050405020304" pitchFamily="18" charset="0"/>
                    <a:cs typeface="Times New Roman" panose="02020603050405020304" pitchFamily="18" charset="0"/>
                  </a:rPr>
                  <a:t> x</a:t>
                </a:r>
                <a:r>
                  <a:rPr lang="en-US" sz="1800" baseline="-25000" dirty="0"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bị</a:t>
                </a:r>
                <a:r>
                  <a:rPr lang="en-US" sz="1800" dirty="0" smtClean="0">
                    <a:latin typeface="Times New Roman" panose="02020603050405020304" pitchFamily="18" charset="0"/>
                    <a:cs typeface="Times New Roman" panose="02020603050405020304" pitchFamily="18" charset="0"/>
                  </a:rPr>
                  <a:t> misclassified </a:t>
                </a:r>
                <a:r>
                  <a:rPr lang="en-US" sz="1800" dirty="0" err="1" smtClean="0">
                    <a:latin typeface="Times New Roman" panose="02020603050405020304" pitchFamily="18" charset="0"/>
                    <a:cs typeface="Times New Roman" panose="02020603050405020304" pitchFamily="18" charset="0"/>
                  </a:rPr>
                  <a:t>nên</a:t>
                </a: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sz="1800" i="1" smtClean="0">
                            <a:latin typeface="Cambria Math" panose="02040503050406030204" pitchFamily="18" charset="0"/>
                          </a:rPr>
                        </m:ctrlPr>
                      </m:sSubSupPr>
                      <m:e>
                        <m:r>
                          <a:rPr lang="en-US" sz="1800" b="0" i="1" smtClean="0">
                            <a:latin typeface="Cambria Math" panose="02040503050406030204" pitchFamily="18" charset="0"/>
                          </a:rPr>
                          <m:t>𝑤</m:t>
                        </m:r>
                      </m:e>
                      <m:sub>
                        <m:r>
                          <a:rPr lang="en-US" sz="1800" b="0" i="1" smtClean="0">
                            <a:latin typeface="Cambria Math" panose="02040503050406030204" pitchFamily="18" charset="0"/>
                          </a:rPr>
                          <m:t>𝑡</m:t>
                        </m:r>
                      </m:sub>
                      <m:sup>
                        <m:r>
                          <a:rPr lang="en-US" sz="1800" b="0" i="1" smtClean="0">
                            <a:latin typeface="Cambria Math" panose="02040503050406030204" pitchFamily="18" charset="0"/>
                          </a:rPr>
                          <m:t>𝑇</m:t>
                        </m:r>
                      </m:sup>
                    </m:sSubSup>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oMath>
                </a14:m>
                <a:r>
                  <a:rPr lang="en-US" sz="1800" dirty="0" smtClean="0">
                    <a:latin typeface="Times New Roman" panose="02020603050405020304" pitchFamily="18" charset="0"/>
                    <a:cs typeface="Times New Roman" panose="02020603050405020304" pitchFamily="18" charset="0"/>
                  </a:rPr>
                  <a:t> &lt; 0. </a:t>
                </a:r>
                <a:r>
                  <a:rPr lang="en-US" sz="1800" dirty="0" err="1" smtClean="0">
                    <a:latin typeface="Times New Roman" panose="02020603050405020304" pitchFamily="18" charset="0"/>
                    <a:cs typeface="Times New Roman" panose="02020603050405020304" pitchFamily="18" charset="0"/>
                  </a:rPr>
                  <a:t>Cũng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vì</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y</a:t>
                </a:r>
                <a:r>
                  <a:rPr lang="en-US" sz="1800" baseline="-25000" dirty="0" err="1" smtClean="0">
                    <a:latin typeface="Times New Roman" panose="02020603050405020304" pitchFamily="18" charset="0"/>
                    <a:cs typeface="Times New Roman" panose="02020603050405020304" pitchFamily="18" charset="0"/>
                  </a:rPr>
                  <a:t>i</a:t>
                </a:r>
                <a:r>
                  <a:rPr lang="en-US" sz="1800" baseline="-250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1 </a:t>
                </a:r>
                <a:r>
                  <a:rPr lang="en-US" sz="1800" dirty="0" err="1" smtClean="0">
                    <a:latin typeface="Times New Roman" panose="02020603050405020304" pitchFamily="18" charset="0"/>
                    <a:cs typeface="Times New Roman" panose="02020603050405020304" pitchFamily="18" charset="0"/>
                  </a:rPr>
                  <a:t>nên</a:t>
                </a: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sSubSup>
                      <m:sSubSupPr>
                        <m:ctrlPr>
                          <a:rPr lang="en-US" sz="1800" i="1" smtClean="0">
                            <a:latin typeface="Cambria Math" panose="02040503050406030204" pitchFamily="18" charset="0"/>
                          </a:rPr>
                        </m:ctrlPr>
                      </m:sSubSupPr>
                      <m:e>
                        <m:d>
                          <m:dPr>
                            <m:begChr m:val="‖"/>
                            <m:endChr m:val="‖"/>
                            <m:ctrlPr>
                              <a:rPr lang="en-U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e>
                        </m:d>
                      </m:e>
                      <m:sub>
                        <m:r>
                          <a:rPr lang="en-US" sz="1800" b="0" i="1" smtClean="0">
                            <a:latin typeface="Cambria Math" panose="02040503050406030204" pitchFamily="18" charset="0"/>
                          </a:rPr>
                          <m:t>2</m:t>
                        </m:r>
                      </m:sub>
                      <m:sup>
                        <m:r>
                          <a:rPr lang="en-US" sz="1800" b="0" i="1" smtClean="0">
                            <a:latin typeface="Cambria Math" panose="02040503050406030204" pitchFamily="18" charset="0"/>
                          </a:rPr>
                          <m:t>2</m:t>
                        </m:r>
                      </m:sup>
                    </m:sSubSup>
                    <m:r>
                      <a:rPr lang="en-US" sz="1800" b="0" i="1" smtClean="0">
                        <a:latin typeface="Cambria Math" panose="02040503050406030204" pitchFamily="18" charset="0"/>
                      </a:rPr>
                      <m:t>=</m:t>
                    </m:r>
                    <m:sSubSup>
                      <m:sSubSupPr>
                        <m:ctrlPr>
                          <a:rPr lang="en-US" sz="1800" i="1">
                            <a:latin typeface="Cambria Math" panose="02040503050406030204" pitchFamily="18" charset="0"/>
                          </a:rPr>
                        </m:ctrlPr>
                      </m:sSubSupPr>
                      <m:e>
                        <m:d>
                          <m:dPr>
                            <m:begChr m:val="‖"/>
                            <m:endChr m:val="‖"/>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𝑖</m:t>
                                </m:r>
                              </m:sub>
                            </m:sSub>
                          </m:e>
                        </m:d>
                      </m:e>
                      <m:sub>
                        <m:r>
                          <a:rPr lang="en-US" sz="1800" i="1">
                            <a:latin typeface="Cambria Math" panose="02040503050406030204" pitchFamily="18" charset="0"/>
                          </a:rPr>
                          <m:t>2</m:t>
                        </m:r>
                      </m:sub>
                      <m:sup>
                        <m:r>
                          <a:rPr lang="en-US" sz="1800" i="1">
                            <a:latin typeface="Cambria Math" panose="02040503050406030204" pitchFamily="18" charset="0"/>
                          </a:rPr>
                          <m:t>2</m:t>
                        </m:r>
                      </m:sup>
                    </m:sSubSup>
                    <m:r>
                      <a:rPr lang="en-US" sz="1800" b="0" i="0" smtClean="0">
                        <a:latin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1</m:t>
                    </m:r>
                  </m:oMath>
                </a14:m>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chú</a:t>
                </a:r>
                <a:r>
                  <a:rPr lang="en-US" sz="1800" dirty="0" smtClean="0">
                    <a:latin typeface="Times New Roman" panose="02020603050405020304" pitchFamily="18" charset="0"/>
                    <a:cs typeface="Times New Roman" panose="02020603050405020304" pitchFamily="18" charset="0"/>
                  </a:rPr>
                  <a:t> ý x</a:t>
                </a:r>
                <a:r>
                  <a:rPr lang="en-US" sz="1800" baseline="-25000" dirty="0" smtClean="0">
                    <a:latin typeface="Times New Roman" panose="02020603050405020304" pitchFamily="18" charset="0"/>
                    <a:cs typeface="Times New Roman" panose="02020603050405020304" pitchFamily="18" charset="0"/>
                  </a:rPr>
                  <a:t>0</a:t>
                </a:r>
                <a:r>
                  <a:rPr lang="en-US" sz="1800" dirty="0" smtClean="0">
                    <a:latin typeface="Times New Roman" panose="02020603050405020304" pitchFamily="18" charset="0"/>
                    <a:cs typeface="Times New Roman" panose="02020603050405020304" pitchFamily="18" charset="0"/>
                  </a:rPr>
                  <a:t> = 1), </a:t>
                </a:r>
                <a:r>
                  <a:rPr lang="en-US" sz="1800" dirty="0" err="1" smtClean="0">
                    <a:latin typeface="Times New Roman" panose="02020603050405020304" pitchFamily="18" charset="0"/>
                    <a:cs typeface="Times New Roman" panose="02020603050405020304" pitchFamily="18" charset="0"/>
                  </a:rPr>
                  <a:t>nghĩa</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là</a:t>
                </a: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sz="1800" i="1">
                            <a:latin typeface="Cambria Math" panose="02040503050406030204" pitchFamily="18" charset="0"/>
                          </a:rPr>
                        </m:ctrlPr>
                      </m:sSubSupPr>
                      <m:e>
                        <m:r>
                          <a:rPr lang="en-US" sz="1800" i="1">
                            <a:latin typeface="Cambria Math" panose="02040503050406030204" pitchFamily="18" charset="0"/>
                          </a:rPr>
                          <m:t>𝑤</m:t>
                        </m:r>
                      </m:e>
                      <m:sub>
                        <m:r>
                          <a:rPr lang="en-US" sz="1800" i="1">
                            <a:latin typeface="Cambria Math" panose="02040503050406030204" pitchFamily="18" charset="0"/>
                          </a:rPr>
                          <m:t>𝑡</m:t>
                        </m:r>
                        <m:r>
                          <a:rPr lang="en-US" sz="1800" b="0" i="1" smtClean="0">
                            <a:latin typeface="Cambria Math" panose="02040503050406030204" pitchFamily="18" charset="0"/>
                          </a:rPr>
                          <m:t>+</m:t>
                        </m:r>
                        <m:r>
                          <a:rPr lang="en-US" sz="1800" b="0" i="1" smtClean="0">
                            <a:latin typeface="Cambria Math" panose="02040503050406030204" pitchFamily="18" charset="0"/>
                          </a:rPr>
                          <m:t>1</m:t>
                        </m:r>
                      </m:sub>
                      <m:sup>
                        <m:r>
                          <a:rPr lang="en-US" sz="1800" i="1">
                            <a:latin typeface="Cambria Math" panose="02040503050406030204" pitchFamily="18" charset="0"/>
                          </a:rPr>
                          <m:t>𝑇</m:t>
                        </m:r>
                      </m:sup>
                    </m:sSubSup>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𝑖</m:t>
                        </m:r>
                      </m:sub>
                    </m:sSub>
                    <m:r>
                      <a:rPr lang="en-US" sz="1800" b="0" i="0">
                        <a:latin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&gt;</m:t>
                    </m:r>
                    <m:sSubSup>
                      <m:sSubSupPr>
                        <m:ctrlPr>
                          <a:rPr lang="en-US" sz="1800" i="1">
                            <a:latin typeface="Cambria Math" panose="02040503050406030204" pitchFamily="18" charset="0"/>
                          </a:rPr>
                        </m:ctrlPr>
                      </m:sSubSupPr>
                      <m:e>
                        <m:r>
                          <a:rPr lang="en-US" sz="1800" i="1">
                            <a:latin typeface="Cambria Math" panose="02040503050406030204" pitchFamily="18" charset="0"/>
                          </a:rPr>
                          <m:t>𝑤</m:t>
                        </m:r>
                      </m:e>
                      <m:sub>
                        <m:r>
                          <a:rPr lang="en-US" sz="1800" i="1">
                            <a:latin typeface="Cambria Math" panose="02040503050406030204" pitchFamily="18" charset="0"/>
                          </a:rPr>
                          <m:t>𝑡</m:t>
                        </m:r>
                      </m:sub>
                      <m:sup>
                        <m:r>
                          <a:rPr lang="en-US" sz="1800" i="1">
                            <a:latin typeface="Cambria Math" panose="02040503050406030204" pitchFamily="18" charset="0"/>
                          </a:rPr>
                          <m:t>𝑇</m:t>
                        </m:r>
                      </m:sup>
                    </m:sSubSup>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𝑖</m:t>
                        </m:r>
                      </m:sub>
                    </m:sSub>
                  </m:oMath>
                </a14:m>
                <a:r>
                  <a:rPr lang="en-US" sz="1800" dirty="0" smtClean="0">
                    <a:latin typeface="Times New Roman" panose="02020603050405020304" pitchFamily="18" charset="0"/>
                    <a:cs typeface="Times New Roman" panose="02020603050405020304" pitchFamily="18" charset="0"/>
                  </a:rPr>
                  <a:t>. Hay w</a:t>
                </a:r>
                <a:r>
                  <a:rPr lang="en-US" sz="1800" baseline="-25000" dirty="0" smtClean="0">
                    <a:latin typeface="Times New Roman" panose="02020603050405020304" pitchFamily="18" charset="0"/>
                    <a:cs typeface="Times New Roman" panose="02020603050405020304" pitchFamily="18" charset="0"/>
                  </a:rPr>
                  <a:t>t+1 </a:t>
                </a:r>
                <a:r>
                  <a:rPr lang="en-US" sz="1800" dirty="0" err="1" smtClean="0">
                    <a:latin typeface="Times New Roman" panose="02020603050405020304" pitchFamily="18" charset="0"/>
                    <a:cs typeface="Times New Roman" panose="02020603050405020304" pitchFamily="18" charset="0"/>
                  </a:rPr>
                  <a:t>tiến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về</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phía</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làm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cho</a:t>
                </a:r>
                <a:r>
                  <a:rPr lang="en-US" sz="1800" dirty="0" smtClean="0">
                    <a:latin typeface="Times New Roman" panose="02020603050405020304" pitchFamily="18" charset="0"/>
                    <a:cs typeface="Times New Roman" panose="02020603050405020304" pitchFamily="18" charset="0"/>
                  </a:rPr>
                  <a:t> x</a:t>
                </a:r>
                <a:r>
                  <a:rPr lang="en-US" sz="1800" baseline="-25000" dirty="0"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được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phân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lớp</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đúng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Tương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tự</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với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y</a:t>
                </a:r>
                <a:r>
                  <a:rPr lang="en-US" sz="1800" baseline="-25000" dirty="0" err="1" smtClean="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-1.</a:t>
                </a:r>
                <a:endParaRPr lang="en-US" sz="1800" dirty="0" smtClean="0">
                  <a:latin typeface="Times New Roman" panose="02020603050405020304" pitchFamily="18" charset="0"/>
                  <a:cs typeface="Times New Roman" panose="02020603050405020304" pitchFamily="18" charset="0"/>
                </a:endParaRPr>
              </a:p>
            </p:txBody>
          </p:sp>
        </mc:Choice>
        <mc:Fallback>
          <p:sp>
            <p:nvSpPr>
              <p:cNvPr id="4" name="TextBox 3"/>
              <p:cNvSpPr txBox="1">
                <a:spLocks noRot="1" noChangeAspect="1" noMove="1" noResize="1" noEditPoints="1" noAdjustHandles="1" noChangeArrowheads="1" noChangeShapeType="1" noTextEdit="1"/>
              </p:cNvSpPr>
              <p:nvPr/>
            </p:nvSpPr>
            <p:spPr>
              <a:xfrm>
                <a:off x="1219200" y="1038236"/>
                <a:ext cx="6918959" cy="1400127"/>
              </a:xfrm>
              <a:prstGeom prst="rect">
                <a:avLst/>
              </a:prstGeom>
              <a:blipFill rotWithShape="1">
                <a:blip r:embed="rId1"/>
                <a:stretch>
                  <a:fillRect t="-1" b="-5853"/>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612775" y="2536836"/>
                <a:ext cx="7244080" cy="2492990"/>
              </a:xfrm>
              <a:prstGeom prst="rect">
                <a:avLst/>
              </a:prstGeom>
              <a:noFill/>
            </p:spPr>
            <p:txBody>
              <a:bodyPr wrap="square" lIns="0" tIns="0" rIns="0" bIns="0" rtlCol="0">
                <a:spAutoFit/>
              </a:bodyPr>
              <a:lstStyle/>
              <a:p>
                <a:r>
                  <a:rPr lang="en-US" sz="1800" dirty="0" smtClean="0">
                    <a:latin typeface="Times New Roman" panose="02020603050405020304" pitchFamily="18" charset="0"/>
                    <a:cs typeface="Times New Roman" panose="02020603050405020304" pitchFamily="18" charset="0"/>
                  </a:rPr>
                  <a:t>Tóm </a:t>
                </a:r>
                <a:r>
                  <a:rPr lang="en-US" sz="1800" dirty="0" err="1" smtClean="0">
                    <a:latin typeface="Times New Roman" panose="02020603050405020304" pitchFamily="18" charset="0"/>
                    <a:cs typeface="Times New Roman" panose="02020603050405020304" pitchFamily="18" charset="0"/>
                  </a:rPr>
                  <a:t>tắt</a:t>
                </a:r>
                <a:r>
                  <a:rPr lang="en-US" sz="1800" dirty="0" smtClean="0">
                    <a:latin typeface="Times New Roman" panose="02020603050405020304" pitchFamily="18" charset="0"/>
                    <a:cs typeface="Times New Roman" panose="02020603050405020304" pitchFamily="18" charset="0"/>
                  </a:rPr>
                  <a:t> PLA</a:t>
                </a:r>
                <a:endParaRPr lang="en-US" sz="1800" dirty="0" smtClean="0">
                  <a:latin typeface="Times New Roman" panose="02020603050405020304" pitchFamily="18" charset="0"/>
                  <a:cs typeface="Times New Roman" panose="02020603050405020304" pitchFamily="18" charset="0"/>
                </a:endParaRPr>
              </a:p>
              <a:p>
                <a:pPr marL="342900" indent="-342900">
                  <a:buAutoNum type="arabicPeriod"/>
                </a:pPr>
                <a:r>
                  <a:rPr lang="en-US" sz="1800" dirty="0" err="1" smtClean="0">
                    <a:latin typeface="Times New Roman" panose="02020603050405020304" pitchFamily="18" charset="0"/>
                    <a:cs typeface="Times New Roman" panose="02020603050405020304" pitchFamily="18" charset="0"/>
                  </a:rPr>
                  <a:t>Chọn</a:t>
                </a:r>
                <a:r>
                  <a:rPr lang="en-US" sz="1800" dirty="0" smtClean="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ngẫu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nhiên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một</a:t>
                </a:r>
                <a:r>
                  <a:rPr lang="en-US" sz="1800" dirty="0">
                    <a:latin typeface="Times New Roman" panose="02020603050405020304" pitchFamily="18" charset="0"/>
                    <a:cs typeface="Times New Roman" panose="02020603050405020304" pitchFamily="18" charset="0"/>
                  </a:rPr>
                  <a:t> vector </a:t>
                </a:r>
                <a:r>
                  <a:rPr lang="en-US" sz="1800" dirty="0" err="1">
                    <a:latin typeface="Times New Roman" panose="02020603050405020304" pitchFamily="18" charset="0"/>
                    <a:cs typeface="Times New Roman" panose="02020603050405020304" pitchFamily="18" charset="0"/>
                  </a:rPr>
                  <a:t>hệ</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số</a:t>
                </a:r>
                <a:r>
                  <a:rPr lang="en-US" sz="1800" dirty="0">
                    <a:latin typeface="Times New Roman" panose="02020603050405020304" pitchFamily="18" charset="0"/>
                    <a:cs typeface="Times New Roman" panose="02020603050405020304" pitchFamily="18" charset="0"/>
                  </a:rPr>
                  <a:t> w </a:t>
                </a:r>
                <a:r>
                  <a:rPr lang="en-US" sz="1800" dirty="0" err="1">
                    <a:latin typeface="Times New Roman" panose="02020603050405020304" pitchFamily="18" charset="0"/>
                    <a:cs typeface="Times New Roman" panose="02020603050405020304" pitchFamily="18" charset="0"/>
                  </a:rPr>
                  <a:t>với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phần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tử</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gần</a:t>
                </a:r>
                <a:r>
                  <a:rPr lang="en-US" sz="1800" dirty="0">
                    <a:latin typeface="Times New Roman" panose="02020603050405020304" pitchFamily="18" charset="0"/>
                    <a:cs typeface="Times New Roman" panose="02020603050405020304" pitchFamily="18" charset="0"/>
                  </a:rPr>
                  <a:t> 0</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pPr marL="342900" indent="-342900">
                  <a:buAutoNum type="arabicPeriod"/>
                </a:pPr>
                <a:r>
                  <a:rPr lang="en-US" sz="1800" dirty="0" err="1">
                    <a:latin typeface="Times New Roman" panose="02020603050405020304" pitchFamily="18" charset="0"/>
                    <a:cs typeface="Times New Roman" panose="02020603050405020304" pitchFamily="18" charset="0"/>
                  </a:rPr>
                  <a:t>Duyệt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ngẫu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nhiên</a:t>
                </a:r>
                <a:r>
                  <a:rPr lang="en-US" sz="1800" dirty="0">
                    <a:latin typeface="Times New Roman" panose="02020603050405020304" pitchFamily="18" charset="0"/>
                    <a:cs typeface="Times New Roman" panose="02020603050405020304" pitchFamily="18" charset="0"/>
                  </a:rPr>
                  <a:t> qua </a:t>
                </a:r>
                <a:r>
                  <a:rPr lang="en-US" sz="1800" dirty="0" err="1">
                    <a:latin typeface="Times New Roman" panose="02020603050405020304" pitchFamily="18" charset="0"/>
                    <a:cs typeface="Times New Roman" panose="02020603050405020304" pitchFamily="18" charset="0"/>
                  </a:rPr>
                  <a:t>từng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điểm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dữ</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liệu</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x</a:t>
                </a:r>
                <a:r>
                  <a:rPr lang="en-US" sz="1800" baseline="-25000" dirty="0"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pPr marL="285750" indent="-285750">
                  <a:buFontTx/>
                  <a:buChar char="-"/>
                </a:pPr>
                <a:r>
                  <a:rPr lang="en-US" sz="1800" dirty="0" err="1" smtClean="0">
                    <a:latin typeface="Times New Roman" panose="02020603050405020304" pitchFamily="18" charset="0"/>
                    <a:cs typeface="Times New Roman" panose="02020603050405020304" pitchFamily="18" charset="0"/>
                  </a:rPr>
                  <a:t>Nếu</a:t>
                </a:r>
                <a:r>
                  <a:rPr lang="en-US" sz="1800" dirty="0" smtClean="0">
                    <a:latin typeface="Times New Roman" panose="02020603050405020304" pitchFamily="18" charset="0"/>
                    <a:cs typeface="Times New Roman" panose="02020603050405020304" pitchFamily="18" charset="0"/>
                  </a:rPr>
                  <a:t> x</a:t>
                </a:r>
                <a:r>
                  <a:rPr lang="en-US" sz="1800" baseline="-25000" dirty="0"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được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phân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lớp</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đúng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tức</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sgn</a:t>
                </a:r>
                <a:r>
                  <a:rPr lang="en-US" sz="1800" dirty="0" smtClean="0">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1800" i="1" smtClean="0">
                            <a:latin typeface="Cambria Math" panose="02040503050406030204" pitchFamily="18" charset="0"/>
                          </a:rPr>
                        </m:ctrlPr>
                      </m:sSupPr>
                      <m:e>
                        <m:r>
                          <a:rPr lang="en-US" sz="1800" b="0" i="1" smtClean="0">
                            <a:latin typeface="Cambria Math" panose="02040503050406030204" pitchFamily="18" charset="0"/>
                          </a:rPr>
                          <m:t>𝑤</m:t>
                        </m:r>
                      </m:e>
                      <m:sup>
                        <m:r>
                          <a:rPr lang="en-US" sz="1800" b="0" i="1" smtClean="0">
                            <a:latin typeface="Cambria Math" panose="02040503050406030204" pitchFamily="18" charset="0"/>
                          </a:rPr>
                          <m:t>𝑇</m:t>
                        </m:r>
                      </m:sup>
                    </m:sSup>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oMath>
                </a14:m>
                <a:r>
                  <a:rPr lang="en-US" sz="1800" dirty="0" smtClean="0">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oMath>
                </a14:m>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chúng</a:t>
                </a:r>
                <a:r>
                  <a:rPr lang="en-US" sz="1800" dirty="0" smtClean="0">
                    <a:latin typeface="Times New Roman" panose="02020603050405020304" pitchFamily="18" charset="0"/>
                    <a:cs typeface="Times New Roman" panose="02020603050405020304" pitchFamily="18" charset="0"/>
                  </a:rPr>
                  <a:t> ta </a:t>
                </a:r>
                <a:r>
                  <a:rPr lang="en-US" sz="1800" dirty="0" err="1" smtClean="0">
                    <a:latin typeface="Times New Roman" panose="02020603050405020304" pitchFamily="18" charset="0"/>
                    <a:cs typeface="Times New Roman" panose="02020603050405020304" pitchFamily="18" charset="0"/>
                  </a:rPr>
                  <a:t>không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cần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làm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gì</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pPr marL="285750" indent="-285750">
                  <a:buFontTx/>
                  <a:buChar char="-"/>
                </a:pPr>
                <a:r>
                  <a:rPr lang="en-US" sz="1800" dirty="0" err="1" smtClean="0">
                    <a:latin typeface="Times New Roman" panose="02020603050405020304" pitchFamily="18" charset="0"/>
                    <a:cs typeface="Times New Roman" panose="02020603050405020304" pitchFamily="18" charset="0"/>
                  </a:rPr>
                  <a:t>Nếu</a:t>
                </a:r>
                <a:r>
                  <a:rPr lang="en-US" sz="1800" dirty="0" smtClean="0">
                    <a:latin typeface="Times New Roman" panose="02020603050405020304" pitchFamily="18" charset="0"/>
                    <a:cs typeface="Times New Roman" panose="02020603050405020304" pitchFamily="18" charset="0"/>
                  </a:rPr>
                  <a:t> x</a:t>
                </a:r>
                <a:r>
                  <a:rPr lang="en-US" sz="1800" baseline="-25000" dirty="0" smtClean="0">
                    <a:latin typeface="Times New Roman" panose="02020603050405020304" pitchFamily="18" charset="0"/>
                    <a:cs typeface="Times New Roman" panose="02020603050405020304" pitchFamily="18" charset="0"/>
                  </a:rPr>
                  <a:t>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bị</a:t>
                </a:r>
                <a:r>
                  <a:rPr lang="en-US" sz="1800" dirty="0" smtClean="0">
                    <a:latin typeface="Times New Roman" panose="02020603050405020304" pitchFamily="18" charset="0"/>
                    <a:cs typeface="Times New Roman" panose="02020603050405020304" pitchFamily="18" charset="0"/>
                  </a:rPr>
                  <a:t> misclassified, </a:t>
                </a:r>
                <a:r>
                  <a:rPr lang="en-US" sz="1800" dirty="0" err="1" smtClean="0">
                    <a:latin typeface="Times New Roman" panose="02020603050405020304" pitchFamily="18" charset="0"/>
                    <a:cs typeface="Times New Roman" panose="02020603050405020304" pitchFamily="18" charset="0"/>
                  </a:rPr>
                  <a:t>cập</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nhật</a:t>
                </a:r>
                <a:r>
                  <a:rPr lang="en-US" sz="1800" dirty="0" smtClean="0">
                    <a:latin typeface="Times New Roman" panose="02020603050405020304" pitchFamily="18" charset="0"/>
                    <a:cs typeface="Times New Roman" panose="02020603050405020304" pitchFamily="18" charset="0"/>
                  </a:rPr>
                  <a:t> w </a:t>
                </a:r>
                <a:r>
                  <a:rPr lang="en-US" sz="1800" dirty="0" err="1" smtClean="0">
                    <a:latin typeface="Times New Roman" panose="02020603050405020304" pitchFamily="18" charset="0"/>
                    <a:cs typeface="Times New Roman" panose="02020603050405020304" pitchFamily="18" charset="0"/>
                  </a:rPr>
                  <a:t>theo</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công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thức</a:t>
                </a:r>
                <a:r>
                  <a:rPr lang="en-US" sz="18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𝑤</m:t>
                      </m:r>
                      <m:r>
                        <a:rPr lang="en-US" sz="1800" b="0" i="1" smtClean="0">
                          <a:latin typeface="Cambria Math" panose="02040503050406030204" pitchFamily="18" charset="0"/>
                        </a:rPr>
                        <m:t>=</m:t>
                      </m:r>
                      <m:r>
                        <a:rPr lang="en-US" sz="1800" b="0" i="1" smtClean="0">
                          <a:latin typeface="Cambria Math" panose="02040503050406030204" pitchFamily="18" charset="0"/>
                        </a:rPr>
                        <m:t>𝑤</m:t>
                      </m:r>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oMath>
                  </m:oMathPara>
                </a14:m>
                <a:endParaRPr lang="en-US" sz="1800" b="0" dirty="0" smtClean="0">
                  <a:latin typeface="Times New Roman" panose="02020603050405020304" pitchFamily="18" charset="0"/>
                  <a:cs typeface="Times New Roman" panose="02020603050405020304" pitchFamily="18" charset="0"/>
                </a:endParaRPr>
              </a:p>
              <a:p>
                <a:pPr marL="346075" indent="-346075"/>
                <a:r>
                  <a:rPr lang="en-US" sz="1800" dirty="0" smtClean="0">
                    <a:latin typeface="Times New Roman" panose="02020603050405020304" pitchFamily="18" charset="0"/>
                    <a:cs typeface="Times New Roman" panose="02020603050405020304" pitchFamily="18" charset="0"/>
                  </a:rPr>
                  <a:t>3. </a:t>
                </a:r>
                <a:r>
                  <a:rPr lang="en-US" sz="1800" dirty="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Kiểm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tra</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xem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có</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bao</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nhiêu</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điểm</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bị</a:t>
                </a:r>
                <a:r>
                  <a:rPr lang="en-US" sz="1800" dirty="0" smtClean="0">
                    <a:latin typeface="Times New Roman" panose="02020603050405020304" pitchFamily="18" charset="0"/>
                    <a:cs typeface="Times New Roman" panose="02020603050405020304" pitchFamily="18" charset="0"/>
                  </a:rPr>
                  <a:t> misclassified. </a:t>
                </a:r>
                <a:r>
                  <a:rPr lang="en-US" sz="1800" dirty="0" err="1" smtClean="0">
                    <a:latin typeface="Times New Roman" panose="02020603050405020304" pitchFamily="18" charset="0"/>
                    <a:cs typeface="Times New Roman" panose="02020603050405020304" pitchFamily="18" charset="0"/>
                  </a:rPr>
                  <a:t>Nếu</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không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còn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dừng</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thuật</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toán</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Nếu</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còn</a:t>
                </a:r>
                <a:r>
                  <a:rPr lang="en-US" sz="1800" dirty="0" smtClean="0">
                    <a:latin typeface="Times New Roman" panose="02020603050405020304" pitchFamily="18" charset="0"/>
                    <a:cs typeface="Times New Roman" panose="02020603050405020304" pitchFamily="18" charset="0"/>
                  </a:rPr>
                  <a:t>, quay </a:t>
                </a:r>
                <a:r>
                  <a:rPr lang="en-US" sz="1800" dirty="0" err="1" smtClean="0">
                    <a:latin typeface="Times New Roman" panose="02020603050405020304" pitchFamily="18" charset="0"/>
                    <a:cs typeface="Times New Roman" panose="02020603050405020304" pitchFamily="18" charset="0"/>
                  </a:rPr>
                  <a:t>lại</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bước</a:t>
                </a:r>
                <a:r>
                  <a:rPr lang="en-US" sz="1800" dirty="0" smtClean="0">
                    <a:latin typeface="Times New Roman" panose="02020603050405020304" pitchFamily="18" charset="0"/>
                    <a:cs typeface="Times New Roman" panose="02020603050405020304" pitchFamily="18" charset="0"/>
                  </a:rPr>
                  <a:t> 2.</a:t>
                </a:r>
                <a:endParaRPr lang="en-US" sz="1800" dirty="0">
                  <a:latin typeface="Times New Roman" panose="02020603050405020304" pitchFamily="18" charset="0"/>
                  <a:cs typeface="Times New Roman" panose="02020603050405020304" pitchFamily="18" charset="0"/>
                </a:endParaRPr>
              </a:p>
              <a:p>
                <a:pPr algn="ctr"/>
                <a:endParaRPr lang="en-US" sz="1800" dirty="0" smtClean="0">
                  <a:latin typeface="Times New Roman" panose="02020603050405020304" pitchFamily="18" charset="0"/>
                  <a:cs typeface="Times New Roman" panose="02020603050405020304" pitchFamily="18" charset="0"/>
                </a:endParaRPr>
              </a:p>
            </p:txBody>
          </p:sp>
        </mc:Choice>
        <mc:Fallback>
          <p:sp>
            <p:nvSpPr>
              <p:cNvPr id="11" name="TextBox 10"/>
              <p:cNvSpPr txBox="1">
                <a:spLocks noRot="1" noChangeAspect="1" noMove="1" noResize="1" noEditPoints="1" noAdjustHandles="1" noChangeArrowheads="1" noChangeShapeType="1" noTextEdit="1"/>
              </p:cNvSpPr>
              <p:nvPr/>
            </p:nvSpPr>
            <p:spPr>
              <a:xfrm>
                <a:off x="612775" y="2536836"/>
                <a:ext cx="7244080" cy="2492990"/>
              </a:xfrm>
              <a:prstGeom prst="rect">
                <a:avLst/>
              </a:prstGeom>
              <a:blipFill rotWithShape="1">
                <a:blip r:embed="rId2"/>
                <a:stretch>
                  <a:fillRect b="25"/>
                </a:stretch>
              </a:blipFill>
            </p:spPr>
            <p:txBody>
              <a:bodyPr/>
              <a:lstStyle/>
              <a:p>
                <a:r>
                  <a:rPr lang="en-US" altLang="en-US">
                    <a:noFill/>
                  </a:rPr>
                  <a:t> </a:t>
                </a:r>
              </a:p>
            </p:txBody>
          </p:sp>
        </mc:Fallback>
      </mc:AlternateContent>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8" name="Google Shape;495;p61"/>
          <p:cNvSpPr txBox="1">
            <a:spLocks noGrp="1"/>
          </p:cNvSpPr>
          <p:nvPr>
            <p:ph type="subTitle" idx="4294967295"/>
          </p:nvPr>
        </p:nvSpPr>
        <p:spPr>
          <a:xfrm>
            <a:off x="603885" y="441960"/>
            <a:ext cx="6240145" cy="4013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b="1" dirty="0" smtClean="0">
                <a:latin typeface="Times New Roman" panose="02020603050405020304" pitchFamily="18" charset="0"/>
                <a:cs typeface="Times New Roman" panose="02020603050405020304" pitchFamily="18" charset="0"/>
              </a:rPr>
              <a:t>Thuật toán Perceptron Learning Algorithm (PLA)</a:t>
            </a:r>
            <a:endParaRPr sz="2000" b="1" dirty="0">
              <a:latin typeface="Times New Roman" panose="02020603050405020304" pitchFamily="18" charset="0"/>
              <a:cs typeface="Times New Roman" panose="02020603050405020304" pitchFamily="18" charset="0"/>
            </a:endParaRPr>
          </a:p>
        </p:txBody>
      </p:sp>
      <p:sp>
        <p:nvSpPr>
          <p:cNvPr id="10" name="Google Shape;503;p61"/>
          <p:cNvSpPr txBox="1">
            <a:spLocks noGrp="1"/>
          </p:cNvSpPr>
          <p:nvPr>
            <p:ph type="title" idx="4294967295"/>
          </p:nvPr>
        </p:nvSpPr>
        <p:spPr>
          <a:xfrm>
            <a:off x="-1" y="308718"/>
            <a:ext cx="718457"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02</a:t>
            </a:r>
            <a:endParaRPr lang="en-GB" sz="3600" b="1" dirty="0" smtClean="0">
              <a:latin typeface="Times New Roman" panose="02020603050405020304" pitchFamily="18" charset="0"/>
              <a:cs typeface="Times New Roman" panose="02020603050405020304" pitchFamily="18" charset="0"/>
            </a:endParaRPr>
          </a:p>
        </p:txBody>
      </p:sp>
      <p:sp>
        <p:nvSpPr>
          <p:cNvPr id="17" name="AutoShape 12" descr="Đã tải lên ảnh"/>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mc:AlternateContent xmlns:mc="http://schemas.openxmlformats.org/markup-compatibility/2006">
        <mc:Choice xmlns:a14="http://schemas.microsoft.com/office/drawing/2010/main" Requires="a14">
          <p:sp>
            <p:nvSpPr>
              <p:cNvPr id="2" name="TextBox 1"/>
              <p:cNvSpPr txBox="1"/>
              <p:nvPr/>
            </p:nvSpPr>
            <p:spPr>
              <a:xfrm>
                <a:off x="603594" y="883920"/>
                <a:ext cx="8194966" cy="3364230"/>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Chứng minh </a:t>
                </a:r>
                <a:r>
                  <a:rPr lang="en-US" dirty="0" err="1" smtClean="0">
                    <a:latin typeface="Times New Roman" panose="02020603050405020304" pitchFamily="18" charset="0"/>
                    <a:cs typeface="Times New Roman" panose="02020603050405020304" pitchFamily="18" charset="0"/>
                  </a:rPr>
                  <a:t>hội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tụ</a:t>
                </a:r>
                <a:endParaRPr lang="en-US" dirty="0" smtClean="0">
                  <a:latin typeface="Times New Roman" panose="02020603050405020304" pitchFamily="18" charset="0"/>
                  <a:cs typeface="Times New Roman" panose="02020603050405020304" pitchFamily="18" charset="0"/>
                </a:endParaRPr>
              </a:p>
              <a:p>
                <a:pPr algn="just"/>
                <a:r>
                  <a:rPr lang="en-US" dirty="0" err="1" smtClean="0">
                    <a:latin typeface="Times New Roman" panose="02020603050405020304" pitchFamily="18" charset="0"/>
                    <a:cs typeface="Times New Roman" panose="02020603050405020304" pitchFamily="18" charset="0"/>
                  </a:rPr>
                  <a:t>Giả</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sử</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rằng</a:t>
                </a:r>
                <a:r>
                  <a:rPr lang="en-US" dirty="0" smtClean="0">
                    <a:latin typeface="Times New Roman" panose="02020603050405020304" pitchFamily="18" charset="0"/>
                    <a:cs typeface="Times New Roman" panose="02020603050405020304" pitchFamily="18" charset="0"/>
                  </a:rPr>
                  <a:t> w</a:t>
                </a:r>
                <a:r>
                  <a:rPr lang="en-US" baseline="30000" dirty="0" smtClean="0">
                    <a:latin typeface="Times New Roman" panose="02020603050405020304" pitchFamily="18" charset="0"/>
                    <a:cs typeface="Times New Roman" panose="02020603050405020304" pitchFamily="18" charset="0"/>
                  </a:rPr>
                  <a: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một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nghiệm</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của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bài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toán</a:t>
                </a:r>
                <a:r>
                  <a:rPr lang="en-US" dirty="0" smtClean="0">
                    <a:latin typeface="Times New Roman" panose="02020603050405020304" pitchFamily="18" charset="0"/>
                    <a:cs typeface="Times New Roman" panose="02020603050405020304" pitchFamily="18" charset="0"/>
                  </a:rPr>
                  <a:t>. Ta </a:t>
                </a:r>
                <a:r>
                  <a:rPr lang="en-US" dirty="0" err="1" smtClean="0">
                    <a:latin typeface="Times New Roman" panose="02020603050405020304" pitchFamily="18" charset="0"/>
                    <a:cs typeface="Times New Roman" panose="02020603050405020304" pitchFamily="18" charset="0"/>
                  </a:rPr>
                  <a:t>thấy</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rằng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với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mọi</a:t>
                </a:r>
                <a:r>
                  <a:rPr lang="en-US" dirty="0" smtClean="0">
                    <a:latin typeface="Times New Roman" panose="02020603050405020304" pitchFamily="18" charset="0"/>
                    <a:cs typeface="Times New Roman" panose="020206030504050203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𝛼</m:t>
                    </m:r>
                    <m:r>
                      <a:rPr lang="en-US" b="0" i="1" smtClean="0">
                        <a:latin typeface="Cambria Math" panose="02040503050406030204" pitchFamily="18" charset="0"/>
                        <a:ea typeface="Cambria Math" panose="02040503050406030204" pitchFamily="18" charset="0"/>
                        <a:cs typeface="Times New Roman" panose="02020603050405020304" pitchFamily="18" charset="0"/>
                      </a:rPr>
                      <m:t>&gt;</m:t>
                    </m:r>
                    <m:r>
                      <a:rPr lang="en-US" b="0" i="1" smtClean="0">
                        <a:latin typeface="Cambria Math" panose="02040503050406030204" pitchFamily="18" charset="0"/>
                        <a:ea typeface="Cambria Math" panose="02040503050406030204" pitchFamily="18" charset="0"/>
                        <a:cs typeface="Times New Roman" panose="02020603050405020304" pitchFamily="18" charset="0"/>
                      </a:rPr>
                      <m:t>0</m:t>
                    </m:r>
                    <m:r>
                      <a:rPr lang="en-US" b="0"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dirty="0" smtClean="0">
                    <a:latin typeface="Times New Roman" panose="02020603050405020304" pitchFamily="18" charset="0"/>
                    <a:cs typeface="Times New Roman" panose="02020603050405020304" pitchFamily="18" charset="0"/>
                  </a:rPr>
                  <a:t>nếu w</a:t>
                </a:r>
                <a:r>
                  <a:rPr lang="en-US" baseline="30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nghiệm</a:t>
                </a:r>
                <a:r>
                  <a:rPr lang="en-US" dirty="0" smtClean="0">
                    <a:latin typeface="Times New Roman" panose="02020603050405020304" pitchFamily="18" charset="0"/>
                    <a:cs typeface="Times New Roman" panose="020206030504050203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cs typeface="Times New Roman" panose="02020603050405020304" pitchFamily="18" charset="0"/>
                      </a:rPr>
                      <m:t>𝛼</m:t>
                    </m:r>
                    <m:r>
                      <m:rPr>
                        <m:nor/>
                      </m:rPr>
                      <a:rPr lang="en-US" dirty="0">
                        <a:latin typeface="Times New Roman" panose="02020603050405020304" pitchFamily="18" charset="0"/>
                        <a:cs typeface="Times New Roman" panose="02020603050405020304" pitchFamily="18" charset="0"/>
                      </a:rPr>
                      <m:t>w</m:t>
                    </m:r>
                    <m:r>
                      <m:rPr>
                        <m:nor/>
                      </m:rPr>
                      <a:rPr lang="en-US" baseline="30000" dirty="0">
                        <a:latin typeface="Times New Roman" panose="02020603050405020304" pitchFamily="18" charset="0"/>
                        <a:cs typeface="Times New Roman" panose="02020603050405020304" pitchFamily="18" charset="0"/>
                      </a:rPr>
                      <m:t>*</m:t>
                    </m:r>
                  </m:oMath>
                </a14:m>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cũng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nghiệm</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của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bài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toán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Xét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dãy</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số</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không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âm</a:t>
                </a:r>
                <a:r>
                  <a:rPr lang="en-US"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𝑢</m:t>
                        </m:r>
                      </m:e>
                      <m:sub>
                        <m:r>
                          <a:rPr lang="en-US" i="1" smtClean="0">
                            <a:latin typeface="Cambria Math" panose="02040503050406030204" pitchFamily="18" charset="0"/>
                            <a:ea typeface="Cambria Math" panose="02040503050406030204" pitchFamily="18" charset="0"/>
                            <a:cs typeface="Times New Roman" panose="02020603050405020304" pitchFamily="18" charset="0"/>
                          </a:rPr>
                          <m:t>𝛼</m:t>
                        </m:r>
                      </m:sub>
                    </m:sSub>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𝑡</m:t>
                        </m:r>
                      </m:e>
                    </m:d>
                    <m:r>
                      <a:rPr lang="en-US" b="0" i="1" smtClean="0">
                        <a:latin typeface="Cambria Math" panose="02040503050406030204" pitchFamily="18" charset="0"/>
                        <a:cs typeface="Times New Roman" panose="02020603050405020304" pitchFamily="18" charset="0"/>
                      </a:rPr>
                      <m:t>=</m:t>
                    </m:r>
                    <m:sSubSup>
                      <m:sSubSupPr>
                        <m:ctrlPr>
                          <a:rPr lang="en-US" b="0" i="1" smtClean="0">
                            <a:latin typeface="Cambria Math" panose="02040503050406030204" pitchFamily="18" charset="0"/>
                            <a:cs typeface="Times New Roman" panose="02020603050405020304" pitchFamily="18" charset="0"/>
                          </a:rPr>
                        </m:ctrlPr>
                      </m:sSubSupPr>
                      <m:e>
                        <m:d>
                          <m:dPr>
                            <m:begChr m:val="‖"/>
                            <m:endChr m:val="‖"/>
                            <m:ctrlPr>
                              <a:rPr lang="en-US" b="0" i="1" smtClean="0">
                                <a:latin typeface="Cambria Math" panose="02040503050406030204" pitchFamily="18" charset="0"/>
                                <a:cs typeface="Times New Roman" panose="02020603050405020304" pitchFamily="18" charset="0"/>
                              </a:rPr>
                            </m:ctrlPr>
                          </m:dPr>
                          <m:e>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𝑤</m:t>
                                </m:r>
                              </m:e>
                              <m:sub>
                                <m:r>
                                  <a:rPr lang="en-US" b="0" i="1" smtClean="0">
                                    <a:latin typeface="Cambria Math" panose="02040503050406030204" pitchFamily="18" charset="0"/>
                                    <a:cs typeface="Times New Roman" panose="02020603050405020304" pitchFamily="18" charset="0"/>
                                  </a:rPr>
                                  <m:t>𝑡</m:t>
                                </m:r>
                              </m:sub>
                            </m:sSub>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ea typeface="Cambria Math" panose="02040503050406030204" pitchFamily="18" charset="0"/>
                                <a:cs typeface="Times New Roman" panose="02020603050405020304" pitchFamily="18" charset="0"/>
                              </a:rPr>
                              <m:t>𝛼</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𝑤</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m:t>
                                </m:r>
                              </m:sup>
                            </m:sSup>
                          </m:e>
                        </m:d>
                      </m:e>
                      <m:sub>
                        <m:r>
                          <a:rPr lang="en-US" b="0" i="1" smtClean="0">
                            <a:latin typeface="Cambria Math" panose="02040503050406030204" pitchFamily="18" charset="0"/>
                            <a:cs typeface="Times New Roman" panose="02020603050405020304" pitchFamily="18" charset="0"/>
                          </a:rPr>
                          <m:t>2</m:t>
                        </m:r>
                      </m:sub>
                      <m:sup>
                        <m:r>
                          <a:rPr lang="en-US" b="0" i="1" smtClean="0">
                            <a:latin typeface="Cambria Math" panose="02040503050406030204" pitchFamily="18" charset="0"/>
                            <a:cs typeface="Times New Roman" panose="02020603050405020304" pitchFamily="18" charset="0"/>
                          </a:rPr>
                          <m:t>2</m:t>
                        </m:r>
                      </m:sup>
                    </m:sSubSup>
                  </m:oMath>
                </a14:m>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Với</a:t>
                </a:r>
                <a:r>
                  <a:rPr lang="en-US" dirty="0" smtClean="0">
                    <a:latin typeface="Times New Roman" panose="02020603050405020304" pitchFamily="18" charset="0"/>
                    <a:cs typeface="Times New Roman" panose="02020603050405020304" pitchFamily="18" charset="0"/>
                  </a:rPr>
                  <a:t> x</a:t>
                </a:r>
                <a:r>
                  <a:rPr lang="en-US" baseline="-25000" dirty="0" smtClean="0">
                    <a:latin typeface="Times New Roman" panose="02020603050405020304" pitchFamily="18" charset="0"/>
                    <a:cs typeface="Times New Roman" panose="02020603050405020304" pitchFamily="18" charset="0"/>
                  </a:rPr>
                  <a:t>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một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điểm</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bị</a:t>
                </a:r>
                <a:r>
                  <a:rPr lang="en-US" dirty="0" smtClean="0">
                    <a:latin typeface="Times New Roman" panose="02020603050405020304" pitchFamily="18" charset="0"/>
                    <a:cs typeface="Times New Roman" panose="02020603050405020304" pitchFamily="18" charset="0"/>
                  </a:rPr>
                  <a:t> misclassified </a:t>
                </a:r>
                <a:r>
                  <a:rPr lang="en-US" dirty="0" err="1" smtClean="0">
                    <a:latin typeface="Times New Roman" panose="02020603050405020304" pitchFamily="18" charset="0"/>
                    <a:cs typeface="Times New Roman" panose="02020603050405020304" pitchFamily="18" charset="0"/>
                  </a:rPr>
                  <a:t>nếu</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dùng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nghiệm</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w</a:t>
                </a:r>
                <a:r>
                  <a:rPr lang="en-US" baseline="-25000" dirty="0" err="1" smtClean="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 ta </a:t>
                </a:r>
                <a:r>
                  <a:rPr lang="en-US" dirty="0" err="1" smtClean="0">
                    <a:latin typeface="Times New Roman" panose="02020603050405020304" pitchFamily="18" charset="0"/>
                    <a:cs typeface="Times New Roman" panose="02020603050405020304" pitchFamily="18" charset="0"/>
                  </a:rPr>
                  <a:t>có</a:t>
                </a:r>
                <a:r>
                  <a:rPr lang="en-US" dirty="0" smtClean="0">
                    <a:latin typeface="Times New Roman" panose="02020603050405020304" pitchFamily="18" charset="0"/>
                    <a:cs typeface="Times New Roman" panose="02020603050405020304" pitchFamily="18" charset="0"/>
                  </a:rPr>
                  <a:t>:</a:t>
                </a:r>
                <a:endParaRPr lang="en-US" b="0" i="1" dirty="0" smtClean="0">
                  <a:latin typeface="Cambria Math" panose="020405030504060302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𝑢</m:t>
                          </m:r>
                        </m:e>
                        <m:sub>
                          <m:r>
                            <a:rPr lang="en-US" b="0" i="1" smtClean="0">
                              <a:latin typeface="Cambria Math" panose="02040503050406030204" pitchFamily="18" charset="0"/>
                              <a:ea typeface="Cambria Math" panose="02040503050406030204" pitchFamily="18" charset="0"/>
                              <a:cs typeface="Times New Roman" panose="02020603050405020304" pitchFamily="18" charset="0"/>
                            </a:rPr>
                            <m:t>𝛼</m:t>
                          </m:r>
                        </m:sub>
                      </m:sSub>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𝑡</m:t>
                          </m:r>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1</m:t>
                          </m:r>
                        </m:e>
                      </m:d>
                      <m:r>
                        <a:rPr lang="en-US" b="0" i="1" smtClean="0">
                          <a:latin typeface="Cambria Math" panose="02040503050406030204" pitchFamily="18" charset="0"/>
                          <a:cs typeface="Times New Roman" panose="02020603050405020304" pitchFamily="18" charset="0"/>
                        </a:rPr>
                        <m:t>= </m:t>
                      </m:r>
                      <m:sSubSup>
                        <m:sSubSupPr>
                          <m:ctrlPr>
                            <a:rPr lang="en-US" b="0" i="1" smtClean="0">
                              <a:latin typeface="Cambria Math" panose="02040503050406030204" pitchFamily="18" charset="0"/>
                              <a:cs typeface="Times New Roman" panose="02020603050405020304" pitchFamily="18" charset="0"/>
                            </a:rPr>
                          </m:ctrlPr>
                        </m:sSubSupPr>
                        <m:e>
                          <m:d>
                            <m:dPr>
                              <m:begChr m:val="‖"/>
                              <m:endChr m:val="‖"/>
                              <m:ctrlPr>
                                <a:rPr lang="en-US" b="0" i="1" smtClean="0">
                                  <a:latin typeface="Cambria Math" panose="02040503050406030204" pitchFamily="18" charset="0"/>
                                  <a:cs typeface="Times New Roman" panose="02020603050405020304" pitchFamily="18" charset="0"/>
                                </a:rPr>
                              </m:ctrlPr>
                            </m:dPr>
                            <m:e>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𝑤</m:t>
                                  </m:r>
                                </m:e>
                                <m:sub>
                                  <m:r>
                                    <a:rPr lang="en-US" b="0" i="1" smtClean="0">
                                      <a:latin typeface="Cambria Math" panose="02040503050406030204" pitchFamily="18" charset="0"/>
                                      <a:cs typeface="Times New Roman" panose="02020603050405020304" pitchFamily="18" charset="0"/>
                                    </a:rPr>
                                    <m:t>𝑡</m:t>
                                  </m:r>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1</m:t>
                                  </m:r>
                                </m:sub>
                              </m:sSub>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𝛼</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𝑤</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m:t>
                                  </m:r>
                                </m:sup>
                              </m:sSup>
                            </m:e>
                          </m:d>
                        </m:e>
                        <m:sub>
                          <m:r>
                            <a:rPr lang="en-US" b="0" i="1" smtClean="0">
                              <a:latin typeface="Cambria Math" panose="02040503050406030204" pitchFamily="18" charset="0"/>
                              <a:cs typeface="Times New Roman" panose="02020603050405020304" pitchFamily="18" charset="0"/>
                            </a:rPr>
                            <m:t>2</m:t>
                          </m:r>
                        </m:sub>
                        <m:sup>
                          <m:r>
                            <a:rPr lang="en-US" b="0" i="1" smtClean="0">
                              <a:latin typeface="Cambria Math" panose="02040503050406030204" pitchFamily="18" charset="0"/>
                              <a:cs typeface="Times New Roman" panose="02020603050405020304" pitchFamily="18" charset="0"/>
                            </a:rPr>
                            <m:t>2</m:t>
                          </m:r>
                        </m:sup>
                      </m:sSubSup>
                    </m:oMath>
                  </m:oMathPara>
                </a14:m>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14:m>
                  <m:oMath xmlns:m="http://schemas.openxmlformats.org/officeDocument/2006/math">
                    <m:r>
                      <a:rPr lang="en-US" b="0" i="1" smtClean="0">
                        <a:latin typeface="Cambria Math" panose="02040503050406030204" pitchFamily="18" charset="0"/>
                        <a:cs typeface="Times New Roman" panose="02020603050405020304" pitchFamily="18" charset="0"/>
                      </a:rPr>
                      <m:t>=</m:t>
                    </m:r>
                    <m:sSubSup>
                      <m:sSubSupPr>
                        <m:ctrlPr>
                          <a:rPr lang="en-US" b="0" i="1" smtClean="0">
                            <a:latin typeface="Cambria Math" panose="02040503050406030204" pitchFamily="18" charset="0"/>
                            <a:cs typeface="Times New Roman" panose="02020603050405020304" pitchFamily="18" charset="0"/>
                          </a:rPr>
                        </m:ctrlPr>
                      </m:sSubSupPr>
                      <m:e>
                        <m:d>
                          <m:dPr>
                            <m:begChr m:val="‖"/>
                            <m:endChr m:val="‖"/>
                            <m:ctrlPr>
                              <a:rPr lang="en-US" b="0" i="1" smtClean="0">
                                <a:latin typeface="Cambria Math" panose="02040503050406030204" pitchFamily="18" charset="0"/>
                                <a:cs typeface="Times New Roman" panose="02020603050405020304" pitchFamily="18" charset="0"/>
                              </a:rPr>
                            </m:ctrlPr>
                          </m:dPr>
                          <m:e>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𝑤</m:t>
                                </m:r>
                              </m:e>
                              <m:sub>
                                <m:r>
                                  <a:rPr lang="en-US" b="0" i="1" smtClean="0">
                                    <a:latin typeface="Cambria Math" panose="02040503050406030204" pitchFamily="18" charset="0"/>
                                    <a:cs typeface="Times New Roman" panose="02020603050405020304" pitchFamily="18" charset="0"/>
                                  </a:rPr>
                                  <m:t>𝑡</m:t>
                                </m:r>
                              </m:sub>
                            </m:sSub>
                            <m:r>
                              <a:rPr lang="en-US" b="0" i="1" smtClean="0">
                                <a:latin typeface="Cambria Math" panose="02040503050406030204" pitchFamily="18" charset="0"/>
                                <a:cs typeface="Times New Roman" panose="02020603050405020304" pitchFamily="18" charset="0"/>
                              </a:rPr>
                              <m:t>+</m:t>
                            </m:r>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𝑦</m:t>
                                </m:r>
                              </m:e>
                              <m:sub>
                                <m:r>
                                  <a:rPr lang="en-US" b="0" i="1" smtClean="0">
                                    <a:latin typeface="Cambria Math" panose="02040503050406030204" pitchFamily="18" charset="0"/>
                                    <a:cs typeface="Times New Roman" panose="02020603050405020304" pitchFamily="18" charset="0"/>
                                  </a:rPr>
                                  <m:t>𝑖</m:t>
                                </m:r>
                              </m:sub>
                            </m:sSub>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𝑥</m:t>
                                </m:r>
                              </m:e>
                              <m:sub>
                                <m:r>
                                  <a:rPr lang="en-US" b="0" i="1" smtClean="0">
                                    <a:latin typeface="Cambria Math" panose="02040503050406030204" pitchFamily="18" charset="0"/>
                                    <a:cs typeface="Times New Roman" panose="02020603050405020304" pitchFamily="18" charset="0"/>
                                  </a:rPr>
                                  <m:t>𝑖</m:t>
                                </m:r>
                              </m:sub>
                            </m:sSub>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ea typeface="Cambria Math" panose="02040503050406030204" pitchFamily="18" charset="0"/>
                                <a:cs typeface="Times New Roman" panose="02020603050405020304" pitchFamily="18" charset="0"/>
                              </a:rPr>
                              <m:t>𝛼</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𝑤</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m:t>
                                </m:r>
                              </m:sup>
                            </m:sSup>
                          </m:e>
                        </m:d>
                      </m:e>
                      <m:sub>
                        <m:r>
                          <a:rPr lang="en-US" b="0" i="1" smtClean="0">
                            <a:latin typeface="Cambria Math" panose="02040503050406030204" pitchFamily="18" charset="0"/>
                            <a:cs typeface="Times New Roman" panose="02020603050405020304" pitchFamily="18" charset="0"/>
                          </a:rPr>
                          <m:t>2</m:t>
                        </m:r>
                      </m:sub>
                      <m:sup>
                        <m:r>
                          <a:rPr lang="en-US" b="0" i="1" smtClean="0">
                            <a:latin typeface="Cambria Math" panose="02040503050406030204" pitchFamily="18" charset="0"/>
                            <a:cs typeface="Times New Roman" panose="02020603050405020304" pitchFamily="18" charset="0"/>
                          </a:rPr>
                          <m:t>2</m:t>
                        </m:r>
                      </m:sup>
                    </m:sSubSup>
                  </m:oMath>
                </a14:m>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14:m>
                  <m:oMath xmlns:m="http://schemas.openxmlformats.org/officeDocument/2006/math">
                    <m:r>
                      <a:rPr lang="en-US" b="0" i="1" smtClean="0">
                        <a:latin typeface="Cambria Math" panose="02040503050406030204" pitchFamily="18" charset="0"/>
                        <a:cs typeface="Times New Roman" panose="02020603050405020304" pitchFamily="18" charset="0"/>
                      </a:rPr>
                      <m:t>= </m:t>
                    </m:r>
                    <m:sSubSup>
                      <m:sSubSupPr>
                        <m:ctrlPr>
                          <a:rPr lang="en-US" b="0" i="1" smtClean="0">
                            <a:latin typeface="Cambria Math" panose="02040503050406030204" pitchFamily="18" charset="0"/>
                            <a:cs typeface="Times New Roman" panose="02020603050405020304" pitchFamily="18" charset="0"/>
                          </a:rPr>
                        </m:ctrlPr>
                      </m:sSubSupPr>
                      <m:e>
                        <m:d>
                          <m:dPr>
                            <m:begChr m:val="‖"/>
                            <m:endChr m:val="‖"/>
                            <m:ctrlPr>
                              <a:rPr lang="en-US" b="0" i="1" smtClean="0">
                                <a:latin typeface="Cambria Math" panose="02040503050406030204" pitchFamily="18" charset="0"/>
                                <a:cs typeface="Times New Roman" panose="02020603050405020304" pitchFamily="18" charset="0"/>
                              </a:rPr>
                            </m:ctrlPr>
                          </m:dPr>
                          <m:e>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𝑤</m:t>
                                </m:r>
                              </m:e>
                              <m:sub>
                                <m:r>
                                  <a:rPr lang="en-US" b="0" i="1" smtClean="0">
                                    <a:latin typeface="Cambria Math" panose="02040503050406030204" pitchFamily="18" charset="0"/>
                                    <a:cs typeface="Times New Roman" panose="02020603050405020304" pitchFamily="18" charset="0"/>
                                  </a:rPr>
                                  <m:t>𝑡</m:t>
                                </m:r>
                              </m:sub>
                            </m:sSub>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ea typeface="Cambria Math" panose="02040503050406030204" pitchFamily="18" charset="0"/>
                                <a:cs typeface="Times New Roman" panose="02020603050405020304" pitchFamily="18" charset="0"/>
                              </a:rPr>
                              <m:t>𝛼</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𝑤</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m:t>
                                </m:r>
                              </m:sup>
                            </m:sSup>
                          </m:e>
                        </m:d>
                      </m:e>
                      <m:sub>
                        <m:r>
                          <a:rPr lang="en-US" b="0" i="1" smtClean="0">
                            <a:latin typeface="Cambria Math" panose="02040503050406030204" pitchFamily="18" charset="0"/>
                            <a:cs typeface="Times New Roman" panose="02020603050405020304" pitchFamily="18" charset="0"/>
                          </a:rPr>
                          <m:t>2</m:t>
                        </m:r>
                      </m:sub>
                      <m:sup>
                        <m:r>
                          <a:rPr lang="en-US" b="0" i="1" smtClean="0">
                            <a:latin typeface="Cambria Math" panose="02040503050406030204" pitchFamily="18" charset="0"/>
                            <a:cs typeface="Times New Roman" panose="02020603050405020304" pitchFamily="18" charset="0"/>
                          </a:rPr>
                          <m:t>2</m:t>
                        </m:r>
                      </m:sup>
                    </m:sSubSup>
                    <m:r>
                      <a:rPr lang="en-US" b="0" i="1" smtClean="0">
                        <a:latin typeface="Cambria Math" panose="02040503050406030204" pitchFamily="18" charset="0"/>
                        <a:cs typeface="Times New Roman" panose="02020603050405020304" pitchFamily="18" charset="0"/>
                      </a:rPr>
                      <m:t>+ </m:t>
                    </m:r>
                    <m:sSubSup>
                      <m:sSubSupPr>
                        <m:ctrlPr>
                          <a:rPr lang="en-US" b="0" i="1" smtClean="0">
                            <a:latin typeface="Cambria Math" panose="02040503050406030204" pitchFamily="18" charset="0"/>
                            <a:cs typeface="Times New Roman" panose="02020603050405020304" pitchFamily="18" charset="0"/>
                          </a:rPr>
                        </m:ctrlPr>
                      </m:sSubSupPr>
                      <m:e>
                        <m:r>
                          <a:rPr lang="en-US" b="0" i="1" smtClean="0">
                            <a:latin typeface="Cambria Math" panose="02040503050406030204" pitchFamily="18" charset="0"/>
                            <a:cs typeface="Times New Roman" panose="02020603050405020304" pitchFamily="18" charset="0"/>
                          </a:rPr>
                          <m:t>𝑦</m:t>
                        </m:r>
                      </m:e>
                      <m:sub>
                        <m:r>
                          <a:rPr lang="en-US" b="0" i="1" smtClean="0">
                            <a:latin typeface="Cambria Math" panose="02040503050406030204" pitchFamily="18" charset="0"/>
                            <a:cs typeface="Times New Roman" panose="02020603050405020304" pitchFamily="18" charset="0"/>
                          </a:rPr>
                          <m:t>𝑖</m:t>
                        </m:r>
                      </m:sub>
                      <m:sup>
                        <m:r>
                          <a:rPr lang="en-US" b="0" i="1" smtClean="0">
                            <a:latin typeface="Cambria Math" panose="02040503050406030204" pitchFamily="18" charset="0"/>
                            <a:cs typeface="Times New Roman" panose="02020603050405020304" pitchFamily="18" charset="0"/>
                          </a:rPr>
                          <m:t>2</m:t>
                        </m:r>
                      </m:sup>
                    </m:sSubSup>
                    <m:sSubSup>
                      <m:sSubSupPr>
                        <m:ctrlPr>
                          <a:rPr lang="en-US" b="0" i="1" smtClean="0">
                            <a:latin typeface="Cambria Math" panose="02040503050406030204" pitchFamily="18" charset="0"/>
                            <a:cs typeface="Times New Roman" panose="02020603050405020304" pitchFamily="18" charset="0"/>
                          </a:rPr>
                        </m:ctrlPr>
                      </m:sSubSupPr>
                      <m:e>
                        <m:d>
                          <m:dPr>
                            <m:begChr m:val="‖"/>
                            <m:endChr m:val="‖"/>
                            <m:ctrlPr>
                              <a:rPr lang="en-US" b="0" i="1" smtClean="0">
                                <a:latin typeface="Cambria Math" panose="02040503050406030204" pitchFamily="18" charset="0"/>
                                <a:cs typeface="Times New Roman" panose="02020603050405020304" pitchFamily="18" charset="0"/>
                              </a:rPr>
                            </m:ctrlPr>
                          </m:dPr>
                          <m:e>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𝑥</m:t>
                                </m:r>
                              </m:e>
                              <m:sub>
                                <m:r>
                                  <a:rPr lang="en-US" b="0" i="1" smtClean="0">
                                    <a:latin typeface="Cambria Math" panose="02040503050406030204" pitchFamily="18" charset="0"/>
                                    <a:cs typeface="Times New Roman" panose="02020603050405020304" pitchFamily="18" charset="0"/>
                                  </a:rPr>
                                  <m:t>𝑖</m:t>
                                </m:r>
                              </m:sub>
                            </m:sSub>
                          </m:e>
                        </m:d>
                      </m:e>
                      <m:sub>
                        <m:r>
                          <a:rPr lang="en-US" b="0" i="1" smtClean="0">
                            <a:latin typeface="Cambria Math" panose="02040503050406030204" pitchFamily="18" charset="0"/>
                            <a:cs typeface="Times New Roman" panose="02020603050405020304" pitchFamily="18" charset="0"/>
                          </a:rPr>
                          <m:t>2</m:t>
                        </m:r>
                      </m:sub>
                      <m:sup>
                        <m:r>
                          <a:rPr lang="en-US" b="0" i="1" smtClean="0">
                            <a:latin typeface="Cambria Math" panose="02040503050406030204" pitchFamily="18" charset="0"/>
                            <a:cs typeface="Times New Roman" panose="02020603050405020304" pitchFamily="18" charset="0"/>
                          </a:rPr>
                          <m:t>2</m:t>
                        </m:r>
                      </m:sup>
                    </m:sSubSup>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2</m:t>
                    </m:r>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𝑦</m:t>
                        </m:r>
                      </m:e>
                      <m:sub>
                        <m:r>
                          <a:rPr lang="en-US" b="0" i="1" smtClean="0">
                            <a:latin typeface="Cambria Math" panose="02040503050406030204" pitchFamily="18" charset="0"/>
                            <a:cs typeface="Times New Roman" panose="02020603050405020304" pitchFamily="18" charset="0"/>
                          </a:rPr>
                          <m:t>𝑖</m:t>
                        </m:r>
                      </m:sub>
                    </m:sSub>
                    <m:sSubSup>
                      <m:sSubSupPr>
                        <m:ctrlPr>
                          <a:rPr lang="en-US" b="0" i="1" smtClean="0">
                            <a:latin typeface="Cambria Math" panose="02040503050406030204" pitchFamily="18" charset="0"/>
                            <a:cs typeface="Times New Roman" panose="02020603050405020304" pitchFamily="18" charset="0"/>
                          </a:rPr>
                        </m:ctrlPr>
                      </m:sSubSupPr>
                      <m:e>
                        <m:r>
                          <a:rPr lang="en-US" b="0" i="1" smtClean="0">
                            <a:latin typeface="Cambria Math" panose="02040503050406030204" pitchFamily="18" charset="0"/>
                            <a:cs typeface="Times New Roman" panose="02020603050405020304" pitchFamily="18" charset="0"/>
                          </a:rPr>
                          <m:t>𝑥</m:t>
                        </m:r>
                      </m:e>
                      <m:sub>
                        <m:r>
                          <a:rPr lang="en-US" b="0" i="1" smtClean="0">
                            <a:latin typeface="Cambria Math" panose="02040503050406030204" pitchFamily="18" charset="0"/>
                            <a:cs typeface="Times New Roman" panose="02020603050405020304" pitchFamily="18" charset="0"/>
                          </a:rPr>
                          <m:t>𝑖</m:t>
                        </m:r>
                      </m:sub>
                      <m:sup>
                        <m:r>
                          <a:rPr lang="en-US" b="0" i="1" smtClean="0">
                            <a:latin typeface="Cambria Math" panose="02040503050406030204" pitchFamily="18" charset="0"/>
                            <a:cs typeface="Times New Roman" panose="02020603050405020304" pitchFamily="18" charset="0"/>
                          </a:rPr>
                          <m:t>𝑇</m:t>
                        </m:r>
                      </m:sup>
                    </m:sSubSup>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𝑤</m:t>
                    </m:r>
                    <m:r>
                      <a:rPr lang="en-US" b="0" i="1" smtClean="0">
                        <a:latin typeface="Cambria Math" panose="02040503050406030204" pitchFamily="18" charset="0"/>
                        <a:cs typeface="Times New Roman" panose="02020603050405020304" pitchFamily="18" charset="0"/>
                      </a:rPr>
                      <m:t> − </m:t>
                    </m:r>
                    <m:r>
                      <a:rPr lang="en-US" b="0" i="1" smtClean="0">
                        <a:latin typeface="Cambria Math" panose="02040503050406030204" pitchFamily="18" charset="0"/>
                        <a:ea typeface="Cambria Math" panose="02040503050406030204" pitchFamily="18" charset="0"/>
                        <a:cs typeface="Times New Roman" panose="02020603050405020304" pitchFamily="18" charset="0"/>
                      </a:rPr>
                      <m:t>𝛼</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𝑤</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en-US" dirty="0" smtClean="0">
                    <a:latin typeface="Times New Roman" panose="02020603050405020304" pitchFamily="18" charset="0"/>
                    <a:cs typeface="Times New Roman" panose="02020603050405020304" pitchFamily="18" charset="0"/>
                  </a:rPr>
                  <a:t>) &lt;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𝑢</m:t>
                        </m:r>
                      </m:e>
                      <m:sub>
                        <m:r>
                          <a:rPr lang="en-US" i="1" smtClean="0">
                            <a:latin typeface="Cambria Math" panose="02040503050406030204" pitchFamily="18" charset="0"/>
                            <a:ea typeface="Cambria Math" panose="02040503050406030204" pitchFamily="18" charset="0"/>
                            <a:cs typeface="Times New Roman" panose="02020603050405020304" pitchFamily="18" charset="0"/>
                          </a:rPr>
                          <m:t>𝛼</m:t>
                        </m:r>
                      </m:sub>
                    </m:sSub>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𝑡</m:t>
                        </m:r>
                      </m:e>
                    </m:d>
                    <m:r>
                      <a:rPr lang="en-US" b="0" i="1" smtClean="0">
                        <a:latin typeface="Cambria Math" panose="02040503050406030204" pitchFamily="18" charset="0"/>
                        <a:cs typeface="Times New Roman" panose="02020603050405020304" pitchFamily="18" charset="0"/>
                      </a:rPr>
                      <m:t>+ </m:t>
                    </m:r>
                    <m:sSubSup>
                      <m:sSubSupPr>
                        <m:ctrlPr>
                          <a:rPr lang="en-US" b="0" i="1" smtClean="0">
                            <a:latin typeface="Cambria Math" panose="02040503050406030204" pitchFamily="18" charset="0"/>
                            <a:cs typeface="Times New Roman" panose="02020603050405020304" pitchFamily="18" charset="0"/>
                          </a:rPr>
                        </m:ctrlPr>
                      </m:sSubSupPr>
                      <m:e>
                        <m:d>
                          <m:dPr>
                            <m:begChr m:val="‖"/>
                            <m:endChr m:val="‖"/>
                            <m:ctrlPr>
                              <a:rPr lang="en-US" b="0" i="1" smtClean="0">
                                <a:latin typeface="Cambria Math" panose="02040503050406030204" pitchFamily="18" charset="0"/>
                                <a:cs typeface="Times New Roman" panose="02020603050405020304" pitchFamily="18" charset="0"/>
                              </a:rPr>
                            </m:ctrlPr>
                          </m:dPr>
                          <m:e>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𝑥</m:t>
                                </m:r>
                              </m:e>
                              <m:sub>
                                <m:r>
                                  <a:rPr lang="en-US" b="0" i="1" smtClean="0">
                                    <a:latin typeface="Cambria Math" panose="02040503050406030204" pitchFamily="18" charset="0"/>
                                    <a:cs typeface="Times New Roman" panose="02020603050405020304" pitchFamily="18" charset="0"/>
                                  </a:rPr>
                                  <m:t>𝑖</m:t>
                                </m:r>
                              </m:sub>
                            </m:sSub>
                          </m:e>
                        </m:d>
                      </m:e>
                      <m:sub>
                        <m:r>
                          <a:rPr lang="en-US" b="0" i="1" smtClean="0">
                            <a:latin typeface="Cambria Math" panose="02040503050406030204" pitchFamily="18" charset="0"/>
                            <a:cs typeface="Times New Roman" panose="02020603050405020304" pitchFamily="18" charset="0"/>
                          </a:rPr>
                          <m:t>2</m:t>
                        </m:r>
                      </m:sub>
                      <m:sup>
                        <m:r>
                          <a:rPr lang="en-US" b="0" i="1" smtClean="0">
                            <a:latin typeface="Cambria Math" panose="02040503050406030204" pitchFamily="18" charset="0"/>
                            <a:cs typeface="Times New Roman" panose="02020603050405020304" pitchFamily="18" charset="0"/>
                          </a:rPr>
                          <m:t>2</m:t>
                        </m:r>
                      </m:sup>
                    </m:sSubSup>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ea typeface="Cambria Math" panose="02040503050406030204" pitchFamily="18" charset="0"/>
                        <a:cs typeface="Times New Roman" panose="02020603050405020304" pitchFamily="18" charset="0"/>
                      </a:rPr>
                      <m:t>𝛼</m:t>
                    </m:r>
                    <m:sSub>
                      <m:sSub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𝑦</m:t>
                        </m:r>
                      </m:e>
                      <m:sub>
                        <m:r>
                          <a:rPr lang="en-US" b="0" i="1" smtClean="0">
                            <a:latin typeface="Cambria Math" panose="02040503050406030204" pitchFamily="18" charset="0"/>
                            <a:ea typeface="Cambria Math" panose="02040503050406030204" pitchFamily="18" charset="0"/>
                            <a:cs typeface="Times New Roman" panose="02020603050405020304" pitchFamily="18" charset="0"/>
                          </a:rPr>
                          <m:t>𝑖</m:t>
                        </m:r>
                      </m:sub>
                    </m:sSub>
                    <m:sSubSup>
                      <m:sSub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𝑥</m:t>
                        </m:r>
                      </m:e>
                      <m:sub>
                        <m:r>
                          <a:rPr lang="en-US" b="0" i="1" smtClean="0">
                            <a:latin typeface="Cambria Math" panose="02040503050406030204" pitchFamily="18" charset="0"/>
                            <a:ea typeface="Cambria Math" panose="02040503050406030204" pitchFamily="18" charset="0"/>
                            <a:cs typeface="Times New Roman" panose="02020603050405020304" pitchFamily="18" charset="0"/>
                          </a:rPr>
                          <m:t>𝑖</m:t>
                        </m:r>
                      </m:sub>
                      <m:sup>
                        <m:r>
                          <a:rPr lang="en-US" b="0" i="1" smtClean="0">
                            <a:latin typeface="Cambria Math" panose="02040503050406030204" pitchFamily="18" charset="0"/>
                            <a:ea typeface="Cambria Math" panose="02040503050406030204" pitchFamily="18" charset="0"/>
                            <a:cs typeface="Times New Roman" panose="02020603050405020304" pitchFamily="18" charset="0"/>
                          </a:rPr>
                          <m:t>𝑇</m:t>
                        </m:r>
                      </m:sup>
                    </m:sSubSup>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𝑤</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m:t>
                        </m:r>
                      </m:sup>
                    </m:sSup>
                  </m:oMath>
                </a14:m>
                <a:endParaRPr lang="en-US" dirty="0" smtClean="0">
                  <a:latin typeface="Times New Roman" panose="02020603050405020304" pitchFamily="18" charset="0"/>
                  <a:cs typeface="Times New Roman" panose="02020603050405020304" pitchFamily="18" charset="0"/>
                </a:endParaRPr>
              </a:p>
              <a:p>
                <a:r>
                  <a:rPr lang="en-US" dirty="0" err="1" smtClean="0">
                    <a:latin typeface="Times New Roman" panose="02020603050405020304" pitchFamily="18" charset="0"/>
                    <a:cs typeface="Times New Roman" panose="02020603050405020304" pitchFamily="18" charset="0"/>
                  </a:rPr>
                  <a:t>Dấu</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nhỏ</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hơn</a:t>
                </a:r>
                <a:r>
                  <a:rPr lang="en-US" dirty="0" smtClean="0">
                    <a:latin typeface="Times New Roman" panose="02020603050405020304" pitchFamily="18" charset="0"/>
                    <a:cs typeface="Times New Roman" panose="02020603050405020304" pitchFamily="18" charset="0"/>
                  </a:rPr>
                  <a:t> ở </a:t>
                </a:r>
                <a:r>
                  <a:rPr lang="en-US" dirty="0" err="1" smtClean="0">
                    <a:latin typeface="Times New Roman" panose="02020603050405020304" pitchFamily="18" charset="0"/>
                    <a:cs typeface="Times New Roman" panose="02020603050405020304" pitchFamily="18" charset="0"/>
                  </a:rPr>
                  <a:t>dòng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cuối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vì</a:t>
                </a:r>
                <a:r>
                  <a:rPr lang="en-US" dirty="0" smtClean="0">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i="1" smtClean="0">
                            <a:latin typeface="Cambria Math" panose="02040503050406030204" pitchFamily="18" charset="0"/>
                            <a:cs typeface="Times New Roman" panose="02020603050405020304" pitchFamily="18" charset="0"/>
                          </a:rPr>
                        </m:ctrlPr>
                      </m:sSubSupPr>
                      <m:e>
                        <m:r>
                          <a:rPr lang="en-US" b="0" i="1" smtClean="0">
                            <a:latin typeface="Cambria Math" panose="02040503050406030204" pitchFamily="18" charset="0"/>
                            <a:cs typeface="Times New Roman" panose="02020603050405020304" pitchFamily="18" charset="0"/>
                          </a:rPr>
                          <m:t>𝑦</m:t>
                        </m:r>
                      </m:e>
                      <m:sub>
                        <m:r>
                          <a:rPr lang="en-US" b="0" i="1" smtClean="0">
                            <a:latin typeface="Cambria Math" panose="02040503050406030204" pitchFamily="18" charset="0"/>
                            <a:cs typeface="Times New Roman" panose="02020603050405020304" pitchFamily="18" charset="0"/>
                          </a:rPr>
                          <m:t>𝑖</m:t>
                        </m:r>
                      </m:sub>
                      <m:sup>
                        <m:r>
                          <a:rPr lang="en-US" b="0" i="1" smtClean="0">
                            <a:latin typeface="Cambria Math" panose="02040503050406030204" pitchFamily="18" charset="0"/>
                            <a:cs typeface="Times New Roman" panose="02020603050405020304" pitchFamily="18" charset="0"/>
                          </a:rPr>
                          <m:t>2</m:t>
                        </m:r>
                      </m:sup>
                    </m:sSubSup>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1</m:t>
                    </m:r>
                    <m:r>
                      <a:rPr lang="en-US" b="0" i="1" smtClean="0">
                        <a:latin typeface="Cambria Math" panose="02040503050406030204" pitchFamily="18" charset="0"/>
                        <a:cs typeface="Times New Roman" panose="02020603050405020304" pitchFamily="18" charset="0"/>
                      </a:rPr>
                      <m:t> </m:t>
                    </m:r>
                  </m:oMath>
                </a14:m>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14:m>
                  <m:oMath xmlns:m="http://schemas.openxmlformats.org/officeDocument/2006/math">
                    <m:r>
                      <a:rPr lang="en-US" b="0" i="1" smtClean="0">
                        <a:latin typeface="Cambria Math" panose="02040503050406030204" pitchFamily="18" charset="0"/>
                        <a:cs typeface="Times New Roman" panose="02020603050405020304" pitchFamily="18" charset="0"/>
                      </a:rPr>
                      <m:t>2</m:t>
                    </m:r>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𝑦</m:t>
                        </m:r>
                      </m:e>
                      <m:sub>
                        <m:r>
                          <a:rPr lang="en-US" b="0" i="1" smtClean="0">
                            <a:latin typeface="Cambria Math" panose="02040503050406030204" pitchFamily="18" charset="0"/>
                            <a:cs typeface="Times New Roman" panose="02020603050405020304" pitchFamily="18" charset="0"/>
                          </a:rPr>
                          <m:t>𝑖</m:t>
                        </m:r>
                      </m:sub>
                    </m:sSub>
                    <m:sSubSup>
                      <m:sSubSupPr>
                        <m:ctrlPr>
                          <a:rPr lang="en-US" b="0" i="1" smtClean="0">
                            <a:latin typeface="Cambria Math" panose="02040503050406030204" pitchFamily="18" charset="0"/>
                            <a:cs typeface="Times New Roman" panose="02020603050405020304" pitchFamily="18" charset="0"/>
                          </a:rPr>
                        </m:ctrlPr>
                      </m:sSubSupPr>
                      <m:e>
                        <m:r>
                          <a:rPr lang="en-US" b="0" i="1" smtClean="0">
                            <a:latin typeface="Cambria Math" panose="02040503050406030204" pitchFamily="18" charset="0"/>
                            <a:cs typeface="Times New Roman" panose="02020603050405020304" pitchFamily="18" charset="0"/>
                          </a:rPr>
                          <m:t>𝑥</m:t>
                        </m:r>
                      </m:e>
                      <m:sub>
                        <m:r>
                          <a:rPr lang="en-US" b="0" i="1" smtClean="0">
                            <a:latin typeface="Cambria Math" panose="02040503050406030204" pitchFamily="18" charset="0"/>
                            <a:cs typeface="Times New Roman" panose="02020603050405020304" pitchFamily="18" charset="0"/>
                          </a:rPr>
                          <m:t>𝑖</m:t>
                        </m:r>
                      </m:sub>
                      <m:sup>
                        <m:r>
                          <a:rPr lang="en-US" b="0" i="1" smtClean="0">
                            <a:latin typeface="Cambria Math" panose="02040503050406030204" pitchFamily="18" charset="0"/>
                            <a:cs typeface="Times New Roman" panose="02020603050405020304" pitchFamily="18" charset="0"/>
                          </a:rPr>
                          <m:t>𝑇</m:t>
                        </m:r>
                      </m:sup>
                    </m:sSubSup>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𝑤</m:t>
                        </m:r>
                      </m:e>
                      <m:sub>
                        <m:r>
                          <a:rPr lang="en-US" b="0" i="1" smtClean="0">
                            <a:latin typeface="Cambria Math" panose="02040503050406030204" pitchFamily="18" charset="0"/>
                            <a:cs typeface="Times New Roman" panose="02020603050405020304" pitchFamily="18" charset="0"/>
                          </a:rPr>
                          <m:t>𝑡</m:t>
                        </m:r>
                      </m:sub>
                    </m:sSub>
                    <m:r>
                      <a:rPr lang="en-US" b="0" i="1" smtClean="0">
                        <a:latin typeface="Cambria Math" panose="02040503050406030204" pitchFamily="18" charset="0"/>
                        <a:cs typeface="Times New Roman" panose="02020603050405020304" pitchFamily="18" charset="0"/>
                      </a:rPr>
                      <m:t>&lt;</m:t>
                    </m:r>
                    <m:r>
                      <a:rPr lang="en-US" b="0" i="1" smtClean="0">
                        <a:latin typeface="Cambria Math" panose="02040503050406030204" pitchFamily="18" charset="0"/>
                        <a:cs typeface="Times New Roman" panose="02020603050405020304" pitchFamily="18" charset="0"/>
                      </a:rPr>
                      <m:t>0</m:t>
                    </m:r>
                    <m:r>
                      <a:rPr lang="en-US" b="0" i="1" smtClean="0">
                        <a:latin typeface="Cambria Math" panose="02040503050406030204" pitchFamily="18" charset="0"/>
                        <a:cs typeface="Times New Roman" panose="02020603050405020304" pitchFamily="18" charset="0"/>
                      </a:rPr>
                      <m:t>.</m:t>
                    </m:r>
                  </m:oMath>
                </a14:m>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Nếu</a:t>
                </a:r>
                <a:r>
                  <a:rPr lang="en-US" dirty="0" smtClean="0">
                    <a:latin typeface="Times New Roman" panose="02020603050405020304" pitchFamily="18" charset="0"/>
                    <a:cs typeface="Times New Roman" panose="02020603050405020304" pitchFamily="18" charset="0"/>
                  </a:rPr>
                  <a:t> ta </a:t>
                </a:r>
                <a:r>
                  <a:rPr lang="en-US" dirty="0" err="1" smtClean="0">
                    <a:latin typeface="Times New Roman" panose="02020603050405020304" pitchFamily="18" charset="0"/>
                    <a:cs typeface="Times New Roman" panose="02020603050405020304" pitchFamily="18" charset="0"/>
                  </a:rPr>
                  <a:t>đặt</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cs typeface="Times New Roman" panose="02020603050405020304" pitchFamily="18" charset="0"/>
                            </a:rPr>
                          </m:ctrlPr>
                        </m:sSupPr>
                        <m:e>
                          <m:r>
                            <a:rPr lang="en-US" i="1" smtClean="0">
                              <a:latin typeface="Cambria Math" panose="02040503050406030204" pitchFamily="18" charset="0"/>
                              <a:ea typeface="Cambria Math" panose="02040503050406030204" pitchFamily="18" charset="0"/>
                              <a:cs typeface="Times New Roman" panose="02020603050405020304" pitchFamily="18" charset="0"/>
                            </a:rPr>
                            <m:t>𝛽</m:t>
                          </m:r>
                        </m:e>
                        <m:sup>
                          <m:r>
                            <a:rPr lang="en-US" b="0" i="1" smtClean="0">
                              <a:latin typeface="Cambria Math" panose="02040503050406030204" pitchFamily="18" charset="0"/>
                              <a:cs typeface="Times New Roman" panose="02020603050405020304" pitchFamily="18" charset="0"/>
                            </a:rPr>
                            <m:t>2</m:t>
                          </m:r>
                        </m:sup>
                      </m:sSup>
                      <m:r>
                        <a:rPr lang="en-US" b="0" i="1" smtClean="0">
                          <a:latin typeface="Cambria Math" panose="02040503050406030204" pitchFamily="18" charset="0"/>
                          <a:cs typeface="Times New Roman" panose="02020603050405020304" pitchFamily="18" charset="0"/>
                        </a:rPr>
                        <m:t>= </m:t>
                      </m:r>
                      <m:m>
                        <m:mPr>
                          <m:mcs>
                            <m:mc>
                              <m:mcPr>
                                <m:count m:val="1"/>
                                <m:mcJc m:val="center"/>
                              </m:mcPr>
                            </m:mc>
                          </m:mcs>
                          <m:ctrlPr>
                            <a:rPr lang="en-US" b="0" i="1" smtClean="0">
                              <a:latin typeface="Cambria Math" panose="02040503050406030204" pitchFamily="18" charset="0"/>
                              <a:cs typeface="Times New Roman" panose="02020603050405020304" pitchFamily="18" charset="0"/>
                            </a:rPr>
                          </m:ctrlPr>
                        </m:mPr>
                        <m:mr>
                          <m:e>
                            <m:r>
                              <m:rPr>
                                <m:brk m:alnAt="7"/>
                              </m:rPr>
                              <a:rPr lang="en-US" b="0" i="1" smtClean="0">
                                <a:latin typeface="Cambria Math" panose="02040503050406030204" pitchFamily="18" charset="0"/>
                                <a:cs typeface="Times New Roman" panose="02020603050405020304" pitchFamily="18" charset="0"/>
                              </a:rPr>
                              <m:t>𝑚</m:t>
                            </m:r>
                            <m:r>
                              <a:rPr lang="en-US" b="0" i="1" smtClean="0">
                                <a:latin typeface="Cambria Math" panose="02040503050406030204" pitchFamily="18" charset="0"/>
                                <a:cs typeface="Times New Roman" panose="02020603050405020304" pitchFamily="18" charset="0"/>
                              </a:rPr>
                              <m:t>𝑎𝑥</m:t>
                            </m:r>
                          </m:e>
                        </m:mr>
                        <m:mr>
                          <m:e>
                            <m:r>
                              <a:rPr lang="en-US" b="0" i="1" smtClean="0">
                                <a:latin typeface="Cambria Math" panose="02040503050406030204" pitchFamily="18" charset="0"/>
                                <a:cs typeface="Times New Roman" panose="02020603050405020304" pitchFamily="18" charset="0"/>
                              </a:rPr>
                              <m:t>𝑖</m:t>
                            </m:r>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1</m:t>
                            </m:r>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𝑁</m:t>
                            </m:r>
                          </m:e>
                        </m:mr>
                      </m:m>
                      <m:sSubSup>
                        <m:sSubSupPr>
                          <m:ctrlPr>
                            <a:rPr lang="en-US" b="0" i="1" smtClean="0">
                              <a:latin typeface="Cambria Math" panose="02040503050406030204" pitchFamily="18" charset="0"/>
                              <a:cs typeface="Times New Roman" panose="02020603050405020304" pitchFamily="18" charset="0"/>
                            </a:rPr>
                          </m:ctrlPr>
                        </m:sSubSupPr>
                        <m:e>
                          <m:d>
                            <m:dPr>
                              <m:begChr m:val="‖"/>
                              <m:endChr m:val="‖"/>
                              <m:ctrlPr>
                                <a:rPr lang="en-US" b="0" i="1" smtClean="0">
                                  <a:latin typeface="Cambria Math" panose="02040503050406030204" pitchFamily="18" charset="0"/>
                                  <a:cs typeface="Times New Roman" panose="02020603050405020304" pitchFamily="18" charset="0"/>
                                </a:rPr>
                              </m:ctrlPr>
                            </m:dPr>
                            <m:e>
                              <m:sSub>
                                <m:sSubPr>
                                  <m:ctrlPr>
                                    <a:rPr lang="en-US" b="0"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𝑥</m:t>
                                  </m:r>
                                </m:e>
                                <m:sub>
                                  <m:r>
                                    <a:rPr lang="en-US" b="0" i="1" smtClean="0">
                                      <a:latin typeface="Cambria Math" panose="02040503050406030204" pitchFamily="18" charset="0"/>
                                      <a:cs typeface="Times New Roman" panose="02020603050405020304" pitchFamily="18" charset="0"/>
                                    </a:rPr>
                                    <m:t>𝑖</m:t>
                                  </m:r>
                                </m:sub>
                              </m:sSub>
                            </m:e>
                          </m:d>
                        </m:e>
                        <m:sub>
                          <m:r>
                            <a:rPr lang="en-US" b="0" i="1" smtClean="0">
                              <a:latin typeface="Cambria Math" panose="02040503050406030204" pitchFamily="18" charset="0"/>
                              <a:cs typeface="Times New Roman" panose="02020603050405020304" pitchFamily="18" charset="0"/>
                            </a:rPr>
                            <m:t>2</m:t>
                          </m:r>
                        </m:sub>
                        <m:sup>
                          <m:r>
                            <a:rPr lang="en-US" b="0" i="1" smtClean="0">
                              <a:latin typeface="Cambria Math" panose="02040503050406030204" pitchFamily="18" charset="0"/>
                              <a:cs typeface="Times New Roman" panose="02020603050405020304" pitchFamily="18" charset="0"/>
                            </a:rPr>
                            <m:t>2</m:t>
                          </m:r>
                        </m:sup>
                      </m:sSubSup>
                    </m:oMath>
                  </m:oMathPara>
                </a14:m>
                <a:endParaRPr lang="en-US" b="0" dirty="0" smtClean="0">
                  <a:latin typeface="Times New Roman" panose="02020603050405020304" pitchFamily="18" charset="0"/>
                  <a:cs typeface="Times New Roman" panose="02020603050405020304" pitchFamily="18" charset="0"/>
                </a:endParaRPr>
              </a:p>
              <a:p>
                <a:endParaRPr lang="en-US" b="0" dirty="0" smtClean="0">
                  <a:latin typeface="Times New Roman" panose="020206030504050203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Times New Roman" panose="02020603050405020304" pitchFamily="18" charset="0"/>
                        </a:rPr>
                        <m:t>𝛾</m:t>
                      </m:r>
                      <m:r>
                        <a:rPr lang="en-US" b="0" i="1" smtClean="0">
                          <a:latin typeface="Cambria Math" panose="02040503050406030204" pitchFamily="18" charset="0"/>
                          <a:ea typeface="Cambria Math" panose="02040503050406030204" pitchFamily="18" charset="0"/>
                          <a:cs typeface="Times New Roman" panose="02020603050405020304" pitchFamily="18" charset="0"/>
                        </a:rPr>
                        <m:t>= </m:t>
                      </m:r>
                      <m:m>
                        <m:mPr>
                          <m:mcs>
                            <m:mc>
                              <m:mcPr>
                                <m:count m:val="1"/>
                                <m:mcJc m:val="center"/>
                              </m:mcPr>
                            </m:mc>
                          </m:mcs>
                          <m:ctrlPr>
                            <a:rPr lang="en-US" i="1">
                              <a:latin typeface="Cambria Math" panose="02040503050406030204" pitchFamily="18" charset="0"/>
                              <a:cs typeface="Times New Roman" panose="02020603050405020304" pitchFamily="18" charset="0"/>
                            </a:rPr>
                          </m:ctrlPr>
                        </m:mPr>
                        <m:mr>
                          <m:e>
                            <m:r>
                              <m:rPr>
                                <m:brk m:alnAt="7"/>
                              </m:rPr>
                              <a:rPr lang="en-US" i="1">
                                <a:latin typeface="Cambria Math" panose="02040503050406030204" pitchFamily="18" charset="0"/>
                                <a:cs typeface="Times New Roman" panose="02020603050405020304" pitchFamily="18" charset="0"/>
                              </a:rPr>
                              <m:t>𝑚</m:t>
                            </m:r>
                            <m:r>
                              <a:rPr lang="en-US" b="0" i="1" smtClean="0">
                                <a:latin typeface="Cambria Math" panose="02040503050406030204" pitchFamily="18" charset="0"/>
                                <a:cs typeface="Times New Roman" panose="02020603050405020304" pitchFamily="18" charset="0"/>
                              </a:rPr>
                              <m:t>𝑖𝑛</m:t>
                            </m:r>
                          </m:e>
                        </m:mr>
                        <m:mr>
                          <m:e>
                            <m:r>
                              <a:rPr lang="en-US" i="1">
                                <a:latin typeface="Cambria Math" panose="02040503050406030204" pitchFamily="18" charset="0"/>
                                <a:cs typeface="Times New Roman" panose="02020603050405020304" pitchFamily="18" charset="0"/>
                              </a:rPr>
                              <m:t>𝑖</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1</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2</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𝑁</m:t>
                            </m:r>
                          </m:e>
                        </m:mr>
                      </m:m>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𝑦</m:t>
                          </m:r>
                        </m:e>
                        <m:sub>
                          <m:r>
                            <a:rPr lang="en-US" b="0" i="1" smtClean="0">
                              <a:latin typeface="Cambria Math" panose="02040503050406030204" pitchFamily="18" charset="0"/>
                              <a:cs typeface="Times New Roman" panose="02020603050405020304" pitchFamily="18" charset="0"/>
                            </a:rPr>
                            <m:t>𝑖</m:t>
                          </m:r>
                        </m:sub>
                      </m:sSub>
                      <m:sSubSup>
                        <m:sSubSupPr>
                          <m:ctrlPr>
                            <a:rPr lang="en-US" i="1" smtClean="0">
                              <a:latin typeface="Cambria Math" panose="02040503050406030204" pitchFamily="18" charset="0"/>
                              <a:cs typeface="Times New Roman" panose="02020603050405020304" pitchFamily="18" charset="0"/>
                            </a:rPr>
                          </m:ctrlPr>
                        </m:sSubSupPr>
                        <m:e>
                          <m:r>
                            <a:rPr lang="en-US" b="0" i="1" smtClean="0">
                              <a:latin typeface="Cambria Math" panose="02040503050406030204" pitchFamily="18" charset="0"/>
                              <a:cs typeface="Times New Roman" panose="02020603050405020304" pitchFamily="18" charset="0"/>
                            </a:rPr>
                            <m:t>𝑥</m:t>
                          </m:r>
                        </m:e>
                        <m:sub>
                          <m:r>
                            <a:rPr lang="en-US" b="0" i="1" smtClean="0">
                              <a:latin typeface="Cambria Math" panose="02040503050406030204" pitchFamily="18" charset="0"/>
                              <a:cs typeface="Times New Roman" panose="02020603050405020304" pitchFamily="18" charset="0"/>
                            </a:rPr>
                            <m:t>𝑖</m:t>
                          </m:r>
                        </m:sub>
                        <m:sup>
                          <m:r>
                            <a:rPr lang="en-US" b="0" i="1" smtClean="0">
                              <a:latin typeface="Cambria Math" panose="02040503050406030204" pitchFamily="18" charset="0"/>
                              <a:cs typeface="Times New Roman" panose="02020603050405020304" pitchFamily="18" charset="0"/>
                            </a:rPr>
                            <m:t>𝑇</m:t>
                          </m:r>
                        </m:sup>
                      </m:sSubSup>
                      <m:sSup>
                        <m:sSupPr>
                          <m:ctrlPr>
                            <a:rPr lang="en-US"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𝑤</m:t>
                          </m:r>
                        </m:e>
                        <m:sup>
                          <m:r>
                            <a:rPr lang="en-US" b="0" i="1" smtClean="0">
                              <a:latin typeface="Cambria Math" panose="02040503050406030204" pitchFamily="18" charset="0"/>
                              <a:cs typeface="Times New Roman" panose="02020603050405020304" pitchFamily="18" charset="0"/>
                            </a:rPr>
                            <m:t>∗</m:t>
                          </m:r>
                        </m:sup>
                      </m:sSup>
                    </m:oMath>
                  </m:oMathPara>
                </a14:m>
                <a:endParaRPr lang="en-US" b="0" dirty="0" smtClean="0">
                  <a:latin typeface="Times New Roman" panose="02020603050405020304" pitchFamily="18" charset="0"/>
                  <a:cs typeface="Times New Roman" panose="02020603050405020304" pitchFamily="18" charset="0"/>
                </a:endParaRPr>
              </a:p>
              <a:p>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chọn</a:t>
                </a:r>
                <a:r>
                  <a:rPr lang="en-US" dirty="0" smtClean="0">
                    <a:latin typeface="Times New Roman" panose="02020603050405020304" pitchFamily="18" charset="0"/>
                    <a:cs typeface="Times New Roman" panose="020206030504050203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𝛼</m:t>
                    </m:r>
                    <m:r>
                      <a:rPr lang="en-US" b="0" i="1" smtClean="0">
                        <a:latin typeface="Cambria Math" panose="02040503050406030204" pitchFamily="18" charset="0"/>
                        <a:ea typeface="Cambria Math" panose="02040503050406030204" pitchFamily="18" charset="0"/>
                        <a:cs typeface="Times New Roman" panose="02020603050405020304" pitchFamily="18" charset="0"/>
                      </a:rPr>
                      <m:t>= </m:t>
                    </m:r>
                    <m:f>
                      <m:f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𝛽</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b="0" i="1" smtClean="0">
                            <a:latin typeface="Cambria Math" panose="02040503050406030204" pitchFamily="18" charset="0"/>
                            <a:ea typeface="Cambria Math" panose="02040503050406030204" pitchFamily="18" charset="0"/>
                            <a:cs typeface="Times New Roman" panose="02020603050405020304" pitchFamily="18" charset="0"/>
                          </a:rPr>
                          <m:t>𝛾</m:t>
                        </m:r>
                      </m:den>
                    </m:f>
                  </m:oMath>
                </a14:m>
                <a:r>
                  <a:rPr lang="en-US" b="0" dirty="0" smtClean="0">
                    <a:latin typeface="Times New Roman" panose="02020603050405020304" pitchFamily="18" charset="0"/>
                    <a:cs typeface="Times New Roman" panose="02020603050405020304" pitchFamily="18" charset="0"/>
                  </a:rPr>
                  <a:t>, ta </a:t>
                </a:r>
                <a:r>
                  <a:rPr lang="en-US" b="0" dirty="0" err="1" smtClean="0">
                    <a:latin typeface="Times New Roman" panose="02020603050405020304" pitchFamily="18" charset="0"/>
                    <a:cs typeface="Times New Roman" panose="02020603050405020304" pitchFamily="18" charset="0"/>
                  </a:rPr>
                  <a:t>có</a:t>
                </a:r>
                <a:r>
                  <a:rPr lang="en-US" b="0" dirty="0" smtClean="0">
                    <a:latin typeface="Times New Roman" panose="02020603050405020304" pitchFamily="18" charset="0"/>
                    <a:cs typeface="Times New Roman" panose="02020603050405020304" pitchFamily="18" charset="0"/>
                  </a:rPr>
                  <a:t>:</a:t>
                </a:r>
                <a:endParaRPr lang="en-US" b="0" dirty="0" smtClean="0">
                  <a:latin typeface="Times New Roman" panose="020206030504050203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panose="02020603050405020304" pitchFamily="18" charset="0"/>
                        </a:rPr>
                        <m:t>0</m:t>
                      </m:r>
                      <m:r>
                        <a:rPr lang="en-US" b="0" i="1" smtClean="0">
                          <a:latin typeface="Cambria Math" panose="02040503050406030204" pitchFamily="18" charset="0"/>
                          <a:cs typeface="Times New Roman" panose="02020603050405020304" pitchFamily="18" charset="0"/>
                        </a:rPr>
                        <m:t> </m:t>
                      </m:r>
                      <m:r>
                        <a:rPr lang="en-US"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𝑢</m:t>
                          </m:r>
                        </m:e>
                        <m:sub>
                          <m:r>
                            <a:rPr lang="en-US" b="0" i="1" smtClean="0">
                              <a:latin typeface="Cambria Math" panose="02040503050406030204" pitchFamily="18" charset="0"/>
                              <a:ea typeface="Cambria Math" panose="02040503050406030204" pitchFamily="18" charset="0"/>
                              <a:cs typeface="Times New Roman" panose="02020603050405020304" pitchFamily="18" charset="0"/>
                            </a:rPr>
                            <m:t>𝛼</m:t>
                          </m:r>
                        </m:sub>
                      </m:sSub>
                      <m:d>
                        <m:d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𝑡</m:t>
                          </m:r>
                          <m:r>
                            <a:rPr lang="en-US" b="0" i="1" smtClean="0">
                              <a:latin typeface="Cambria Math" panose="02040503050406030204" pitchFamily="18" charset="0"/>
                              <a:ea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1</m:t>
                          </m:r>
                        </m:e>
                      </m:d>
                      <m:r>
                        <a:rPr lang="en-US" b="0" i="1" smtClean="0">
                          <a:latin typeface="Cambria Math" panose="02040503050406030204" pitchFamily="18" charset="0"/>
                          <a:ea typeface="Cambria Math" panose="02040503050406030204" pitchFamily="18" charset="0"/>
                          <a:cs typeface="Times New Roman" panose="02020603050405020304" pitchFamily="18" charset="0"/>
                        </a:rPr>
                        <m:t>&lt;</m:t>
                      </m:r>
                      <m:sSub>
                        <m:sSub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𝑢</m:t>
                          </m:r>
                        </m:e>
                        <m:sub>
                          <m:r>
                            <a:rPr lang="en-US" b="0" i="1" smtClean="0">
                              <a:latin typeface="Cambria Math" panose="02040503050406030204" pitchFamily="18" charset="0"/>
                              <a:ea typeface="Cambria Math" panose="02040503050406030204" pitchFamily="18" charset="0"/>
                              <a:cs typeface="Times New Roman" panose="02020603050405020304" pitchFamily="18" charset="0"/>
                            </a:rPr>
                            <m:t>𝛼</m:t>
                          </m:r>
                        </m:sub>
                      </m:sSub>
                      <m:d>
                        <m:d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𝑡</m:t>
                          </m:r>
                        </m:e>
                      </m:d>
                      <m:r>
                        <a:rPr lang="en-US" b="0" i="1" smtClean="0">
                          <a:latin typeface="Cambria Math" panose="02040503050406030204" pitchFamily="18" charset="0"/>
                          <a:ea typeface="Cambria Math" panose="02040503050406030204" pitchFamily="18" charset="0"/>
                          <a:cs typeface="Times New Roman" panose="02020603050405020304" pitchFamily="18" charset="0"/>
                        </a:rPr>
                        <m:t>+ </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𝛽</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b="0" i="1" smtClean="0">
                          <a:latin typeface="Cambria Math" panose="02040503050406030204" pitchFamily="18" charset="0"/>
                          <a:ea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2</m:t>
                      </m:r>
                      <m:r>
                        <a:rPr lang="en-US" b="0" i="1" smtClean="0">
                          <a:latin typeface="Cambria Math" panose="02040503050406030204" pitchFamily="18" charset="0"/>
                          <a:ea typeface="Cambria Math" panose="02040503050406030204" pitchFamily="18" charset="0"/>
                          <a:cs typeface="Times New Roman" panose="02020603050405020304" pitchFamily="18" charset="0"/>
                        </a:rPr>
                        <m:t>𝛼𝛾</m:t>
                      </m:r>
                      <m:r>
                        <a:rPr lang="en-US"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𝑢</m:t>
                          </m:r>
                        </m:e>
                        <m:sub>
                          <m:r>
                            <a:rPr lang="en-US" b="0" i="1" smtClean="0">
                              <a:latin typeface="Cambria Math" panose="02040503050406030204" pitchFamily="18" charset="0"/>
                              <a:ea typeface="Cambria Math" panose="02040503050406030204" pitchFamily="18" charset="0"/>
                              <a:cs typeface="Times New Roman" panose="02020603050405020304" pitchFamily="18" charset="0"/>
                            </a:rPr>
                            <m:t>𝛼</m:t>
                          </m:r>
                        </m:sub>
                      </m:sSub>
                      <m:d>
                        <m:d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𝑡</m:t>
                          </m:r>
                        </m:e>
                      </m:d>
                      <m:r>
                        <a:rPr lang="en-US"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𝛽</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US" b="0" dirty="0" smtClean="0">
                  <a:latin typeface="Times New Roman" panose="02020603050405020304" pitchFamily="18" charset="0"/>
                  <a:cs typeface="Times New Roman" panose="02020603050405020304" pitchFamily="18" charset="0"/>
                </a:endParaRPr>
              </a:p>
            </p:txBody>
          </p:sp>
        </mc:Choice>
        <mc:Fallback>
          <p:sp>
            <p:nvSpPr>
              <p:cNvPr id="2" name="TextBox 1"/>
              <p:cNvSpPr txBox="1">
                <a:spLocks noRot="1" noChangeAspect="1" noMove="1" noResize="1" noEditPoints="1" noAdjustHandles="1" noChangeArrowheads="1" noChangeShapeType="1" noTextEdit="1"/>
              </p:cNvSpPr>
              <p:nvPr/>
            </p:nvSpPr>
            <p:spPr>
              <a:xfrm>
                <a:off x="603594" y="883920"/>
                <a:ext cx="8194966" cy="3364230"/>
              </a:xfrm>
              <a:prstGeom prst="rect">
                <a:avLst/>
              </a:prstGeom>
              <a:blipFill rotWithShape="1">
                <a:blip r:embed="rId1"/>
                <a:stretch>
                  <a:fillRect l="-4" r="8"/>
                </a:stretch>
              </a:blipFill>
            </p:spPr>
            <p:txBody>
              <a:bodyPr/>
              <a:lstStyle/>
              <a:p>
                <a:r>
                  <a:rPr lang="en-US" altLang="en-US">
                    <a:noFill/>
                  </a:rPr>
                  <a:t> </a:t>
                </a:r>
              </a:p>
            </p:txBody>
          </p:sp>
        </mc:Fallback>
      </mc:AlternateContent>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8" name="Google Shape;495;p61"/>
          <p:cNvSpPr txBox="1">
            <a:spLocks noGrp="1"/>
          </p:cNvSpPr>
          <p:nvPr>
            <p:ph type="subTitle" idx="4294967295"/>
          </p:nvPr>
        </p:nvSpPr>
        <p:spPr>
          <a:xfrm>
            <a:off x="603885" y="441960"/>
            <a:ext cx="6240145" cy="4013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2000" b="1" dirty="0">
                <a:latin typeface="Times New Roman" panose="02020603050405020304" pitchFamily="18" charset="0"/>
                <a:cs typeface="Times New Roman" panose="02020603050405020304" pitchFamily="18" charset="0"/>
              </a:rPr>
              <a:t>Ví dụ trên </a:t>
            </a:r>
            <a:r>
              <a:rPr lang="vi-VN" sz="2000" b="1" dirty="0">
                <a:latin typeface="Times New Roman" panose="02020603050405020304" pitchFamily="18" charset="0"/>
                <a:cs typeface="Times New Roman" panose="02020603050405020304" pitchFamily="18" charset="0"/>
              </a:rPr>
              <a:t>python</a:t>
            </a:r>
            <a:endParaRPr lang="vi-VN" sz="2000" b="1" dirty="0">
              <a:latin typeface="Times New Roman" panose="02020603050405020304" pitchFamily="18" charset="0"/>
              <a:cs typeface="Times New Roman" panose="02020603050405020304" pitchFamily="18" charset="0"/>
            </a:endParaRPr>
          </a:p>
        </p:txBody>
      </p:sp>
      <p:sp>
        <p:nvSpPr>
          <p:cNvPr id="10" name="Google Shape;503;p61"/>
          <p:cNvSpPr txBox="1">
            <a:spLocks noGrp="1"/>
          </p:cNvSpPr>
          <p:nvPr>
            <p:ph type="title" idx="4294967295"/>
          </p:nvPr>
        </p:nvSpPr>
        <p:spPr>
          <a:xfrm>
            <a:off x="-1" y="308718"/>
            <a:ext cx="718457" cy="5342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b="1" dirty="0" smtClean="0">
                <a:latin typeface="Times New Roman" panose="02020603050405020304" pitchFamily="18" charset="0"/>
                <a:cs typeface="Times New Roman" panose="02020603050405020304" pitchFamily="18" charset="0"/>
              </a:rPr>
              <a:t>0</a:t>
            </a:r>
            <a:r>
              <a:rPr lang="vi-VN" altLang="en-GB" sz="3600" b="1" dirty="0" smtClean="0">
                <a:latin typeface="Times New Roman" panose="02020603050405020304" pitchFamily="18" charset="0"/>
                <a:cs typeface="Times New Roman" panose="02020603050405020304" pitchFamily="18" charset="0"/>
              </a:rPr>
              <a:t>3</a:t>
            </a:r>
            <a:endParaRPr lang="vi-VN" altLang="en-GB" sz="3600" b="1" dirty="0" smtClean="0">
              <a:latin typeface="Times New Roman" panose="02020603050405020304" pitchFamily="18" charset="0"/>
              <a:cs typeface="Times New Roman" panose="02020603050405020304" pitchFamily="18" charset="0"/>
            </a:endParaRPr>
          </a:p>
        </p:txBody>
      </p:sp>
      <p:sp>
        <p:nvSpPr>
          <p:cNvPr id="17" name="AutoShape 12" descr="Đã tải lên ảnh"/>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inimalist Business Slides XL by Slidesgo">
  <a:themeElements>
    <a:clrScheme name="Simple Light">
      <a:dk1>
        <a:srgbClr val="000000"/>
      </a:dk1>
      <a:lt1>
        <a:srgbClr val="E3E7F0"/>
      </a:lt1>
      <a:dk2>
        <a:srgbClr val="000000"/>
      </a:dk2>
      <a:lt2>
        <a:srgbClr val="E3E7F0"/>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5089</Words>
  <Application>WPS Presentation</Application>
  <PresentationFormat>On-screen Show (16:9)</PresentationFormat>
  <Paragraphs>152</Paragraphs>
  <Slides>15</Slides>
  <Notes>28</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15</vt:i4>
      </vt:variant>
    </vt:vector>
  </HeadingPairs>
  <TitlesOfParts>
    <vt:vector size="33" baseType="lpstr">
      <vt:lpstr>Arial</vt:lpstr>
      <vt:lpstr>SimSun</vt:lpstr>
      <vt:lpstr>Wingdings</vt:lpstr>
      <vt:lpstr>Arial</vt:lpstr>
      <vt:lpstr>Vidaloka</vt:lpstr>
      <vt:lpstr>Montserrat</vt:lpstr>
      <vt:lpstr>Crimson Text</vt:lpstr>
      <vt:lpstr>Segoe Print</vt:lpstr>
      <vt:lpstr>Times New Roman</vt:lpstr>
      <vt:lpstr>Cambria Math</vt:lpstr>
      <vt:lpstr>Sitka Text</vt:lpstr>
      <vt:lpstr>Vidaloka</vt:lpstr>
      <vt:lpstr>Microsoft YaHei</vt:lpstr>
      <vt:lpstr>Arial Unicode MS</vt:lpstr>
      <vt:lpstr>Algerian</vt:lpstr>
      <vt:lpstr>Sitka Banner</vt:lpstr>
      <vt:lpstr>MS Mincho</vt:lpstr>
      <vt:lpstr>Minimalist Business Slides XL by Slidesgo</vt:lpstr>
      <vt:lpstr>Perceptron Learning Algorithm</vt:lpstr>
      <vt:lpstr>03</vt:lpstr>
      <vt:lpstr>01</vt:lpstr>
      <vt:lpstr>01</vt:lpstr>
      <vt:lpstr>01</vt:lpstr>
      <vt:lpstr>02</vt:lpstr>
      <vt:lpstr>02</vt:lpstr>
      <vt:lpstr>02</vt:lpstr>
      <vt:lpstr>02</vt:lpstr>
      <vt:lpstr>02</vt:lpstr>
      <vt:lpstr>02</vt:lpstr>
      <vt:lpstr>02</vt:lpstr>
      <vt:lpstr>02</vt:lpstr>
      <vt:lpstr>02</vt:lpstr>
      <vt:lpstr>03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dc:title>
  <dc:creator>Vũ Lê</dc:creator>
  <cp:lastModifiedBy>Tuấn Trương</cp:lastModifiedBy>
  <cp:revision>51</cp:revision>
  <dcterms:created xsi:type="dcterms:W3CDTF">2025-09-23T04:10:00Z</dcterms:created>
  <dcterms:modified xsi:type="dcterms:W3CDTF">2025-09-23T12:46:22Z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5FE931B06E4A492BBC5D5D8066A585C7_12</vt:lpwstr>
  </property>
  <property fmtid="{D5CDD505-2E9C-101B-9397-08002B2CF9AE}" pid="3" name="KSOProductBuildVer">
    <vt:lpwstr>1033-12.2.0.22549</vt:lpwstr>
  </property>
</Properties>
</file>