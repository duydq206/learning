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64" r:id="rId3"/>
    <p:sldId id="266" r:id="rId4"/>
    <p:sldId id="260" r:id="rId5"/>
    <p:sldId id="267" r:id="rId6"/>
    <p:sldId id="317" r:id="rId7"/>
    <p:sldId id="333" r:id="rId8"/>
    <p:sldId id="273" r:id="rId9"/>
    <p:sldId id="328" r:id="rId10"/>
    <p:sldId id="329" r:id="rId11"/>
    <p:sldId id="334" r:id="rId12"/>
    <p:sldId id="277" r:id="rId13"/>
    <p:sldId id="320" r:id="rId14"/>
    <p:sldId id="278" r:id="rId15"/>
    <p:sldId id="324" r:id="rId16"/>
    <p:sldId id="326" r:id="rId17"/>
    <p:sldId id="330" r:id="rId18"/>
    <p:sldId id="279" r:id="rId19"/>
    <p:sldId id="280" r:id="rId20"/>
    <p:sldId id="331" r:id="rId21"/>
    <p:sldId id="281" r:id="rId22"/>
    <p:sldId id="293" r:id="rId23"/>
    <p:sldId id="323" r:id="rId24"/>
    <p:sldId id="294" r:id="rId25"/>
    <p:sldId id="332" r:id="rId26"/>
    <p:sldId id="292" r:id="rId27"/>
    <p:sldId id="274" r:id="rId28"/>
    <p:sldId id="276"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4"/>
    <p:restoredTop sz="90909" autoAdjust="0"/>
  </p:normalViewPr>
  <p:slideViewPr>
    <p:cSldViewPr>
      <p:cViewPr varScale="1">
        <p:scale>
          <a:sx n="79" d="100"/>
          <a:sy n="79" d="100"/>
        </p:scale>
        <p:origin x="120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 Van" userId="a25a9d50-ca35-484a-bf75-d54b15bbb2bf" providerId="ADAL" clId="{BBE18103-DCEA-8347-8257-FCCD7D78612F}"/>
    <pc:docChg chg="modSld">
      <pc:chgData name="Ai Van" userId="a25a9d50-ca35-484a-bf75-d54b15bbb2bf" providerId="ADAL" clId="{BBE18103-DCEA-8347-8257-FCCD7D78612F}" dt="2025-05-12T07:22:51.834" v="65" actId="1076"/>
      <pc:docMkLst>
        <pc:docMk/>
      </pc:docMkLst>
      <pc:sldChg chg="modSp mod">
        <pc:chgData name="Ai Van" userId="a25a9d50-ca35-484a-bf75-d54b15bbb2bf" providerId="ADAL" clId="{BBE18103-DCEA-8347-8257-FCCD7D78612F}" dt="2025-05-12T07:22:51.834" v="65" actId="1076"/>
        <pc:sldMkLst>
          <pc:docMk/>
          <pc:sldMk cId="632128799" sldId="273"/>
        </pc:sldMkLst>
        <pc:spChg chg="mod">
          <ac:chgData name="Ai Van" userId="a25a9d50-ca35-484a-bf75-d54b15bbb2bf" providerId="ADAL" clId="{BBE18103-DCEA-8347-8257-FCCD7D78612F}" dt="2025-05-12T07:22:47.002" v="64" actId="14100"/>
          <ac:spMkLst>
            <pc:docMk/>
            <pc:sldMk cId="632128799" sldId="273"/>
            <ac:spMk id="5" creationId="{00000000-0000-0000-0000-000000000000}"/>
          </ac:spMkLst>
        </pc:spChg>
        <pc:graphicFrameChg chg="mod">
          <ac:chgData name="Ai Van" userId="a25a9d50-ca35-484a-bf75-d54b15bbb2bf" providerId="ADAL" clId="{BBE18103-DCEA-8347-8257-FCCD7D78612F}" dt="2025-05-12T07:22:51.834" v="65" actId="1076"/>
          <ac:graphicFrameMkLst>
            <pc:docMk/>
            <pc:sldMk cId="632128799" sldId="273"/>
            <ac:graphicFrameMk id="6"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E286BA-DE6D-47D5-B8D3-F0A10DEBF392}" type="datetimeFigureOut">
              <a:rPr lang="en-US" smtClean="0"/>
              <a:pPr/>
              <a:t>5/12/25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D88723-52F7-40AE-BA48-AE3F04AFD2E4}" type="slidenum">
              <a:rPr lang="en-US" smtClean="0"/>
              <a:pPr/>
              <a:t>‹#›</a:t>
            </a:fld>
            <a:endParaRPr lang="en-US"/>
          </a:p>
        </p:txBody>
      </p:sp>
    </p:spTree>
    <p:extLst>
      <p:ext uri="{BB962C8B-B14F-4D97-AF65-F5344CB8AC3E}">
        <p14:creationId xmlns:p14="http://schemas.microsoft.com/office/powerpoint/2010/main" val="1580969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sánh:</a:t>
            </a:r>
            <a:r>
              <a:rPr lang="en-US" baseline="0"/>
              <a:t> đối với ước lượng điểm, người ta sẽ không kiểm soát được độ chính xác của phép ước lượng</a:t>
            </a:r>
            <a:endParaRPr lang="en-US"/>
          </a:p>
        </p:txBody>
      </p:sp>
      <p:sp>
        <p:nvSpPr>
          <p:cNvPr id="4" name="Slide Number Placeholder 3"/>
          <p:cNvSpPr>
            <a:spLocks noGrp="1"/>
          </p:cNvSpPr>
          <p:nvPr>
            <p:ph type="sldNum" sz="quarter" idx="10"/>
          </p:nvPr>
        </p:nvSpPr>
        <p:spPr/>
        <p:txBody>
          <a:bodyPr/>
          <a:lstStyle/>
          <a:p>
            <a:fld id="{87D88723-52F7-40AE-BA48-AE3F04AFD2E4}" type="slidenum">
              <a:rPr lang="en-US" smtClean="0"/>
              <a:pPr/>
              <a:t>3</a:t>
            </a:fld>
            <a:endParaRPr lang="en-US"/>
          </a:p>
        </p:txBody>
      </p:sp>
    </p:spTree>
    <p:extLst>
      <p:ext uri="{BB962C8B-B14F-4D97-AF65-F5344CB8AC3E}">
        <p14:creationId xmlns:p14="http://schemas.microsoft.com/office/powerpoint/2010/main" val="3402565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D88723-52F7-40AE-BA48-AE3F04AFD2E4}" type="slidenum">
              <a:rPr lang="en-US" smtClean="0"/>
              <a:pPr/>
              <a:t>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D88723-52F7-40AE-BA48-AE3F04AFD2E4}" type="slidenum">
              <a:rPr lang="en-US" smtClean="0"/>
              <a:pPr/>
              <a:t>8</a:t>
            </a:fld>
            <a:endParaRPr lang="en-US"/>
          </a:p>
        </p:txBody>
      </p:sp>
    </p:spTree>
    <p:extLst>
      <p:ext uri="{BB962C8B-B14F-4D97-AF65-F5344CB8AC3E}">
        <p14:creationId xmlns:p14="http://schemas.microsoft.com/office/powerpoint/2010/main" val="49265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D88723-52F7-40AE-BA48-AE3F04AFD2E4}" type="slidenum">
              <a:rPr lang="en-US" smtClean="0"/>
              <a:pPr/>
              <a:t>9</a:t>
            </a:fld>
            <a:endParaRPr lang="en-US"/>
          </a:p>
        </p:txBody>
      </p:sp>
    </p:spTree>
    <p:extLst>
      <p:ext uri="{BB962C8B-B14F-4D97-AF65-F5344CB8AC3E}">
        <p14:creationId xmlns:p14="http://schemas.microsoft.com/office/powerpoint/2010/main" val="49265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D88723-52F7-40AE-BA48-AE3F04AFD2E4}" type="slidenum">
              <a:rPr lang="en-US" smtClean="0"/>
              <a:pPr/>
              <a:t>10</a:t>
            </a:fld>
            <a:endParaRPr lang="en-US"/>
          </a:p>
        </p:txBody>
      </p:sp>
    </p:spTree>
    <p:extLst>
      <p:ext uri="{BB962C8B-B14F-4D97-AF65-F5344CB8AC3E}">
        <p14:creationId xmlns:p14="http://schemas.microsoft.com/office/powerpoint/2010/main" val="49265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t>Vì</a:t>
                </a:r>
                <a:r>
                  <a:rPr lang="en-US" baseline="0"/>
                  <a:t> tổng thể có phân phối chuẩn và biết </a:t>
                </a:r>
                <a14:m>
                  <m:oMath xmlns:m="http://schemas.openxmlformats.org/officeDocument/2006/math">
                    <m:r>
                      <a:rPr lang="en-US" b="0" i="1" baseline="0" smtClean="0">
                        <a:latin typeface="Cambria Math" panose="02040503050406030204" pitchFamily="18" charset="0"/>
                      </a:rPr>
                      <m:t>𝜎</m:t>
                    </m:r>
                  </m:oMath>
                </a14:m>
                <a:r>
                  <a:rPr lang="en-US"/>
                  <a:t> nên</a:t>
                </a:r>
                <a:r>
                  <a:rPr lang="en-US" baseline="0"/>
                  <a:t> ta dùng phân phối chuẩn.</a:t>
                </a:r>
                <a:endParaRPr lang="en-US"/>
              </a:p>
            </p:txBody>
          </p:sp>
        </mc:Choice>
        <mc:Fallback xmlns="">
          <p:sp>
            <p:nvSpPr>
              <p:cNvPr id="3" name="Notes Placeholder 2"/>
              <p:cNvSpPr>
                <a:spLocks noGrp="1"/>
              </p:cNvSpPr>
              <p:nvPr>
                <p:ph type="body" idx="1"/>
              </p:nvPr>
            </p:nvSpPr>
            <p:spPr/>
            <p:txBody>
              <a:bodyPr/>
              <a:lstStyle/>
              <a:p>
                <a:r>
                  <a:rPr lang="en-US" smtClean="0"/>
                  <a:t>Vì</a:t>
                </a:r>
                <a:r>
                  <a:rPr lang="en-US" baseline="0" smtClean="0"/>
                  <a:t> tổng thể có phân phối chuẩn và biết </a:t>
                </a:r>
                <a:r>
                  <a:rPr lang="en-US" b="0" i="0" baseline="0" smtClean="0">
                    <a:latin typeface="Cambria Math" panose="02040503050406030204" pitchFamily="18" charset="0"/>
                  </a:rPr>
                  <a:t>𝜎</a:t>
                </a:r>
                <a:r>
                  <a:rPr lang="en-US" smtClean="0"/>
                  <a:t>nên</a:t>
                </a:r>
                <a:r>
                  <a:rPr lang="en-US" baseline="0" smtClean="0"/>
                  <a:t> ta dùng phân phối chuẩn.</a:t>
                </a:r>
                <a:endParaRPr lang="en-US"/>
              </a:p>
            </p:txBody>
          </p:sp>
        </mc:Fallback>
      </mc:AlternateContent>
      <p:sp>
        <p:nvSpPr>
          <p:cNvPr id="4" name="Slide Number Placeholder 3"/>
          <p:cNvSpPr>
            <a:spLocks noGrp="1"/>
          </p:cNvSpPr>
          <p:nvPr>
            <p:ph type="sldNum" sz="quarter" idx="10"/>
          </p:nvPr>
        </p:nvSpPr>
        <p:spPr/>
        <p:txBody>
          <a:bodyPr/>
          <a:lstStyle/>
          <a:p>
            <a:fld id="{87D88723-52F7-40AE-BA48-AE3F04AFD2E4}" type="slidenum">
              <a:rPr lang="en-US" smtClean="0"/>
              <a:pPr/>
              <a:t>13</a:t>
            </a:fld>
            <a:endParaRPr lang="en-US"/>
          </a:p>
        </p:txBody>
      </p:sp>
    </p:spTree>
    <p:extLst>
      <p:ext uri="{BB962C8B-B14F-4D97-AF65-F5344CB8AC3E}">
        <p14:creationId xmlns:p14="http://schemas.microsoft.com/office/powerpoint/2010/main" val="3959521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t>Vì</a:t>
                </a:r>
                <a:r>
                  <a:rPr lang="en-US" baseline="0"/>
                  <a:t> mẫu bé, tổng thể có phân phối chuẩn và không biết </a:t>
                </a:r>
                <a14:m>
                  <m:oMath xmlns:m="http://schemas.openxmlformats.org/officeDocument/2006/math">
                    <m:r>
                      <a:rPr lang="en-US" b="0" i="1" baseline="0" smtClean="0">
                        <a:latin typeface="Cambria Math" panose="02040503050406030204" pitchFamily="18" charset="0"/>
                      </a:rPr>
                      <m:t>𝜎</m:t>
                    </m:r>
                  </m:oMath>
                </a14:m>
                <a:r>
                  <a:rPr lang="en-US"/>
                  <a:t>, nên</a:t>
                </a:r>
                <a:r>
                  <a:rPr lang="en-US" baseline="0"/>
                  <a:t> ta dùng phân phối </a:t>
                </a:r>
                <a14:m>
                  <m:oMath xmlns:m="http://schemas.openxmlformats.org/officeDocument/2006/math">
                    <m:r>
                      <a:rPr lang="en-US" b="0" i="1" baseline="0" smtClean="0">
                        <a:latin typeface="Cambria Math" panose="02040503050406030204" pitchFamily="18" charset="0"/>
                      </a:rPr>
                      <m:t>𝑡</m:t>
                    </m:r>
                    <m:r>
                      <a:rPr lang="en-US" b="0" i="1" baseline="0" smtClean="0">
                        <a:latin typeface="Cambria Math" panose="02040503050406030204" pitchFamily="18" charset="0"/>
                      </a:rPr>
                      <m:t>(9)</m:t>
                    </m:r>
                  </m:oMath>
                </a14:m>
                <a:r>
                  <a:rPr lang="en-US"/>
                  <a:t>.</a:t>
                </a:r>
              </a:p>
            </p:txBody>
          </p:sp>
        </mc:Choice>
        <mc:Fallback xmlns="">
          <p:sp>
            <p:nvSpPr>
              <p:cNvPr id="3" name="Notes Placeholder 2"/>
              <p:cNvSpPr>
                <a:spLocks noGrp="1"/>
              </p:cNvSpPr>
              <p:nvPr>
                <p:ph type="body" idx="1"/>
              </p:nvPr>
            </p:nvSpPr>
            <p:spPr/>
            <p:txBody>
              <a:bodyPr/>
              <a:lstStyle/>
              <a:p>
                <a:r>
                  <a:rPr lang="en-US" smtClean="0"/>
                  <a:t>Vì</a:t>
                </a:r>
                <a:r>
                  <a:rPr lang="en-US" baseline="0" smtClean="0"/>
                  <a:t> mẫu bé, tổng thể có phân phối chuẩn và không biết </a:t>
                </a:r>
                <a:r>
                  <a:rPr lang="en-US" b="0" i="0" baseline="0" smtClean="0">
                    <a:latin typeface="Cambria Math" panose="02040503050406030204" pitchFamily="18" charset="0"/>
                  </a:rPr>
                  <a:t>𝜎</a:t>
                </a:r>
                <a:r>
                  <a:rPr lang="en-US" smtClean="0"/>
                  <a:t>, nên</a:t>
                </a:r>
                <a:r>
                  <a:rPr lang="en-US" baseline="0" smtClean="0"/>
                  <a:t> ta dùng phân phối </a:t>
                </a:r>
                <a:r>
                  <a:rPr lang="en-US" b="0" i="0" baseline="0" smtClean="0">
                    <a:latin typeface="Cambria Math" panose="02040503050406030204" pitchFamily="18" charset="0"/>
                  </a:rPr>
                  <a:t>𝑡(9)</a:t>
                </a:r>
                <a:r>
                  <a:rPr lang="en-US" smtClean="0"/>
                  <a:t>.</a:t>
                </a:r>
                <a:endParaRPr lang="en-US"/>
              </a:p>
            </p:txBody>
          </p:sp>
        </mc:Fallback>
      </mc:AlternateContent>
      <p:sp>
        <p:nvSpPr>
          <p:cNvPr id="4" name="Slide Number Placeholder 3"/>
          <p:cNvSpPr>
            <a:spLocks noGrp="1"/>
          </p:cNvSpPr>
          <p:nvPr>
            <p:ph type="sldNum" sz="quarter" idx="10"/>
          </p:nvPr>
        </p:nvSpPr>
        <p:spPr/>
        <p:txBody>
          <a:bodyPr/>
          <a:lstStyle/>
          <a:p>
            <a:fld id="{87D88723-52F7-40AE-BA48-AE3F04AFD2E4}" type="slidenum">
              <a:rPr lang="en-US" smtClean="0"/>
              <a:pPr/>
              <a:t>14</a:t>
            </a:fld>
            <a:endParaRPr lang="en-US"/>
          </a:p>
        </p:txBody>
      </p:sp>
    </p:spTree>
    <p:extLst>
      <p:ext uri="{BB962C8B-B14F-4D97-AF65-F5344CB8AC3E}">
        <p14:creationId xmlns:p14="http://schemas.microsoft.com/office/powerpoint/2010/main" val="31251791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stretch>
            <a:fillRect/>
          </a:stretch>
        </p:blipFill>
        <p:spPr>
          <a:xfrm>
            <a:off x="20548" y="20547"/>
            <a:ext cx="3498527" cy="2825393"/>
          </a:xfrm>
          <a:prstGeom prst="rect">
            <a:avLst/>
          </a:prstGeom>
        </p:spPr>
      </p:pic>
      <p:pic>
        <p:nvPicPr>
          <p:cNvPr id="8" name="Picture 7"/>
          <p:cNvPicPr>
            <a:picLocks noChangeAspect="1"/>
          </p:cNvPicPr>
          <p:nvPr/>
        </p:nvPicPr>
        <p:blipFill>
          <a:blip r:embed="rId3" cstate="print"/>
          <a:stretch>
            <a:fillRect/>
          </a:stretch>
        </p:blipFill>
        <p:spPr>
          <a:xfrm>
            <a:off x="3503486" y="20548"/>
            <a:ext cx="5624418" cy="2825496"/>
          </a:xfrm>
          <a:prstGeom prst="rect">
            <a:avLst/>
          </a:prstGeom>
        </p:spPr>
      </p:pic>
      <p:pic>
        <p:nvPicPr>
          <p:cNvPr id="9" name="Picture 8"/>
          <p:cNvPicPr>
            <a:picLocks noChangeAspect="1"/>
          </p:cNvPicPr>
          <p:nvPr/>
        </p:nvPicPr>
        <p:blipFill>
          <a:blip r:embed="rId4" cstate="print"/>
          <a:stretch>
            <a:fillRect/>
          </a:stretch>
        </p:blipFill>
        <p:spPr>
          <a:xfrm>
            <a:off x="20923" y="2818500"/>
            <a:ext cx="7668994" cy="2296266"/>
          </a:xfrm>
          <a:prstGeom prst="rect">
            <a:avLst/>
          </a:prstGeom>
        </p:spPr>
      </p:pic>
      <p:pic>
        <p:nvPicPr>
          <p:cNvPr id="10" name="Picture 9"/>
          <p:cNvPicPr>
            <a:picLocks noChangeAspect="1"/>
          </p:cNvPicPr>
          <p:nvPr/>
        </p:nvPicPr>
        <p:blipFill>
          <a:blip r:embed="rId5" cstate="print"/>
          <a:stretch>
            <a:fillRect/>
          </a:stretch>
        </p:blipFill>
        <p:spPr>
          <a:xfrm>
            <a:off x="7662119" y="2819400"/>
            <a:ext cx="1461333" cy="2293850"/>
          </a:xfrm>
          <a:prstGeom prst="rect">
            <a:avLst/>
          </a:prstGeom>
        </p:spPr>
      </p:pic>
      <p:pic>
        <p:nvPicPr>
          <p:cNvPr id="11" name="Picture 10"/>
          <p:cNvPicPr>
            <a:picLocks/>
          </p:cNvPicPr>
          <p:nvPr/>
        </p:nvPicPr>
        <p:blipFill>
          <a:blip r:embed="rId6" cstate="print"/>
          <a:stretch>
            <a:fillRect/>
          </a:stretch>
        </p:blipFill>
        <p:spPr>
          <a:xfrm>
            <a:off x="20548" y="5089818"/>
            <a:ext cx="9098280" cy="1737360"/>
          </a:xfrm>
          <a:prstGeom prst="rect">
            <a:avLst/>
          </a:prstGeom>
        </p:spPr>
      </p:pic>
      <p:sp>
        <p:nvSpPr>
          <p:cNvPr id="14" name="Rectangle 13"/>
          <p:cNvSpPr/>
          <p:nvPr/>
        </p:nvSpPr>
        <p:spPr>
          <a:xfrm>
            <a:off x="8755230" y="2469776"/>
            <a:ext cx="304800" cy="152400"/>
          </a:xfrm>
          <a:prstGeom prst="rect">
            <a:avLst/>
          </a:prstGeom>
          <a:solidFill>
            <a:srgbClr val="F274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47F28"/>
              </a:solidFill>
            </a:endParaRPr>
          </a:p>
        </p:txBody>
      </p:sp>
      <p:sp>
        <p:nvSpPr>
          <p:cNvPr id="4" name="Date Placeholder 3"/>
          <p:cNvSpPr>
            <a:spLocks noGrp="1"/>
          </p:cNvSpPr>
          <p:nvPr>
            <p:ph type="dt" sz="half" idx="10"/>
          </p:nvPr>
        </p:nvSpPr>
        <p:spPr/>
        <p:txBody>
          <a:bodyPr/>
          <a:lstStyle>
            <a:lvl1pPr>
              <a:defRPr>
                <a:solidFill>
                  <a:schemeClr val="bg1"/>
                </a:solidFill>
              </a:defRPr>
            </a:lvl1pPr>
          </a:lstStyle>
          <a:p>
            <a:fld id="{1D8BD707-D9CF-40AE-B4C6-C98DA3205C09}" type="datetimeFigureOut">
              <a:rPr lang="en-US" smtClean="0"/>
              <a:pPr/>
              <a:t>5/12/25</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B6F15528-21DE-4FAA-801E-634DDDAF4B2B}" type="slidenum">
              <a:rPr lang="en-US" smtClean="0"/>
              <a:pPr/>
              <a:t>‹#›</a:t>
            </a:fld>
            <a:endParaRPr lang="en-US"/>
          </a:p>
        </p:txBody>
      </p:sp>
      <p:sp>
        <p:nvSpPr>
          <p:cNvPr id="15" name="Text Placeholder 15"/>
          <p:cNvSpPr>
            <a:spLocks noGrp="1"/>
          </p:cNvSpPr>
          <p:nvPr>
            <p:ph type="body" sz="quarter" idx="14" hasCustomPrompt="1"/>
          </p:nvPr>
        </p:nvSpPr>
        <p:spPr>
          <a:xfrm>
            <a:off x="3581400" y="1295400"/>
            <a:ext cx="5105400" cy="1416269"/>
          </a:xfrm>
        </p:spPr>
        <p:txBody>
          <a:bodyPr anchor="b">
            <a:normAutofit/>
          </a:bodyPr>
          <a:lstStyle>
            <a:lvl1pPr algn="r">
              <a:buNone/>
              <a:defRPr lang="en-US" sz="2200" kern="1200" dirty="0" smtClean="0">
                <a:solidFill>
                  <a:schemeClr val="tx1">
                    <a:lumMod val="75000"/>
                    <a:lumOff val="25000"/>
                  </a:schemeClr>
                </a:solidFill>
                <a:latin typeface="Calibri" pitchFamily="34" charset="0"/>
                <a:ea typeface="+mn-ea"/>
                <a:cs typeface="+mn-cs"/>
              </a:defRPr>
            </a:lvl1pPr>
          </a:lstStyle>
          <a:p>
            <a:pPr lvl="0"/>
            <a:r>
              <a:rPr lang="en-US" dirty="0"/>
              <a:t>Click to edit Master subtitle style</a:t>
            </a:r>
          </a:p>
        </p:txBody>
      </p:sp>
      <p:sp>
        <p:nvSpPr>
          <p:cNvPr id="2" name="Title 1"/>
          <p:cNvSpPr>
            <a:spLocks noGrp="1"/>
          </p:cNvSpPr>
          <p:nvPr>
            <p:ph type="title"/>
          </p:nvPr>
        </p:nvSpPr>
        <p:spPr>
          <a:xfrm>
            <a:off x="106344" y="4114800"/>
            <a:ext cx="7315200" cy="914400"/>
          </a:xfrm>
        </p:spPr>
        <p:txBody>
          <a:bodyPr anchor="b" anchorCtr="0">
            <a:normAutofit/>
          </a:bodyPr>
          <a:lstStyle>
            <a:lvl1pPr marL="0" indent="0">
              <a:defRPr lang="en-US" sz="3600" b="1" kern="1200" baseline="0">
                <a:solidFill>
                  <a:schemeClr val="bg1"/>
                </a:solidFill>
                <a:latin typeface="Arial" pitchFamily="34" charset="0"/>
                <a:ea typeface="+mn-ea"/>
                <a:cs typeface="Arial" pitchFamily="34" charset="0"/>
              </a:defRPr>
            </a:lvl1pPr>
          </a:lstStyle>
          <a:p>
            <a:pPr marL="342900" lvl="0" indent="-342900" algn="l" defTabSz="914400" rtl="0" eaLnBrk="1" latinLnBrk="0" hangingPunct="1">
              <a:spcBef>
                <a:spcPct val="20000"/>
              </a:spcBef>
              <a:buFont typeface="Arial" pitchFamily="34" charset="0"/>
              <a:buNone/>
            </a:pPr>
            <a:r>
              <a:rPr lang="en-US"/>
              <a:t>Click to edit Master title style</a:t>
            </a:r>
            <a:endParaRPr lang="en-US" dirty="0"/>
          </a:p>
        </p:txBody>
      </p:sp>
    </p:spTree>
    <p:extLst>
      <p:ext uri="{BB962C8B-B14F-4D97-AF65-F5344CB8AC3E}">
        <p14:creationId xmlns:p14="http://schemas.microsoft.com/office/powerpoint/2010/main" val="519067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3"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 calcmode="lin" valueType="num">
                                      <p:cBhvr additive="base">
                                        <p:cTn id="15"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5">
                                            <p:txEl>
                                              <p:pRg st="0" end="0"/>
                                            </p:txEl>
                                          </p:spTgt>
                                        </p:tgtEl>
                                        <p:attrNameLst>
                                          <p:attrName>ppt_y</p:attrName>
                                        </p:attrNameLst>
                                      </p:cBhvr>
                                      <p:tavLst>
                                        <p:tav tm="0">
                                          <p:val>
                                            <p:strVal val="#ppt_y"/>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0-#ppt_w/2"/>
                                          </p:val>
                                        </p:tav>
                                        <p:tav tm="100000">
                                          <p:val>
                                            <p:strVal val="#ppt_x"/>
                                          </p:val>
                                        </p:tav>
                                      </p:tavLst>
                                    </p:anim>
                                    <p:anim calcmode="lin" valueType="num">
                                      <p:cBhvr additive="base">
                                        <p:cTn id="25" dur="500" fill="hold"/>
                                        <p:tgtEl>
                                          <p:spTgt spid="9"/>
                                        </p:tgtEl>
                                        <p:attrNameLst>
                                          <p:attrName>ppt_y</p:attrName>
                                        </p:attrNameLst>
                                      </p:cBhvr>
                                      <p:tavLst>
                                        <p:tav tm="0">
                                          <p:val>
                                            <p:strVal val="#ppt_y"/>
                                          </p:val>
                                        </p:tav>
                                        <p:tav tm="100000">
                                          <p:val>
                                            <p:strVal val="#ppt_y"/>
                                          </p:val>
                                        </p:tav>
                                      </p:tavLst>
                                    </p:anim>
                                  </p:childTnLst>
                                </p:cTn>
                              </p:par>
                              <p:par>
                                <p:cTn id="26" presetID="2" presetClass="entr" presetSubtype="2"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1+#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10" presetClass="entr" presetSubtype="0" fill="hold" grpId="0" nodeType="withEffect">
                                  <p:stCondLst>
                                    <p:cond delay="5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build="p">
        <p:tmplLst>
          <p:tmpl lvl="1">
            <p:tnLst>
              <p:par>
                <p:cTn presetID="2" presetClass="entr" presetSubtype="2"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86100" y="2525754"/>
            <a:ext cx="5448300" cy="1970046"/>
          </a:xfrm>
        </p:spPr>
        <p:txBody>
          <a:bodyPr anchor="ctr">
            <a:normAutofit/>
          </a:bodyPr>
          <a:lstStyle>
            <a:lvl1pPr algn="l">
              <a:defRPr sz="3600" b="1" cap="all"/>
            </a:lvl1pPr>
          </a:lstStyle>
          <a:p>
            <a:r>
              <a:rPr lang="en-US"/>
              <a:t>Click to edit Master title style</a:t>
            </a:r>
            <a:endParaRPr lang="en-US" dirty="0"/>
          </a:p>
        </p:txBody>
      </p:sp>
      <p:sp>
        <p:nvSpPr>
          <p:cNvPr id="7" name="Oval 6"/>
          <p:cNvSpPr/>
          <p:nvPr/>
        </p:nvSpPr>
        <p:spPr>
          <a:xfrm>
            <a:off x="762000" y="2438400"/>
            <a:ext cx="2057400" cy="2057400"/>
          </a:xfrm>
          <a:prstGeom prst="ellipse">
            <a:avLst/>
          </a:prstGeom>
          <a:gradFill flip="none" rotWithShape="1">
            <a:gsLst>
              <a:gs pos="0">
                <a:srgbClr val="F39C29"/>
              </a:gs>
              <a:gs pos="50000">
                <a:srgbClr val="F7931D"/>
              </a:gs>
              <a:gs pos="100000">
                <a:srgbClr val="FF6600"/>
              </a:gs>
            </a:gsLst>
            <a:path path="circle">
              <a:fillToRect l="50000" t="50000" r="50000" b="50000"/>
            </a:path>
            <a:tileRect/>
          </a:gradFill>
          <a:ln w="82550">
            <a:noFill/>
          </a:ln>
          <a:effectLst>
            <a:outerShdw blurRad="152400" dist="165100" dir="5400000" sx="90000" sy="-19000"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             </a:t>
            </a:r>
          </a:p>
        </p:txBody>
      </p:sp>
      <p:sp>
        <p:nvSpPr>
          <p:cNvPr id="9" name="Oval 8"/>
          <p:cNvSpPr/>
          <p:nvPr/>
        </p:nvSpPr>
        <p:spPr>
          <a:xfrm>
            <a:off x="1007328" y="1946209"/>
            <a:ext cx="1583472" cy="1295400"/>
          </a:xfrm>
          <a:prstGeom prst="ellipse">
            <a:avLst/>
          </a:prstGeom>
          <a:gradFill flip="none" rotWithShape="1">
            <a:gsLst>
              <a:gs pos="63000">
                <a:schemeClr val="bg1">
                  <a:alpha val="7000"/>
                </a:schemeClr>
              </a:gs>
              <a:gs pos="72000">
                <a:schemeClr val="bg1">
                  <a:alpha val="15000"/>
                </a:schemeClr>
              </a:gs>
              <a:gs pos="91000">
                <a:schemeClr val="bg1">
                  <a:alpha val="28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       </a:t>
            </a:r>
            <a:endParaRPr lang="en-US" dirty="0">
              <a:solidFill>
                <a:prstClr val="white"/>
              </a:solidFill>
            </a:endParaRPr>
          </a:p>
        </p:txBody>
      </p:sp>
      <p:sp>
        <p:nvSpPr>
          <p:cNvPr id="10" name="Date Placeholder 9"/>
          <p:cNvSpPr>
            <a:spLocks noGrp="1"/>
          </p:cNvSpPr>
          <p:nvPr>
            <p:ph type="dt" sz="half" idx="10"/>
          </p:nvPr>
        </p:nvSpPr>
        <p:spPr>
          <a:xfrm>
            <a:off x="457200" y="6553200"/>
            <a:ext cx="2133600" cy="304800"/>
          </a:xfrm>
        </p:spPr>
        <p:txBody>
          <a:bodyPr/>
          <a:lstStyle/>
          <a:p>
            <a:fld id="{1D8BD707-D9CF-40AE-B4C6-C98DA3205C09}" type="datetimeFigureOut">
              <a:rPr lang="en-US" smtClean="0"/>
              <a:pPr/>
              <a:t>5/12/25</a:t>
            </a:fld>
            <a:endParaRPr lang="en-US"/>
          </a:p>
        </p:txBody>
      </p:sp>
      <p:sp>
        <p:nvSpPr>
          <p:cNvPr id="11" name="Footer Placeholder 10"/>
          <p:cNvSpPr txBox="1">
            <a:spLocks/>
          </p:cNvSpPr>
          <p:nvPr/>
        </p:nvSpPr>
        <p:spPr>
          <a:xfrm>
            <a:off x="3124200" y="6553200"/>
            <a:ext cx="2895600" cy="304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Nguyễn Phi Hùng</a:t>
            </a:r>
          </a:p>
        </p:txBody>
      </p:sp>
      <p:sp>
        <p:nvSpPr>
          <p:cNvPr id="12" name="Slide Number Placeholder 11"/>
          <p:cNvSpPr txBox="1">
            <a:spLocks/>
          </p:cNvSpPr>
          <p:nvPr/>
        </p:nvSpPr>
        <p:spPr>
          <a:xfrm>
            <a:off x="6553200" y="6553200"/>
            <a:ext cx="2133600" cy="30480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Slide </a:t>
            </a:r>
            <a:fld id="{746B338A-CDE1-47B2-9DBD-625D918ADA77}" type="slidenum">
              <a:rPr lang="en-US" smtClean="0"/>
              <a:pPr/>
              <a:t>‹#›</a:t>
            </a:fld>
            <a:endParaRPr lang="en-US"/>
          </a:p>
        </p:txBody>
      </p:sp>
      <p:sp>
        <p:nvSpPr>
          <p:cNvPr id="8" name="Title 1"/>
          <p:cNvSpPr txBox="1">
            <a:spLocks/>
          </p:cNvSpPr>
          <p:nvPr userDrawn="1"/>
        </p:nvSpPr>
        <p:spPr>
          <a:xfrm>
            <a:off x="1256558" y="2971800"/>
            <a:ext cx="1028700" cy="990600"/>
          </a:xfrm>
          <a:prstGeom prst="rect">
            <a:avLst/>
          </a:prstGeom>
        </p:spPr>
        <p:txBody>
          <a:bodyPr vert="horz" lIns="91440" tIns="45720" rIns="91440" bIns="45720" rtlCol="0" anchor="ctr">
            <a:normAutofit fontScale="40000" lnSpcReduction="20000"/>
          </a:bodyPr>
          <a:lstStyle>
            <a:lvl1pPr algn="l" defTabSz="914400" rtl="0" eaLnBrk="1" latinLnBrk="0" hangingPunct="1">
              <a:spcBef>
                <a:spcPct val="0"/>
              </a:spcBef>
              <a:buNone/>
              <a:defRPr sz="3600" b="1" kern="1200" cap="all">
                <a:solidFill>
                  <a:schemeClr val="tx1"/>
                </a:solidFill>
                <a:latin typeface="+mj-lt"/>
                <a:ea typeface="+mj-ea"/>
                <a:cs typeface="+mj-cs"/>
              </a:defRPr>
            </a:lvl1pPr>
          </a:lstStyle>
          <a:p>
            <a:pPr algn="ctr"/>
            <a:r>
              <a:rPr lang="en-US"/>
              <a:t>Click to edit Master title style</a:t>
            </a:r>
            <a:endParaRPr lang="en-US" dirty="0"/>
          </a:p>
        </p:txBody>
      </p:sp>
    </p:spTree>
    <p:extLst>
      <p:ext uri="{BB962C8B-B14F-4D97-AF65-F5344CB8AC3E}">
        <p14:creationId xmlns:p14="http://schemas.microsoft.com/office/powerpoint/2010/main" val="4199622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6180" y="76200"/>
            <a:ext cx="8403020" cy="685800"/>
          </a:xfrm>
        </p:spPr>
        <p:txBody>
          <a:bodyPr anchor="ctr" anchorCtr="0">
            <a:normAutofit/>
          </a:bodyPr>
          <a:lstStyle>
            <a:lvl1pPr algn="l">
              <a:defRPr sz="3600" b="0">
                <a:solidFill>
                  <a:srgbClr val="215B2F"/>
                </a:solidFill>
              </a:defRPr>
            </a:lvl1pPr>
          </a:lstStyle>
          <a:p>
            <a:r>
              <a:rPr lang="en-US"/>
              <a:t>Click to edit Master title style</a:t>
            </a:r>
            <a:endParaRPr lang="en-US" dirty="0"/>
          </a:p>
        </p:txBody>
      </p:sp>
      <p:sp>
        <p:nvSpPr>
          <p:cNvPr id="3" name="Content Placeholder 2"/>
          <p:cNvSpPr>
            <a:spLocks noGrp="1"/>
          </p:cNvSpPr>
          <p:nvPr>
            <p:ph idx="1"/>
          </p:nvPr>
        </p:nvSpPr>
        <p:spPr>
          <a:xfrm>
            <a:off x="457200" y="1143000"/>
            <a:ext cx="8229600" cy="5105400"/>
          </a:xfrm>
        </p:spPr>
        <p:txBody>
          <a:bodyPr/>
          <a:lstStyle>
            <a:lvl1pPr>
              <a:defRPr b="0">
                <a:solidFill>
                  <a:schemeClr val="tx1">
                    <a:lumMod val="85000"/>
                    <a:lumOff val="15000"/>
                  </a:schemeClr>
                </a:solidFill>
              </a:defRPr>
            </a:lvl1pPr>
            <a:lvl2pPr>
              <a:defRPr b="0">
                <a:solidFill>
                  <a:schemeClr val="tx1">
                    <a:lumMod val="85000"/>
                    <a:lumOff val="15000"/>
                  </a:schemeClr>
                </a:solidFill>
              </a:defRPr>
            </a:lvl2pPr>
            <a:lvl3pPr>
              <a:defRPr b="0">
                <a:solidFill>
                  <a:schemeClr val="tx1">
                    <a:lumMod val="85000"/>
                    <a:lumOff val="15000"/>
                  </a:schemeClr>
                </a:solidFill>
              </a:defRPr>
            </a:lvl3pPr>
            <a:lvl4pPr>
              <a:defRPr b="0">
                <a:solidFill>
                  <a:schemeClr val="tx1">
                    <a:lumMod val="85000"/>
                    <a:lumOff val="15000"/>
                  </a:schemeClr>
                </a:solidFill>
              </a:defRPr>
            </a:lvl4pPr>
            <a:lvl5pPr>
              <a:defRPr b="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a:xfrm>
            <a:off x="457200" y="6553200"/>
            <a:ext cx="2133600" cy="304800"/>
          </a:xfrm>
        </p:spPr>
        <p:txBody>
          <a:bodyPr/>
          <a:lstStyle/>
          <a:p>
            <a:fld id="{1D8BD707-D9CF-40AE-B4C6-C98DA3205C09}" type="datetimeFigureOut">
              <a:rPr lang="en-US" smtClean="0"/>
              <a:pPr/>
              <a:t>5/12/25</a:t>
            </a:fld>
            <a:endParaRPr lang="en-US"/>
          </a:p>
        </p:txBody>
      </p:sp>
      <p:sp>
        <p:nvSpPr>
          <p:cNvPr id="11" name="Footer Placeholder 10"/>
          <p:cNvSpPr>
            <a:spLocks noGrp="1"/>
          </p:cNvSpPr>
          <p:nvPr>
            <p:ph type="ftr" sz="quarter" idx="11"/>
          </p:nvPr>
        </p:nvSpPr>
        <p:spPr>
          <a:xfrm>
            <a:off x="3124200" y="6553200"/>
            <a:ext cx="2895600" cy="304800"/>
          </a:xfrm>
        </p:spPr>
        <p:txBody>
          <a:bodyPr/>
          <a:lstStyle/>
          <a:p>
            <a:endParaRPr lang="en-US"/>
          </a:p>
        </p:txBody>
      </p:sp>
      <p:sp>
        <p:nvSpPr>
          <p:cNvPr id="12" name="Slide Number Placeholder 11"/>
          <p:cNvSpPr>
            <a:spLocks noGrp="1"/>
          </p:cNvSpPr>
          <p:nvPr>
            <p:ph type="sldNum" sz="quarter" idx="12"/>
          </p:nvPr>
        </p:nvSpPr>
        <p:spPr>
          <a:xfrm>
            <a:off x="6553200" y="6553200"/>
            <a:ext cx="2133600" cy="304800"/>
          </a:xfrm>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100658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5/12/25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528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ompa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6180" y="76200"/>
            <a:ext cx="8403020" cy="685800"/>
          </a:xfrm>
        </p:spPr>
        <p:txBody>
          <a:bodyPr anchor="ctr" anchorCtr="0">
            <a:normAutofit/>
          </a:bodyPr>
          <a:lstStyle>
            <a:lvl1pPr algn="l">
              <a:defRPr sz="3600" b="1">
                <a:solidFill>
                  <a:srgbClr val="215B2F"/>
                </a:solidFill>
              </a:defRPr>
            </a:lvl1pPr>
          </a:lstStyle>
          <a:p>
            <a:r>
              <a:rPr lang="en-US"/>
              <a:t>Click to edit Master title style</a:t>
            </a:r>
            <a:endParaRPr lang="en-US" dirty="0"/>
          </a:p>
        </p:txBody>
      </p:sp>
      <p:sp>
        <p:nvSpPr>
          <p:cNvPr id="10" name="Date Placeholder 9"/>
          <p:cNvSpPr>
            <a:spLocks noGrp="1"/>
          </p:cNvSpPr>
          <p:nvPr>
            <p:ph type="dt" sz="half" idx="10"/>
          </p:nvPr>
        </p:nvSpPr>
        <p:spPr>
          <a:xfrm>
            <a:off x="457200" y="6553200"/>
            <a:ext cx="2133600" cy="304800"/>
          </a:xfrm>
        </p:spPr>
        <p:txBody>
          <a:bodyPr/>
          <a:lstStyle/>
          <a:p>
            <a:fld id="{1D8BD707-D9CF-40AE-B4C6-C98DA3205C09}" type="datetimeFigureOut">
              <a:rPr lang="en-US" smtClean="0"/>
              <a:pPr/>
              <a:t>5/12/25</a:t>
            </a:fld>
            <a:endParaRPr lang="en-US"/>
          </a:p>
        </p:txBody>
      </p:sp>
      <p:sp>
        <p:nvSpPr>
          <p:cNvPr id="11" name="Footer Placeholder 10"/>
          <p:cNvSpPr>
            <a:spLocks noGrp="1"/>
          </p:cNvSpPr>
          <p:nvPr>
            <p:ph type="ftr" sz="quarter" idx="11"/>
          </p:nvPr>
        </p:nvSpPr>
        <p:spPr>
          <a:xfrm>
            <a:off x="3124200" y="6553200"/>
            <a:ext cx="2895600" cy="304800"/>
          </a:xfrm>
        </p:spPr>
        <p:txBody>
          <a:bodyPr/>
          <a:lstStyle/>
          <a:p>
            <a:endParaRPr lang="en-US"/>
          </a:p>
        </p:txBody>
      </p:sp>
      <p:sp>
        <p:nvSpPr>
          <p:cNvPr id="12" name="Slide Number Placeholder 11"/>
          <p:cNvSpPr>
            <a:spLocks noGrp="1"/>
          </p:cNvSpPr>
          <p:nvPr>
            <p:ph type="sldNum" sz="quarter" idx="12"/>
          </p:nvPr>
        </p:nvSpPr>
        <p:spPr>
          <a:xfrm>
            <a:off x="6553200" y="6553200"/>
            <a:ext cx="2133600" cy="304800"/>
          </a:xfrm>
        </p:spPr>
        <p:txBody>
          <a:bodyPr/>
          <a:lstStyle>
            <a:lvl1pPr>
              <a:defRPr/>
            </a:lvl1pPr>
          </a:lstStyle>
          <a:p>
            <a:fld id="{B6F15528-21DE-4FAA-801E-634DDDAF4B2B}" type="slidenum">
              <a:rPr lang="en-US" smtClean="0"/>
              <a:pPr/>
              <a:t>‹#›</a:t>
            </a:fld>
            <a:endParaRPr lang="en-US"/>
          </a:p>
        </p:txBody>
      </p:sp>
      <p:sp>
        <p:nvSpPr>
          <p:cNvPr id="7" name="Content Placeholder 2"/>
          <p:cNvSpPr>
            <a:spLocks noGrp="1"/>
          </p:cNvSpPr>
          <p:nvPr>
            <p:ph sz="half" idx="1"/>
          </p:nvPr>
        </p:nvSpPr>
        <p:spPr>
          <a:xfrm>
            <a:off x="457200" y="1676402"/>
            <a:ext cx="4038600" cy="3971455"/>
          </a:xfrm>
        </p:spPr>
        <p:txBody>
          <a:bodyPr/>
          <a:lstStyle>
            <a:lvl1pPr>
              <a:defRPr sz="2800">
                <a:solidFill>
                  <a:schemeClr val="tx1">
                    <a:lumMod val="85000"/>
                    <a:lumOff val="15000"/>
                  </a:schemeClr>
                </a:solidFill>
              </a:defRPr>
            </a:lvl1pPr>
            <a:lvl2pPr>
              <a:defRPr sz="2400">
                <a:solidFill>
                  <a:schemeClr val="tx1">
                    <a:lumMod val="85000"/>
                    <a:lumOff val="15000"/>
                  </a:schemeClr>
                </a:solidFill>
              </a:defRPr>
            </a:lvl2pPr>
            <a:lvl3pPr>
              <a:defRPr sz="2000">
                <a:solidFill>
                  <a:schemeClr val="tx1">
                    <a:lumMod val="85000"/>
                    <a:lumOff val="15000"/>
                  </a:schemeClr>
                </a:solidFill>
              </a:defRPr>
            </a:lvl3pPr>
            <a:lvl4pPr>
              <a:defRPr sz="1800">
                <a:solidFill>
                  <a:schemeClr val="tx1">
                    <a:lumMod val="85000"/>
                    <a:lumOff val="15000"/>
                  </a:schemeClr>
                </a:solidFill>
              </a:defRPr>
            </a:lvl4pPr>
            <a:lvl5pPr>
              <a:defRPr sz="1800">
                <a:solidFill>
                  <a:schemeClr val="tx1">
                    <a:lumMod val="85000"/>
                    <a:lumOff val="15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3"/>
          <p:cNvSpPr>
            <a:spLocks noGrp="1"/>
          </p:cNvSpPr>
          <p:nvPr>
            <p:ph sz="half" idx="2"/>
          </p:nvPr>
        </p:nvSpPr>
        <p:spPr>
          <a:xfrm>
            <a:off x="4648200" y="1676400"/>
            <a:ext cx="4038600" cy="3971454"/>
          </a:xfrm>
        </p:spPr>
        <p:txBody>
          <a:bodyPr/>
          <a:lstStyle>
            <a:lvl1pPr>
              <a:defRPr sz="2800">
                <a:solidFill>
                  <a:schemeClr val="tx1">
                    <a:lumMod val="85000"/>
                    <a:lumOff val="15000"/>
                  </a:schemeClr>
                </a:solidFill>
              </a:defRPr>
            </a:lvl1pPr>
            <a:lvl2pPr>
              <a:defRPr sz="2400">
                <a:solidFill>
                  <a:schemeClr val="tx1">
                    <a:lumMod val="85000"/>
                    <a:lumOff val="15000"/>
                  </a:schemeClr>
                </a:solidFill>
              </a:defRPr>
            </a:lvl2pPr>
            <a:lvl3pPr>
              <a:defRPr sz="2000">
                <a:solidFill>
                  <a:schemeClr val="tx1">
                    <a:lumMod val="85000"/>
                    <a:lumOff val="15000"/>
                  </a:schemeClr>
                </a:solidFill>
              </a:defRPr>
            </a:lvl3pPr>
            <a:lvl4pPr>
              <a:defRPr sz="1800">
                <a:solidFill>
                  <a:schemeClr val="tx1">
                    <a:lumMod val="85000"/>
                    <a:lumOff val="15000"/>
                  </a:schemeClr>
                </a:solidFill>
              </a:defRPr>
            </a:lvl4pPr>
            <a:lvl5pPr>
              <a:defRPr sz="1800">
                <a:solidFill>
                  <a:schemeClr val="tx1">
                    <a:lumMod val="85000"/>
                    <a:lumOff val="15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97877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and Content: Emphasis">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solidFill>
                  <a:schemeClr val="tx1">
                    <a:lumMod val="85000"/>
                    <a:lumOff val="15000"/>
                  </a:schemeClr>
                </a:solidFill>
              </a:defRPr>
            </a:lvl1pPr>
          </a:lstStyle>
          <a:p>
            <a:fld id="{1D8BD707-D9CF-40AE-B4C6-C98DA3205C09}" type="datetimeFigureOut">
              <a:rPr lang="en-US" smtClean="0"/>
              <a:pPr/>
              <a:t>5/12/25</a:t>
            </a:fld>
            <a:endParaRPr lang="en-US"/>
          </a:p>
        </p:txBody>
      </p:sp>
      <p:sp>
        <p:nvSpPr>
          <p:cNvPr id="4" name="Footer Placeholder 3"/>
          <p:cNvSpPr>
            <a:spLocks noGrp="1"/>
          </p:cNvSpPr>
          <p:nvPr>
            <p:ph type="ftr" sz="quarter" idx="11"/>
          </p:nvPr>
        </p:nvSpPr>
        <p:spPr/>
        <p:txBody>
          <a:bodyPr/>
          <a:lstStyle>
            <a:lvl1pPr>
              <a:defRPr>
                <a:solidFill>
                  <a:schemeClr val="tx1">
                    <a:lumMod val="85000"/>
                    <a:lumOff val="15000"/>
                  </a:schemeClr>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tx1">
                    <a:lumMod val="85000"/>
                    <a:lumOff val="15000"/>
                  </a:schemeClr>
                </a:solidFill>
              </a:defRPr>
            </a:lvl1pPr>
          </a:lstStyle>
          <a:p>
            <a:fld id="{B6F15528-21DE-4FAA-801E-634DDDAF4B2B}" type="slidenum">
              <a:rPr lang="en-US" smtClean="0"/>
              <a:pPr/>
              <a:t>‹#›</a:t>
            </a:fld>
            <a:endParaRPr lang="en-US"/>
          </a:p>
        </p:txBody>
      </p:sp>
      <p:sp>
        <p:nvSpPr>
          <p:cNvPr id="6" name="Content Placeholder 2"/>
          <p:cNvSpPr>
            <a:spLocks noGrp="1"/>
          </p:cNvSpPr>
          <p:nvPr>
            <p:ph idx="1"/>
          </p:nvPr>
        </p:nvSpPr>
        <p:spPr>
          <a:xfrm>
            <a:off x="457200" y="1600200"/>
            <a:ext cx="8229600" cy="4525963"/>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1828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0999" y="1"/>
            <a:ext cx="7068015" cy="838200"/>
          </a:xfrm>
        </p:spPr>
        <p:txBody>
          <a:bodyPr anchor="b">
            <a:normAutofit/>
          </a:bodyPr>
          <a:lstStyle>
            <a:lvl1pPr algn="l">
              <a:defRPr sz="2800" b="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76402"/>
            <a:ext cx="4038600" cy="3971455"/>
          </a:xfrm>
        </p:spPr>
        <p:txBody>
          <a:bodyPr/>
          <a:lstStyle>
            <a:lvl1pPr>
              <a:defRPr sz="2800">
                <a:solidFill>
                  <a:schemeClr val="tx1">
                    <a:lumMod val="85000"/>
                    <a:lumOff val="15000"/>
                  </a:schemeClr>
                </a:solidFill>
              </a:defRPr>
            </a:lvl1pPr>
            <a:lvl2pPr>
              <a:defRPr sz="2400">
                <a:solidFill>
                  <a:schemeClr val="tx1">
                    <a:lumMod val="85000"/>
                    <a:lumOff val="15000"/>
                  </a:schemeClr>
                </a:solidFill>
              </a:defRPr>
            </a:lvl2pPr>
            <a:lvl3pPr>
              <a:defRPr sz="2000">
                <a:solidFill>
                  <a:schemeClr val="tx1">
                    <a:lumMod val="85000"/>
                    <a:lumOff val="15000"/>
                  </a:schemeClr>
                </a:solidFill>
              </a:defRPr>
            </a:lvl3pPr>
            <a:lvl4pPr>
              <a:defRPr sz="1800">
                <a:solidFill>
                  <a:schemeClr val="tx1">
                    <a:lumMod val="85000"/>
                    <a:lumOff val="15000"/>
                  </a:schemeClr>
                </a:solidFill>
              </a:defRPr>
            </a:lvl4pPr>
            <a:lvl5pPr>
              <a:defRPr sz="1800">
                <a:solidFill>
                  <a:schemeClr val="tx1">
                    <a:lumMod val="85000"/>
                    <a:lumOff val="15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6400"/>
            <a:ext cx="4038600" cy="3971454"/>
          </a:xfrm>
        </p:spPr>
        <p:txBody>
          <a:bodyPr/>
          <a:lstStyle>
            <a:lvl1pPr>
              <a:defRPr sz="2800">
                <a:solidFill>
                  <a:schemeClr val="tx1">
                    <a:lumMod val="85000"/>
                    <a:lumOff val="15000"/>
                  </a:schemeClr>
                </a:solidFill>
              </a:defRPr>
            </a:lvl1pPr>
            <a:lvl2pPr>
              <a:defRPr sz="2400">
                <a:solidFill>
                  <a:schemeClr val="tx1">
                    <a:lumMod val="85000"/>
                    <a:lumOff val="15000"/>
                  </a:schemeClr>
                </a:solidFill>
              </a:defRPr>
            </a:lvl2pPr>
            <a:lvl3pPr>
              <a:defRPr sz="2000">
                <a:solidFill>
                  <a:schemeClr val="tx1">
                    <a:lumMod val="85000"/>
                    <a:lumOff val="15000"/>
                  </a:schemeClr>
                </a:solidFill>
              </a:defRPr>
            </a:lvl3pPr>
            <a:lvl4pPr>
              <a:defRPr sz="1800">
                <a:solidFill>
                  <a:schemeClr val="tx1">
                    <a:lumMod val="85000"/>
                    <a:lumOff val="15000"/>
                  </a:schemeClr>
                </a:solidFill>
              </a:defRPr>
            </a:lvl4pPr>
            <a:lvl5pPr>
              <a:defRPr sz="1800">
                <a:solidFill>
                  <a:schemeClr val="tx1">
                    <a:lumMod val="85000"/>
                    <a:lumOff val="15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9369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bg1"/>
                </a:solidFill>
              </a:defRPr>
            </a:lvl1pPr>
          </a:lstStyle>
          <a:p>
            <a:fld id="{1D8BD707-D9CF-40AE-B4C6-C98DA3205C09}" type="datetimeFigureOut">
              <a:rPr lang="en-US" smtClean="0"/>
              <a:pPr/>
              <a:t>5/12/25</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B6F15528-21DE-4FAA-801E-634DDDAF4B2B}" type="slidenum">
              <a:rPr lang="en-US" smtClean="0"/>
              <a:pPr/>
              <a:t>‹#›</a:t>
            </a:fld>
            <a:endParaRPr lang="en-US"/>
          </a:p>
        </p:txBody>
      </p:sp>
      <p:pic>
        <p:nvPicPr>
          <p:cNvPr id="6" name="Picture 5"/>
          <p:cNvPicPr>
            <a:picLocks noChangeAspect="1"/>
          </p:cNvPicPr>
          <p:nvPr/>
        </p:nvPicPr>
        <p:blipFill>
          <a:blip r:embed="rId3" cstate="print"/>
          <a:stretch>
            <a:fillRect/>
          </a:stretch>
        </p:blipFill>
        <p:spPr>
          <a:xfrm>
            <a:off x="0" y="762000"/>
            <a:ext cx="2445488" cy="2286000"/>
          </a:xfrm>
          <a:prstGeom prst="rect">
            <a:avLst/>
          </a:prstGeom>
        </p:spPr>
      </p:pic>
      <p:sp>
        <p:nvSpPr>
          <p:cNvPr id="2" name="Title 1"/>
          <p:cNvSpPr>
            <a:spLocks noGrp="1"/>
          </p:cNvSpPr>
          <p:nvPr>
            <p:ph type="title"/>
          </p:nvPr>
        </p:nvSpPr>
        <p:spPr>
          <a:xfrm>
            <a:off x="1124400" y="2077200"/>
            <a:ext cx="7010400" cy="1143000"/>
          </a:xfrm>
        </p:spPr>
        <p:txBody>
          <a:bodyPr/>
          <a:lstStyle>
            <a:lvl1pPr algn="l">
              <a:defRPr/>
            </a:lvl1pPr>
          </a:lstStyle>
          <a:p>
            <a:r>
              <a:rPr lang="en-US"/>
              <a:t>Click to edit Master title style</a:t>
            </a:r>
            <a:endParaRPr lang="en-US" dirty="0"/>
          </a:p>
        </p:txBody>
      </p:sp>
    </p:spTree>
    <p:extLst>
      <p:ext uri="{BB962C8B-B14F-4D97-AF65-F5344CB8AC3E}">
        <p14:creationId xmlns:p14="http://schemas.microsoft.com/office/powerpoint/2010/main" val="286973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Only: Emphasis">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290400" y="3081000"/>
            <a:ext cx="8686800" cy="1095600"/>
          </a:xfrm>
        </p:spPr>
        <p:txBody>
          <a:bodyPr>
            <a:normAutofit/>
          </a:bodyPr>
          <a:lstStyle>
            <a:lvl1pPr algn="ctr">
              <a:defRPr lang="en-US" sz="4600" b="1" kern="1200" spc="-150" baseline="0" dirty="0" smtClean="0">
                <a:ln>
                  <a:gradFill>
                    <a:gsLst>
                      <a:gs pos="0">
                        <a:schemeClr val="bg1"/>
                      </a:gs>
                      <a:gs pos="50000">
                        <a:schemeClr val="bg1">
                          <a:lumMod val="75000"/>
                        </a:schemeClr>
                      </a:gs>
                    </a:gsLst>
                    <a:lin ang="5400000" scaled="0"/>
                  </a:gradFill>
                </a:ln>
                <a:gradFill>
                  <a:gsLst>
                    <a:gs pos="11000">
                      <a:schemeClr val="bg1">
                        <a:lumMod val="75000"/>
                      </a:schemeClr>
                    </a:gs>
                    <a:gs pos="91000">
                      <a:schemeClr val="bg1"/>
                    </a:gs>
                  </a:gsLst>
                  <a:lin ang="16200000" scaled="1"/>
                </a:gradFill>
                <a:effectLst>
                  <a:outerShdw blurRad="38100" algn="ctr" rotWithShape="0">
                    <a:prstClr val="black">
                      <a:alpha val="25000"/>
                    </a:prstClr>
                  </a:outerShdw>
                  <a:reflection blurRad="6350" stA="60000" endA="900" endPos="58000" dir="5400000" sy="-100000" algn="bl" rotWithShape="0"/>
                </a:effectLst>
                <a:latin typeface="+mn-lt"/>
                <a:ea typeface="+mn-ea"/>
                <a:cs typeface="+mn-cs"/>
              </a:defRPr>
            </a:lvl1pPr>
          </a:lstStyle>
          <a:p>
            <a:r>
              <a:rPr lang="en-US" dirty="0"/>
              <a:t>Click to edit Master Title Style</a:t>
            </a:r>
          </a:p>
        </p:txBody>
      </p:sp>
      <p:sp>
        <p:nvSpPr>
          <p:cNvPr id="7" name="Text Placeholder 2"/>
          <p:cNvSpPr>
            <a:spLocks noGrp="1"/>
          </p:cNvSpPr>
          <p:nvPr>
            <p:ph type="body" idx="1"/>
          </p:nvPr>
        </p:nvSpPr>
        <p:spPr>
          <a:xfrm>
            <a:off x="283952" y="2424752"/>
            <a:ext cx="8694000" cy="639762"/>
          </a:xfrm>
        </p:spPr>
        <p:txBody>
          <a:bodyPr anchor="b">
            <a:normAutofit/>
          </a:bodyPr>
          <a:lstStyle>
            <a:lvl1pPr marL="0" indent="0" algn="ctr">
              <a:buNone/>
              <a:defRPr lang="en-US" sz="2800" kern="1200" dirty="0" smtClean="0">
                <a:solidFill>
                  <a:srgbClr val="2E507A">
                    <a:alpha val="81000"/>
                  </a:srgb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686841525"/>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with Text ">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bg1"/>
                </a:solidFill>
              </a:defRPr>
            </a:lvl1pPr>
          </a:lstStyle>
          <a:p>
            <a:fld id="{1D8BD707-D9CF-40AE-B4C6-C98DA3205C09}" type="datetimeFigureOut">
              <a:rPr lang="en-US" smtClean="0"/>
              <a:pPr/>
              <a:t>5/12/25</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a:xfrm>
            <a:off x="6553200" y="6324600"/>
            <a:ext cx="2133600" cy="365125"/>
          </a:xfrm>
        </p:spPr>
        <p:txBody>
          <a:bodyPr/>
          <a:lstStyle>
            <a:lvl1pPr>
              <a:defRPr>
                <a:solidFill>
                  <a:schemeClr val="bg1"/>
                </a:solidFill>
              </a:defRPr>
            </a:lvl1pPr>
          </a:lstStyle>
          <a:p>
            <a:fld id="{B6F15528-21DE-4FAA-801E-634DDDAF4B2B}" type="slidenum">
              <a:rPr lang="en-US" smtClean="0"/>
              <a:pPr/>
              <a:t>‹#›</a:t>
            </a:fld>
            <a:endParaRPr lang="en-US"/>
          </a:p>
        </p:txBody>
      </p:sp>
      <p:sp>
        <p:nvSpPr>
          <p:cNvPr id="7" name="Rectangle 6"/>
          <p:cNvSpPr/>
          <p:nvPr/>
        </p:nvSpPr>
        <p:spPr>
          <a:xfrm>
            <a:off x="0" y="2895600"/>
            <a:ext cx="7543800" cy="2133600"/>
          </a:xfrm>
          <a:prstGeom prst="rect">
            <a:avLst/>
          </a:prstGeom>
          <a:gradFill flip="none" rotWithShape="1">
            <a:gsLst>
              <a:gs pos="63000">
                <a:schemeClr val="tx1">
                  <a:lumMod val="85000"/>
                  <a:lumOff val="15000"/>
                  <a:alpha val="49000"/>
                </a:schemeClr>
              </a:gs>
              <a:gs pos="100000">
                <a:schemeClr val="tx1">
                  <a:lumMod val="95000"/>
                  <a:lumOff val="5000"/>
                  <a:alpha val="56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9" name="Title 1"/>
          <p:cNvSpPr>
            <a:spLocks noGrp="1"/>
          </p:cNvSpPr>
          <p:nvPr>
            <p:ph type="title"/>
          </p:nvPr>
        </p:nvSpPr>
        <p:spPr>
          <a:xfrm>
            <a:off x="414867" y="3200400"/>
            <a:ext cx="7010400" cy="1676400"/>
          </a:xfrm>
        </p:spPr>
        <p:txBody>
          <a:bodyPr>
            <a:normAutofit/>
          </a:bodyPr>
          <a:lstStyle>
            <a:lvl1pPr marL="0" algn="l" defTabSz="914400" rtl="0" eaLnBrk="1" latinLnBrk="0" hangingPunct="1">
              <a:defRPr lang="en-US" sz="4000" kern="1200" dirty="0">
                <a:solidFill>
                  <a:schemeClr val="bg1"/>
                </a:solidFill>
                <a:latin typeface="+mn-lt"/>
                <a:ea typeface="+mn-ea"/>
                <a:cs typeface="+mn-cs"/>
              </a:defRPr>
            </a:lvl1pPr>
          </a:lstStyle>
          <a:p>
            <a:r>
              <a:rPr lang="en-US"/>
              <a:t>Click to edit Master title style</a:t>
            </a:r>
            <a:endParaRPr lang="en-US" dirty="0"/>
          </a:p>
        </p:txBody>
      </p:sp>
      <p:sp>
        <p:nvSpPr>
          <p:cNvPr id="10" name="Text Placeholder 15"/>
          <p:cNvSpPr>
            <a:spLocks noGrp="1"/>
          </p:cNvSpPr>
          <p:nvPr>
            <p:ph type="body" sz="quarter" idx="14" hasCustomPrompt="1"/>
          </p:nvPr>
        </p:nvSpPr>
        <p:spPr>
          <a:xfrm>
            <a:off x="4648200" y="664780"/>
            <a:ext cx="4191000" cy="381000"/>
          </a:xfrm>
        </p:spPr>
        <p:txBody>
          <a:bodyPr>
            <a:normAutofit/>
          </a:bodyPr>
          <a:lstStyle>
            <a:lvl1pPr algn="r">
              <a:buNone/>
              <a:defRPr lang="en-US" sz="1800" b="1" kern="1200" dirty="0" smtClean="0">
                <a:solidFill>
                  <a:schemeClr val="bg1">
                    <a:lumMod val="65000"/>
                  </a:schemeClr>
                </a:solidFill>
                <a:latin typeface="Calibri" pitchFamily="34" charset="0"/>
                <a:ea typeface="+mn-ea"/>
                <a:cs typeface="+mn-cs"/>
              </a:defRPr>
            </a:lvl1pPr>
          </a:lstStyle>
          <a:p>
            <a:pPr lvl="0"/>
            <a:r>
              <a:rPr lang="en-US" dirty="0"/>
              <a:t>Click to edit Master subtitle style</a:t>
            </a:r>
          </a:p>
        </p:txBody>
      </p:sp>
    </p:spTree>
    <p:extLst>
      <p:ext uri="{BB962C8B-B14F-4D97-AF65-F5344CB8AC3E}">
        <p14:creationId xmlns:p14="http://schemas.microsoft.com/office/powerpoint/2010/main" val="2029131479"/>
      </p:ext>
    </p:extLst>
  </p:cSld>
  <p:clrMapOvr>
    <a:masterClrMapping/>
  </p:clrMapOvr>
  <mc:AlternateContent xmlns:mc="http://schemas.openxmlformats.org/markup-compatibility/2006" xmlns:p14="http://schemas.microsoft.com/office/powerpoint/2010/main">
    <mc:Choice Requires="p14">
      <p:transition spd="slow" p14:dur="2000">
        <p14:vortex/>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7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25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utoUpdateAnimBg="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Media with Capti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bg1"/>
                </a:solidFill>
              </a:defRPr>
            </a:lvl1pPr>
          </a:lstStyle>
          <a:p>
            <a:fld id="{1D8BD707-D9CF-40AE-B4C6-C98DA3205C09}" type="datetimeFigureOut">
              <a:rPr lang="en-US" smtClean="0"/>
              <a:pPr/>
              <a:t>5/12/25</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B6F15528-21DE-4FAA-801E-634DDDAF4B2B}" type="slidenum">
              <a:rPr lang="en-US" smtClean="0"/>
              <a:pPr/>
              <a:t>‹#›</a:t>
            </a:fld>
            <a:endParaRPr lang="en-US"/>
          </a:p>
        </p:txBody>
      </p:sp>
      <p:sp>
        <p:nvSpPr>
          <p:cNvPr id="6" name="Rectangle 5"/>
          <p:cNvSpPr/>
          <p:nvPr/>
        </p:nvSpPr>
        <p:spPr>
          <a:xfrm>
            <a:off x="595263" y="4800600"/>
            <a:ext cx="4873752" cy="685800"/>
          </a:xfrm>
          <a:prstGeom prst="rect">
            <a:avLst/>
          </a:prstGeom>
          <a:solidFill>
            <a:schemeClr val="tx1">
              <a:lumMod val="95000"/>
              <a:lumOff val="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prstClr val="white"/>
              </a:solidFill>
              <a:latin typeface="Georgia" pitchFamily="18" charset="0"/>
            </a:endParaRPr>
          </a:p>
        </p:txBody>
      </p:sp>
      <p:sp>
        <p:nvSpPr>
          <p:cNvPr id="7" name="Title 1"/>
          <p:cNvSpPr>
            <a:spLocks noGrp="1"/>
          </p:cNvSpPr>
          <p:nvPr>
            <p:ph type="title"/>
          </p:nvPr>
        </p:nvSpPr>
        <p:spPr>
          <a:xfrm>
            <a:off x="606552" y="4800600"/>
            <a:ext cx="4809244" cy="566738"/>
          </a:xfrm>
        </p:spPr>
        <p:txBody>
          <a:bodyPr anchor="b">
            <a:normAutofit/>
          </a:bodyPr>
          <a:lstStyle>
            <a:lvl1pPr algn="ctr">
              <a:defRPr sz="1800" b="0" i="1">
                <a:solidFill>
                  <a:schemeClr val="bg1">
                    <a:lumMod val="85000"/>
                  </a:schemeClr>
                </a:solidFill>
                <a:latin typeface="Georgia" pitchFamily="18" charset="0"/>
              </a:defRPr>
            </a:lvl1pPr>
          </a:lstStyle>
          <a:p>
            <a:r>
              <a:rPr lang="en-US"/>
              <a:t>Click to edit Master title style</a:t>
            </a:r>
            <a:endParaRPr lang="en-US" dirty="0"/>
          </a:p>
        </p:txBody>
      </p:sp>
      <p:sp>
        <p:nvSpPr>
          <p:cNvPr id="9" name="Media Placeholder 8"/>
          <p:cNvSpPr>
            <a:spLocks noGrp="1"/>
          </p:cNvSpPr>
          <p:nvPr>
            <p:ph type="media" sz="quarter" idx="13"/>
          </p:nvPr>
        </p:nvSpPr>
        <p:spPr>
          <a:xfrm>
            <a:off x="587022" y="838200"/>
            <a:ext cx="4873752" cy="3812822"/>
          </a:xfrm>
        </p:spPr>
        <p:txBody>
          <a:bodyPr/>
          <a:lstStyle>
            <a:lvl1pPr>
              <a:buNone/>
              <a:defRPr/>
            </a:lvl1pPr>
          </a:lstStyle>
          <a:p>
            <a:r>
              <a:rPr lang="en-US"/>
              <a:t>Click icon to add media</a:t>
            </a:r>
            <a:endParaRPr lang="en-US" dirty="0"/>
          </a:p>
        </p:txBody>
      </p:sp>
      <p:sp>
        <p:nvSpPr>
          <p:cNvPr id="11" name="Text Placeholder 10"/>
          <p:cNvSpPr>
            <a:spLocks noGrp="1"/>
          </p:cNvSpPr>
          <p:nvPr>
            <p:ph type="body" sz="quarter" idx="14"/>
          </p:nvPr>
        </p:nvSpPr>
        <p:spPr>
          <a:xfrm>
            <a:off x="5776863" y="838200"/>
            <a:ext cx="2819400" cy="4636911"/>
          </a:xfrm>
        </p:spPr>
        <p:txBody>
          <a:bodyPr>
            <a:normAutofit/>
          </a:bodyPr>
          <a:lstStyle>
            <a:lvl1pPr marL="0" indent="0" algn="l">
              <a:buNone/>
              <a:defRPr sz="24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856088774"/>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1792800" y="4800600"/>
            <a:ext cx="5500800" cy="685800"/>
          </a:xfrm>
          <a:prstGeom prst="rect">
            <a:avLst/>
          </a:prstGeom>
          <a:solidFill>
            <a:schemeClr val="tx1">
              <a:lumMod val="95000"/>
              <a:lumOff val="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prstClr val="white"/>
              </a:solidFill>
              <a:latin typeface="Georgia" pitchFamily="18" charset="0"/>
            </a:endParaRPr>
          </a:p>
        </p:txBody>
      </p:sp>
      <p:sp>
        <p:nvSpPr>
          <p:cNvPr id="2" name="Title 1"/>
          <p:cNvSpPr>
            <a:spLocks noGrp="1"/>
          </p:cNvSpPr>
          <p:nvPr>
            <p:ph type="title"/>
          </p:nvPr>
        </p:nvSpPr>
        <p:spPr>
          <a:xfrm>
            <a:off x="1792288" y="4800600"/>
            <a:ext cx="5486400" cy="566738"/>
          </a:xfrm>
        </p:spPr>
        <p:txBody>
          <a:bodyPr anchor="b">
            <a:normAutofit/>
          </a:bodyPr>
          <a:lstStyle>
            <a:lvl1pPr algn="ctr">
              <a:defRPr sz="1800" b="0" i="1">
                <a:solidFill>
                  <a:schemeClr val="bg1">
                    <a:lumMod val="85000"/>
                  </a:schemeClr>
                </a:solidFill>
                <a:latin typeface="Georgia" pitchFamily="18" charset="0"/>
              </a:defRPr>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562600"/>
            <a:ext cx="5486400" cy="609600"/>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1D8BD707-D9CF-40AE-B4C6-C98DA3205C09}" type="datetimeFigureOut">
              <a:rPr lang="en-US" smtClean="0"/>
              <a:pPr/>
              <a:t>5/12/25</a:t>
            </a:fld>
            <a:endParaRPr lang="en-US"/>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7657385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Vertical Tex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4" name="Title 1"/>
          <p:cNvSpPr>
            <a:spLocks noGrp="1"/>
          </p:cNvSpPr>
          <p:nvPr>
            <p:ph type="title" hasCustomPrompt="1"/>
          </p:nvPr>
        </p:nvSpPr>
        <p:spPr>
          <a:xfrm>
            <a:off x="0" y="414867"/>
            <a:ext cx="5029200" cy="457200"/>
          </a:xfrm>
          <a:solidFill>
            <a:schemeClr val="tx1">
              <a:lumMod val="50000"/>
              <a:lumOff val="50000"/>
            </a:schemeClr>
          </a:solidFill>
        </p:spPr>
        <p:txBody>
          <a:bodyPr>
            <a:normAutofit/>
          </a:bodyPr>
          <a:lstStyle>
            <a:lvl1pPr algn="l">
              <a:defRPr lang="en-US" sz="2800" b="1" kern="1200" baseline="0" dirty="0">
                <a:solidFill>
                  <a:schemeClr val="bg1"/>
                </a:solidFill>
                <a:latin typeface="+mn-lt"/>
                <a:ea typeface="+mn-ea"/>
                <a:cs typeface="+mn-cs"/>
              </a:defRPr>
            </a:lvl1pPr>
          </a:lstStyle>
          <a:p>
            <a:r>
              <a:rPr lang="en-US" dirty="0"/>
              <a:t>    Click to edit Master title style</a:t>
            </a:r>
          </a:p>
        </p:txBody>
      </p:sp>
    </p:spTree>
    <p:extLst>
      <p:ext uri="{BB962C8B-B14F-4D97-AF65-F5344CB8AC3E}">
        <p14:creationId xmlns:p14="http://schemas.microsoft.com/office/powerpoint/2010/main" val="3818227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7150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5105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lumMod val="85000"/>
                    <a:lumOff val="15000"/>
                  </a:schemeClr>
                </a:solidFill>
              </a:defRPr>
            </a:lvl1pPr>
          </a:lstStyle>
          <a:p>
            <a:fld id="{1D8BD707-D9CF-40AE-B4C6-C98DA3205C09}" type="datetimeFigureOut">
              <a:rPr lang="en-US" smtClean="0"/>
              <a:pPr/>
              <a:t>5/12/25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85000"/>
                    <a:lumOff val="1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37195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65938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74"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1.bin"/><Relationship Id="rId1" Type="http://schemas.openxmlformats.org/officeDocument/2006/relationships/slideLayout" Target="../slideLayouts/slideLayout3.xml"/><Relationship Id="rId6" Type="http://schemas.openxmlformats.org/officeDocument/2006/relationships/oleObject" Target="../embeddings/oleObject3.bin"/><Relationship Id="rId5" Type="http://schemas.openxmlformats.org/officeDocument/2006/relationships/image" Target="../media/image17.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4.bin"/><Relationship Id="rId1" Type="http://schemas.openxmlformats.org/officeDocument/2006/relationships/slideLayout" Target="../slideLayouts/slideLayout3.xml"/><Relationship Id="rId5" Type="http://schemas.openxmlformats.org/officeDocument/2006/relationships/image" Target="../media/image20.w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2.wmf"/><Relationship Id="rId5" Type="http://schemas.openxmlformats.org/officeDocument/2006/relationships/oleObject" Target="../embeddings/oleObject7.bin"/><Relationship Id="rId4" Type="http://schemas.openxmlformats.org/officeDocument/2006/relationships/image" Target="../media/image21.wmf"/></Relationships>
</file>

<file path=ppt/slides/_rels/slide8.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14.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8.wmf"/><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5.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12.bin"/><Relationship Id="rId14" Type="http://schemas.openxmlformats.org/officeDocument/2006/relationships/image" Target="../media/image29.wmf"/></Relationships>
</file>

<file path=ppt/slides/_rels/slide9.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34.wmf"/><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1.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18.bin"/></Relationships>
</file>

<file path=ppt/slides/_rels/slide10.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39.wmf"/><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36.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23.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25.bin"/><Relationship Id="rId1" Type="http://schemas.openxmlformats.org/officeDocument/2006/relationships/slideLayout" Target="../slideLayouts/slideLayout3.xml"/><Relationship Id="rId5" Type="http://schemas.openxmlformats.org/officeDocument/2006/relationships/image" Target="../media/image43.wmf"/><Relationship Id="rId4" Type="http://schemas.openxmlformats.org/officeDocument/2006/relationships/oleObject" Target="../embeddings/oleObject26.bin"/></Relationships>
</file>

<file path=ppt/slides/_rels/slide20.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27.bin"/><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28.bin"/><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body" sz="quarter" idx="14"/>
          </p:nvPr>
        </p:nvSpPr>
        <p:spPr/>
        <p:txBody>
          <a:bodyPr/>
          <a:lstStyle/>
          <a:p>
            <a:endParaRPr lang="en-US" dirty="0"/>
          </a:p>
        </p:txBody>
      </p:sp>
      <p:sp>
        <p:nvSpPr>
          <p:cNvPr id="2" name="Title 1"/>
          <p:cNvSpPr>
            <a:spLocks noGrp="1"/>
          </p:cNvSpPr>
          <p:nvPr>
            <p:ph type="title"/>
          </p:nvPr>
        </p:nvSpPr>
        <p:spPr/>
        <p:txBody>
          <a:bodyPr/>
          <a:lstStyle/>
          <a:p>
            <a:r>
              <a:rPr lang="vi-VN" dirty="0"/>
              <a:t>Ư</a:t>
            </a:r>
            <a:r>
              <a:rPr lang="en-US" dirty="0"/>
              <a:t>ỚC LƯỢNG </a:t>
            </a:r>
          </a:p>
        </p:txBody>
      </p:sp>
    </p:spTree>
    <p:extLst>
      <p:ext uri="{BB962C8B-B14F-4D97-AF65-F5344CB8AC3E}">
        <p14:creationId xmlns:p14="http://schemas.microsoft.com/office/powerpoint/2010/main" val="2054536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Ước lượng điểm</a:t>
            </a:r>
          </a:p>
        </p:txBody>
      </p:sp>
      <p:sp>
        <p:nvSpPr>
          <p:cNvPr id="3" name="Content Placeholder 2"/>
          <p:cNvSpPr>
            <a:spLocks noGrp="1"/>
          </p:cNvSpPr>
          <p:nvPr>
            <p:ph idx="1"/>
          </p:nvPr>
        </p:nvSpPr>
        <p:spPr/>
        <p:txBody>
          <a:bodyPr>
            <a:normAutofit/>
          </a:bodyPr>
          <a:lstStyle/>
          <a:p>
            <a:r>
              <a:rPr lang="vi-VN" sz="2800">
                <a:latin typeface="Calibri" pitchFamily="34" charset="0"/>
                <a:cs typeface="Calibri" pitchFamily="34" charset="0"/>
              </a:rPr>
              <a:t>Ví dụ</a:t>
            </a:r>
            <a:r>
              <a:rPr lang="pt-BR" sz="2800">
                <a:latin typeface="Calibri" pitchFamily="34" charset="0"/>
                <a:cs typeface="Calibri" pitchFamily="34" charset="0"/>
              </a:rPr>
              <a:t>:</a:t>
            </a:r>
            <a:r>
              <a:rPr lang="vi-VN" sz="2800">
                <a:latin typeface="Calibri" pitchFamily="34" charset="0"/>
                <a:cs typeface="Calibri" pitchFamily="34" charset="0"/>
              </a:rPr>
              <a:t> công ty A có hàng ngàn công nhân. </a:t>
            </a:r>
            <a:endParaRPr lang="en-US" sz="2800">
              <a:latin typeface="Calibri" pitchFamily="34" charset="0"/>
              <a:cs typeface="Calibri" pitchFamily="34" charset="0"/>
            </a:endParaRPr>
          </a:p>
          <a:p>
            <a:pPr lvl="1"/>
            <a:r>
              <a:rPr lang="vi-VN">
                <a:latin typeface="Calibri" pitchFamily="34" charset="0"/>
                <a:cs typeface="Calibri" pitchFamily="34" charset="0"/>
              </a:rPr>
              <a:t>Thăm dò 100 công nhân của công ty nhận thấy thu nhập trung bình là 1,5 triệu đồng/tháng. </a:t>
            </a:r>
            <a:endParaRPr lang="en-US">
              <a:latin typeface="Calibri" pitchFamily="34" charset="0"/>
              <a:cs typeface="Calibri" pitchFamily="34" charset="0"/>
            </a:endParaRPr>
          </a:p>
          <a:p>
            <a:pPr lvl="1"/>
            <a:r>
              <a:rPr lang="vi-VN">
                <a:latin typeface="Calibri" pitchFamily="34" charset="0"/>
                <a:cs typeface="Calibri" pitchFamily="34" charset="0"/>
              </a:rPr>
              <a:t>Sử dụng trung bình mẫu để ước lượng thu nhập trung bình của công nhân công ty A. </a:t>
            </a:r>
            <a:endParaRPr lang="en-US">
              <a:latin typeface="Calibri" pitchFamily="34" charset="0"/>
              <a:cs typeface="Calibri" pitchFamily="34" charset="0"/>
            </a:endParaRPr>
          </a:p>
          <a:p>
            <a:pPr lvl="1"/>
            <a:r>
              <a:rPr lang="vi-VN">
                <a:latin typeface="Calibri" pitchFamily="34" charset="0"/>
                <a:cs typeface="Calibri" pitchFamily="34" charset="0"/>
              </a:rPr>
              <a:t>Ta nói thu nhập trung bình của công nhân công ty được </a:t>
            </a:r>
            <a:r>
              <a:rPr lang="vi-VN">
                <a:solidFill>
                  <a:srgbClr val="CC3300"/>
                </a:solidFill>
                <a:latin typeface="Calibri" pitchFamily="34" charset="0"/>
                <a:cs typeface="Calibri" pitchFamily="34" charset="0"/>
              </a:rPr>
              <a:t>ước lượng là 1,5 triệu đồng/tháng</a:t>
            </a:r>
            <a:r>
              <a:rPr lang="vi-VN">
                <a:latin typeface="Calibri" pitchFamily="34" charset="0"/>
                <a:cs typeface="Calibri" pitchFamily="34" charset="0"/>
              </a:rPr>
              <a:t>, </a:t>
            </a:r>
            <a:endParaRPr lang="en-US">
              <a:latin typeface="Calibri" pitchFamily="34" charset="0"/>
              <a:cs typeface="Calibri" pitchFamily="34" charset="0"/>
            </a:endParaRPr>
          </a:p>
          <a:p>
            <a:r>
              <a:rPr lang="vi-VN" sz="2800">
                <a:latin typeface="Calibri" pitchFamily="34" charset="0"/>
                <a:cs typeface="Calibri" pitchFamily="34" charset="0"/>
              </a:rPr>
              <a:t>Một ước lượng tham số của tổng thể được cho bởi </a:t>
            </a:r>
            <a:r>
              <a:rPr lang="vi-VN" sz="2800" b="1">
                <a:solidFill>
                  <a:srgbClr val="0070C0"/>
                </a:solidFill>
                <a:latin typeface="Calibri" pitchFamily="34" charset="0"/>
                <a:cs typeface="Calibri" pitchFamily="34" charset="0"/>
              </a:rPr>
              <a:t>một con số </a:t>
            </a:r>
            <a:r>
              <a:rPr lang="vi-VN" sz="2800">
                <a:latin typeface="Calibri" pitchFamily="34" charset="0"/>
                <a:cs typeface="Calibri" pitchFamily="34" charset="0"/>
              </a:rPr>
              <a:t>thì được gọi là </a:t>
            </a:r>
            <a:r>
              <a:rPr lang="vi-VN" sz="2800" u="sng">
                <a:solidFill>
                  <a:srgbClr val="CC3300"/>
                </a:solidFill>
                <a:latin typeface="Calibri" pitchFamily="34" charset="0"/>
                <a:cs typeface="Calibri" pitchFamily="34" charset="0"/>
              </a:rPr>
              <a:t>ước lượng điểm </a:t>
            </a:r>
            <a:r>
              <a:rPr lang="vi-VN" sz="2800">
                <a:latin typeface="Calibri" pitchFamily="34" charset="0"/>
                <a:cs typeface="Calibri" pitchFamily="34" charset="0"/>
              </a:rPr>
              <a:t>của tham số tổng thể.</a:t>
            </a:r>
            <a:endParaRPr lang="en-US">
              <a:latin typeface="Calibri" pitchFamily="34" charset="0"/>
              <a:cs typeface="Calibri" pitchFamily="34" charset="0"/>
            </a:endParaRPr>
          </a:p>
        </p:txBody>
      </p:sp>
    </p:spTree>
    <p:extLst>
      <p:ext uri="{BB962C8B-B14F-4D97-AF65-F5344CB8AC3E}">
        <p14:creationId xmlns:p14="http://schemas.microsoft.com/office/powerpoint/2010/main" val="870882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vi-VN" dirty="0">
                    <a:latin typeface="Calibri" pitchFamily="34" charset="0"/>
                    <a:cs typeface="Calibri" pitchFamily="34" charset="0"/>
                  </a:rPr>
                  <a:t>Nếu nói một độ dài nào đó là 5,28 m thì ta nói về ước lượng điểm. </a:t>
                </a:r>
                <a:endParaRPr lang="en-US" dirty="0">
                  <a:latin typeface="Calibri" pitchFamily="34" charset="0"/>
                  <a:cs typeface="Calibri" pitchFamily="34" charset="0"/>
                </a:endParaRPr>
              </a:p>
              <a:p>
                <a:r>
                  <a:rPr lang="en-US" dirty="0">
                    <a:latin typeface="Calibri" pitchFamily="34" charset="0"/>
                    <a:cs typeface="Calibri" pitchFamily="34" charset="0"/>
                  </a:rPr>
                  <a:t>N</a:t>
                </a:r>
                <a:r>
                  <a:rPr lang="vi-VN" dirty="0">
                    <a:latin typeface="Calibri" pitchFamily="34" charset="0"/>
                    <a:cs typeface="Calibri" pitchFamily="34" charset="0"/>
                  </a:rPr>
                  <a:t>ếu nói độ dài đó là 5,28 </a:t>
                </a:r>
                <a:r>
                  <a:rPr lang="vi-VN" dirty="0">
                    <a:solidFill>
                      <a:srgbClr val="0070C0"/>
                    </a:solidFill>
                    <a:latin typeface="Calibri" pitchFamily="34" charset="0"/>
                    <a:cs typeface="Calibri" pitchFamily="34" charset="0"/>
                    <a:sym typeface="Symbol" pitchFamily="18" charset="2"/>
                  </a:rPr>
                  <a:t></a:t>
                </a:r>
                <a:r>
                  <a:rPr lang="vi-VN" dirty="0">
                    <a:solidFill>
                      <a:srgbClr val="0070C0"/>
                    </a:solidFill>
                    <a:latin typeface="Calibri" pitchFamily="34" charset="0"/>
                    <a:cs typeface="Calibri" pitchFamily="34" charset="0"/>
                  </a:rPr>
                  <a:t> 0,03 m</a:t>
                </a:r>
                <a:r>
                  <a:rPr lang="vi-VN" dirty="0">
                    <a:latin typeface="Calibri" pitchFamily="34" charset="0"/>
                    <a:cs typeface="Calibri" pitchFamily="34" charset="0"/>
                  </a:rPr>
                  <a:t>, </a:t>
                </a:r>
                <a:r>
                  <a:rPr lang="en-US" dirty="0" err="1">
                    <a:latin typeface="Calibri" pitchFamily="34" charset="0"/>
                    <a:cs typeface="Calibri" pitchFamily="34" charset="0"/>
                  </a:rPr>
                  <a:t>i.e</a:t>
                </a:r>
                <a:r>
                  <a:rPr lang="vi-VN" dirty="0">
                    <a:latin typeface="Calibri" pitchFamily="34" charset="0"/>
                    <a:cs typeface="Calibri" pitchFamily="34" charset="0"/>
                  </a:rPr>
                  <a:t> độ dài đó nằm trong khoảng 5,25 và 5,31 m thì ta đã đưa ra một ước lượng khoảng. </a:t>
                </a:r>
                <a:endParaRPr lang="en-US" dirty="0">
                  <a:latin typeface="Calibri" pitchFamily="34" charset="0"/>
                  <a:cs typeface="Calibri" pitchFamily="34" charset="0"/>
                </a:endParaRPr>
              </a:p>
              <a:p>
                <a:r>
                  <a:rPr lang="vi-VN" dirty="0">
                    <a:latin typeface="Calibri" pitchFamily="34" charset="0"/>
                    <a:cs typeface="Calibri" pitchFamily="34" charset="0"/>
                  </a:rPr>
                  <a:t>Giá trị </a:t>
                </a:r>
                <a:r>
                  <a:rPr lang="vi-VN" dirty="0">
                    <a:solidFill>
                      <a:srgbClr val="0070C0"/>
                    </a:solidFill>
                    <a:latin typeface="Calibri" pitchFamily="34" charset="0"/>
                    <a:cs typeface="Calibri" pitchFamily="34" charset="0"/>
                  </a:rPr>
                  <a:t>0,03</a:t>
                </a:r>
                <a:r>
                  <a:rPr lang="vi-VN" dirty="0">
                    <a:latin typeface="Calibri" pitchFamily="34" charset="0"/>
                    <a:cs typeface="Calibri" pitchFamily="34" charset="0"/>
                  </a:rPr>
                  <a:t> được gọi là </a:t>
                </a:r>
                <a:r>
                  <a:rPr lang="vi-VN" b="1" dirty="0">
                    <a:solidFill>
                      <a:srgbClr val="0070C0"/>
                    </a:solidFill>
                    <a:latin typeface="Calibri" pitchFamily="34" charset="0"/>
                    <a:cs typeface="Calibri" pitchFamily="34" charset="0"/>
                  </a:rPr>
                  <a:t>sai số </a:t>
                </a:r>
                <a:r>
                  <a:rPr lang="vi-VN" dirty="0">
                    <a:latin typeface="Calibri" pitchFamily="34" charset="0"/>
                    <a:cs typeface="Calibri" pitchFamily="34" charset="0"/>
                  </a:rPr>
                  <a:t>của phép ước lượng.</a:t>
                </a:r>
              </a:p>
              <a:p>
                <a:r>
                  <a:rPr lang="vi-VN" dirty="0">
                    <a:latin typeface="Calibri" pitchFamily="34" charset="0"/>
                    <a:cs typeface="Calibri" pitchFamily="34" charset="0"/>
                  </a:rPr>
                  <a:t>Sai số của phép ước lượng</a:t>
                </a:r>
                <a:r>
                  <a:rPr lang="en-US" dirty="0">
                    <a:latin typeface="Calibri" pitchFamily="34" charset="0"/>
                    <a:cs typeface="Calibri" pitchFamily="34" charset="0"/>
                  </a:rPr>
                  <a:t>, </a:t>
                </a:r>
                <a:r>
                  <a:rPr lang="en-US" dirty="0" err="1">
                    <a:solidFill>
                      <a:srgbClr val="0070C0"/>
                    </a:solidFill>
                    <a:latin typeface="Calibri" pitchFamily="34" charset="0"/>
                    <a:cs typeface="Calibri" pitchFamily="34" charset="0"/>
                  </a:rPr>
                  <a:t>ký</a:t>
                </a:r>
                <a:r>
                  <a:rPr lang="en-US" dirty="0">
                    <a:solidFill>
                      <a:srgbClr val="0070C0"/>
                    </a:solidFill>
                    <a:latin typeface="Calibri" pitchFamily="34" charset="0"/>
                    <a:cs typeface="Calibri" pitchFamily="34" charset="0"/>
                  </a:rPr>
                  <a:t> </a:t>
                </a:r>
                <a:r>
                  <a:rPr lang="en-US" dirty="0" err="1">
                    <a:solidFill>
                      <a:srgbClr val="0070C0"/>
                    </a:solidFill>
                    <a:latin typeface="Calibri" pitchFamily="34" charset="0"/>
                    <a:cs typeface="Calibri" pitchFamily="34" charset="0"/>
                  </a:rPr>
                  <a:t>hiệu</a:t>
                </a:r>
                <a:r>
                  <a:rPr lang="en-US" dirty="0">
                    <a:solidFill>
                      <a:srgbClr val="0070C0"/>
                    </a:solidFill>
                    <a:latin typeface="Calibri" pitchFamily="34" charset="0"/>
                    <a:cs typeface="Calibri" pitchFamily="34" charset="0"/>
                  </a:rPr>
                  <a:t> </a:t>
                </a:r>
                <a14:m>
                  <m:oMath xmlns:m="http://schemas.openxmlformats.org/officeDocument/2006/math">
                    <m:r>
                      <a:rPr lang="en-US" b="0" i="1" smtClean="0">
                        <a:solidFill>
                          <a:srgbClr val="0070C0"/>
                        </a:solidFill>
                        <a:latin typeface="Cambria Math"/>
                        <a:cs typeface="Calibri" pitchFamily="34" charset="0"/>
                      </a:rPr>
                      <m:t>𝜀</m:t>
                    </m:r>
                  </m:oMath>
                </a14:m>
                <a:r>
                  <a:rPr lang="en-US" dirty="0">
                    <a:latin typeface="Calibri" pitchFamily="34" charset="0"/>
                    <a:cs typeface="Calibri" pitchFamily="34" charset="0"/>
                  </a:rPr>
                  <a:t>, </a:t>
                </a:r>
                <a:r>
                  <a:rPr lang="en-US" b="1" i="1" dirty="0">
                    <a:latin typeface="Calibri" pitchFamily="34" charset="0"/>
                    <a:cs typeface="Calibri" pitchFamily="34" charset="0"/>
                  </a:rPr>
                  <a:t>thể </a:t>
                </a:r>
                <a:r>
                  <a:rPr lang="en-US" b="1" i="1" dirty="0" err="1">
                    <a:latin typeface="Calibri" pitchFamily="34" charset="0"/>
                    <a:cs typeface="Calibri" pitchFamily="34" charset="0"/>
                  </a:rPr>
                  <a:t>hiện</a:t>
                </a:r>
                <a:r>
                  <a:rPr lang="en-US" b="1" i="1" dirty="0">
                    <a:latin typeface="Calibri" pitchFamily="34" charset="0"/>
                    <a:cs typeface="Calibri" pitchFamily="34" charset="0"/>
                  </a:rPr>
                  <a:t> </a:t>
                </a:r>
                <a:r>
                  <a:rPr lang="vi-VN" dirty="0">
                    <a:solidFill>
                      <a:srgbClr val="CC3300"/>
                    </a:solidFill>
                    <a:latin typeface="Calibri" pitchFamily="34" charset="0"/>
                    <a:cs typeface="Calibri" pitchFamily="34" charset="0"/>
                  </a:rPr>
                  <a:t>độ chính xác</a:t>
                </a:r>
                <a:r>
                  <a:rPr lang="vi-VN" dirty="0">
                    <a:latin typeface="Calibri" pitchFamily="34" charset="0"/>
                    <a:cs typeface="Calibri" pitchFamily="34" charset="0"/>
                  </a:rPr>
                  <a:t>của phép ước lượng đó.</a:t>
                </a:r>
                <a:endParaRPr lang="en-US" dirty="0">
                  <a:latin typeface="Calibri" pitchFamily="34" charset="0"/>
                  <a:cs typeface="Calibri" pitchFamily="34" charset="0"/>
                </a:endParaRPr>
              </a:p>
              <a:p>
                <a:r>
                  <a:rPr lang="en-US" dirty="0">
                    <a:latin typeface="Calibri" pitchFamily="34" charset="0"/>
                    <a:cs typeface="Calibri" pitchFamily="34" charset="0"/>
                  </a:rPr>
                  <a:t>Sai </a:t>
                </a:r>
                <a:r>
                  <a:rPr lang="en-US" dirty="0" err="1">
                    <a:latin typeface="Calibri" pitchFamily="34" charset="0"/>
                    <a:cs typeface="Calibri" pitchFamily="34" charset="0"/>
                  </a:rPr>
                  <a:t>số</a:t>
                </a:r>
                <a:r>
                  <a:rPr lang="en-US" dirty="0">
                    <a:latin typeface="Calibri" pitchFamily="34" charset="0"/>
                    <a:cs typeface="Calibri" pitchFamily="34" charset="0"/>
                  </a:rPr>
                  <a:t> </a:t>
                </a:r>
                <a:r>
                  <a:rPr lang="en-US" dirty="0" err="1">
                    <a:latin typeface="Calibri" pitchFamily="34" charset="0"/>
                    <a:cs typeface="Calibri" pitchFamily="34" charset="0"/>
                  </a:rPr>
                  <a:t>càng</a:t>
                </a:r>
                <a:r>
                  <a:rPr lang="en-US" dirty="0">
                    <a:latin typeface="Calibri" pitchFamily="34" charset="0"/>
                    <a:cs typeface="Calibri" pitchFamily="34" charset="0"/>
                  </a:rPr>
                  <a:t> </a:t>
                </a:r>
                <a:r>
                  <a:rPr lang="en-US" dirty="0" err="1">
                    <a:latin typeface="Calibri" pitchFamily="34" charset="0"/>
                    <a:cs typeface="Calibri" pitchFamily="34" charset="0"/>
                  </a:rPr>
                  <a:t>nhỏ</a:t>
                </a:r>
                <a:r>
                  <a:rPr lang="en-US" dirty="0">
                    <a:latin typeface="Calibri" pitchFamily="34" charset="0"/>
                    <a:cs typeface="Calibri" pitchFamily="34" charset="0"/>
                  </a:rPr>
                  <a:t>, </a:t>
                </a:r>
                <a:r>
                  <a:rPr lang="en-US" dirty="0" err="1">
                    <a:latin typeface="Calibri" pitchFamily="34" charset="0"/>
                    <a:cs typeface="Calibri" pitchFamily="34" charset="0"/>
                  </a:rPr>
                  <a:t>độ</a:t>
                </a:r>
                <a:r>
                  <a:rPr lang="en-US" dirty="0">
                    <a:latin typeface="Calibri" pitchFamily="34" charset="0"/>
                    <a:cs typeface="Calibri" pitchFamily="34" charset="0"/>
                  </a:rPr>
                  <a:t> </a:t>
                </a:r>
                <a:r>
                  <a:rPr lang="en-US" dirty="0" err="1">
                    <a:latin typeface="Calibri" pitchFamily="34" charset="0"/>
                    <a:cs typeface="Calibri" pitchFamily="34" charset="0"/>
                  </a:rPr>
                  <a:t>chính</a:t>
                </a:r>
                <a:r>
                  <a:rPr lang="en-US" dirty="0">
                    <a:latin typeface="Calibri" pitchFamily="34" charset="0"/>
                    <a:cs typeface="Calibri" pitchFamily="34" charset="0"/>
                  </a:rPr>
                  <a:t> </a:t>
                </a:r>
                <a:r>
                  <a:rPr lang="en-US" dirty="0" err="1">
                    <a:latin typeface="Calibri" pitchFamily="34" charset="0"/>
                    <a:cs typeface="Calibri" pitchFamily="34" charset="0"/>
                  </a:rPr>
                  <a:t>xác</a:t>
                </a:r>
                <a:r>
                  <a:rPr lang="en-US" dirty="0">
                    <a:latin typeface="Calibri" pitchFamily="34" charset="0"/>
                    <a:cs typeface="Calibri" pitchFamily="34" charset="0"/>
                  </a:rPr>
                  <a:t> </a:t>
                </a:r>
                <a:r>
                  <a:rPr lang="en-US" dirty="0" err="1">
                    <a:latin typeface="Calibri" pitchFamily="34" charset="0"/>
                    <a:cs typeface="Calibri" pitchFamily="34" charset="0"/>
                  </a:rPr>
                  <a:t>càng</a:t>
                </a:r>
                <a:r>
                  <a:rPr lang="en-US" dirty="0">
                    <a:latin typeface="Calibri" pitchFamily="34" charset="0"/>
                    <a:cs typeface="Calibri" pitchFamily="34" charset="0"/>
                  </a:rPr>
                  <a:t> </a:t>
                </a:r>
                <a:r>
                  <a:rPr lang="en-US" dirty="0" err="1">
                    <a:latin typeface="Calibri" pitchFamily="34" charset="0"/>
                    <a:cs typeface="Calibri" pitchFamily="34" charset="0"/>
                  </a:rPr>
                  <a:t>cao</a:t>
                </a:r>
                <a:r>
                  <a:rPr lang="en-US" dirty="0">
                    <a:latin typeface="Calibri" pitchFamily="34" charset="0"/>
                    <a:cs typeface="Calibri" pitchFamily="34"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704" t="-2509" r="-1852"/>
                </a:stretch>
              </a:blipFill>
            </p:spPr>
            <p:txBody>
              <a:bodyPr/>
              <a:lstStyle/>
              <a:p>
                <a:r>
                  <a:rPr lang="en-US">
                    <a:noFill/>
                  </a:rPr>
                  <a:t> </a:t>
                </a:r>
              </a:p>
            </p:txBody>
          </p:sp>
        </mc:Fallback>
      </mc:AlternateContent>
      <p:sp>
        <p:nvSpPr>
          <p:cNvPr id="5" name="Title 1"/>
          <p:cNvSpPr txBox="1">
            <a:spLocks/>
          </p:cNvSpPr>
          <p:nvPr/>
        </p:nvSpPr>
        <p:spPr>
          <a:xfrm>
            <a:off x="304800" y="0"/>
            <a:ext cx="8403020" cy="685800"/>
          </a:xfrm>
          <a:prstGeom prst="rect">
            <a:avLst/>
          </a:prstGeom>
        </p:spPr>
        <p:txBody>
          <a:bodyPr vert="horz" lIns="91440" tIns="45720" rIns="91440" bIns="45720" rtlCol="0" anchor="ctr"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err="1">
                <a:ln>
                  <a:noFill/>
                </a:ln>
                <a:solidFill>
                  <a:srgbClr val="215B2F"/>
                </a:solidFill>
                <a:effectLst/>
                <a:uLnTx/>
                <a:uFillTx/>
                <a:latin typeface="+mj-lt"/>
                <a:ea typeface="+mj-ea"/>
                <a:cs typeface="+mj-cs"/>
              </a:rPr>
              <a:t>Ước</a:t>
            </a:r>
            <a:r>
              <a:rPr kumimoji="0" lang="en-US" sz="3600" b="0" i="0" u="none" strike="noStrike" kern="1200" cap="none" spc="0" normalizeH="0" baseline="0" noProof="0" dirty="0">
                <a:ln>
                  <a:noFill/>
                </a:ln>
                <a:solidFill>
                  <a:srgbClr val="215B2F"/>
                </a:solidFill>
                <a:effectLst/>
                <a:uLnTx/>
                <a:uFillTx/>
                <a:latin typeface="+mj-lt"/>
                <a:ea typeface="+mj-ea"/>
                <a:cs typeface="+mj-cs"/>
              </a:rPr>
              <a:t> </a:t>
            </a:r>
            <a:r>
              <a:rPr kumimoji="0" lang="en-US" sz="3600" b="0" i="0" u="none" strike="noStrike" kern="1200" cap="none" spc="0" normalizeH="0" baseline="0" noProof="0" dirty="0" err="1">
                <a:ln>
                  <a:noFill/>
                </a:ln>
                <a:solidFill>
                  <a:srgbClr val="215B2F"/>
                </a:solidFill>
                <a:effectLst/>
                <a:uLnTx/>
                <a:uFillTx/>
                <a:latin typeface="+mj-lt"/>
                <a:ea typeface="+mj-ea"/>
                <a:cs typeface="+mj-cs"/>
              </a:rPr>
              <a:t>lượng</a:t>
            </a:r>
            <a:r>
              <a:rPr kumimoji="0" lang="en-US" sz="3600" b="0" i="0" u="none" strike="noStrike" kern="1200" cap="none" spc="0" normalizeH="0" baseline="0" noProof="0" dirty="0">
                <a:ln>
                  <a:noFill/>
                </a:ln>
                <a:solidFill>
                  <a:srgbClr val="215B2F"/>
                </a:solidFill>
                <a:effectLst/>
                <a:uLnTx/>
                <a:uFillTx/>
                <a:latin typeface="+mj-lt"/>
                <a:ea typeface="+mj-ea"/>
                <a:cs typeface="+mj-cs"/>
              </a:rPr>
              <a:t> </a:t>
            </a:r>
            <a:r>
              <a:rPr kumimoji="0" lang="en-US" sz="3600" b="0" i="0" u="none" strike="noStrike" kern="1200" cap="none" spc="0" normalizeH="0" baseline="0" noProof="0" dirty="0" err="1">
                <a:ln>
                  <a:noFill/>
                </a:ln>
                <a:solidFill>
                  <a:srgbClr val="215B2F"/>
                </a:solidFill>
                <a:effectLst/>
                <a:uLnTx/>
                <a:uFillTx/>
                <a:latin typeface="+mj-lt"/>
                <a:ea typeface="+mj-ea"/>
                <a:cs typeface="+mj-cs"/>
              </a:rPr>
              <a:t>khoảng</a:t>
            </a:r>
            <a:endParaRPr kumimoji="0" lang="en-US" sz="3600" b="0" i="0" u="none" strike="noStrike" kern="1200" cap="none" spc="0" normalizeH="0" baseline="0" noProof="0" dirty="0">
              <a:ln>
                <a:noFill/>
              </a:ln>
              <a:solidFill>
                <a:srgbClr val="215B2F"/>
              </a:solidFill>
              <a:effectLst/>
              <a:uLnTx/>
              <a:uFillTx/>
              <a:latin typeface="+mj-lt"/>
              <a:ea typeface="+mj-ea"/>
              <a:cs typeface="+mj-cs"/>
            </a:endParaRPr>
          </a:p>
        </p:txBody>
      </p:sp>
    </p:spTree>
    <p:extLst>
      <p:ext uri="{BB962C8B-B14F-4D97-AF65-F5344CB8AC3E}">
        <p14:creationId xmlns:p14="http://schemas.microsoft.com/office/powerpoint/2010/main" val="26202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Uớc</a:t>
            </a:r>
            <a:r>
              <a:rPr lang="en-US" dirty="0"/>
              <a:t> </a:t>
            </a:r>
            <a:r>
              <a:rPr lang="en-US" dirty="0" err="1"/>
              <a:t>lượng</a:t>
            </a:r>
            <a:r>
              <a:rPr lang="en-US" dirty="0"/>
              <a:t> </a:t>
            </a:r>
            <a:r>
              <a:rPr lang="en-US" dirty="0" err="1"/>
              <a:t>khoảng</a:t>
            </a:r>
            <a:r>
              <a:rPr lang="en-US" dirty="0"/>
              <a:t> </a:t>
            </a:r>
          </a:p>
        </p:txBody>
      </p:sp>
      <p:sp>
        <p:nvSpPr>
          <p:cNvPr id="5" name="TextBox 4"/>
          <p:cNvSpPr txBox="1"/>
          <p:nvPr/>
        </p:nvSpPr>
        <p:spPr>
          <a:xfrm>
            <a:off x="533400" y="1295400"/>
            <a:ext cx="8153400" cy="1077218"/>
          </a:xfrm>
          <a:prstGeom prst="rect">
            <a:avLst/>
          </a:prstGeom>
          <a:noFill/>
        </p:spPr>
        <p:txBody>
          <a:bodyPr wrap="square" rtlCol="0">
            <a:spAutoFit/>
          </a:bodyPr>
          <a:lstStyle/>
          <a:p>
            <a:r>
              <a:rPr lang="en-US" sz="3200" dirty="0" err="1"/>
              <a:t>Ước</a:t>
            </a:r>
            <a:r>
              <a:rPr lang="en-US" sz="3200" dirty="0"/>
              <a:t> </a:t>
            </a:r>
            <a:r>
              <a:rPr lang="en-US" sz="3200" dirty="0" err="1"/>
              <a:t>lượng</a:t>
            </a:r>
            <a:r>
              <a:rPr lang="en-US" sz="3200" dirty="0"/>
              <a:t> </a:t>
            </a:r>
            <a:r>
              <a:rPr lang="en-US" sz="3200" dirty="0" err="1"/>
              <a:t>khoảng</a:t>
            </a:r>
            <a:r>
              <a:rPr lang="en-US" sz="3200" dirty="0"/>
              <a:t> </a:t>
            </a:r>
            <a:r>
              <a:rPr lang="en-US" sz="3200" dirty="0" err="1"/>
              <a:t>cho</a:t>
            </a:r>
            <a:r>
              <a:rPr lang="en-US" sz="3200" dirty="0"/>
              <a:t> </a:t>
            </a:r>
            <a:r>
              <a:rPr lang="en-US" sz="3200" dirty="0" err="1"/>
              <a:t>tham</a:t>
            </a:r>
            <a:r>
              <a:rPr lang="en-US" sz="3200" dirty="0"/>
              <a:t> </a:t>
            </a:r>
            <a:r>
              <a:rPr lang="en-US" sz="3200" dirty="0" err="1"/>
              <a:t>số</a:t>
            </a:r>
            <a:r>
              <a:rPr lang="en-US" sz="3200" dirty="0"/>
              <a:t>  </a:t>
            </a:r>
            <a:r>
              <a:rPr lang="el-GR" sz="3200" dirty="0">
                <a:solidFill>
                  <a:srgbClr val="FF0000"/>
                </a:solidFill>
              </a:rPr>
              <a:t>θ</a:t>
            </a:r>
            <a:r>
              <a:rPr lang="en-US" sz="3200" dirty="0"/>
              <a:t>  </a:t>
            </a:r>
            <a:r>
              <a:rPr lang="en-US" sz="3200" dirty="0" err="1"/>
              <a:t>với</a:t>
            </a:r>
            <a:r>
              <a:rPr lang="en-US" sz="3200" dirty="0"/>
              <a:t> </a:t>
            </a:r>
            <a:r>
              <a:rPr lang="en-US" sz="3200" dirty="0" err="1">
                <a:solidFill>
                  <a:srgbClr val="0070C0"/>
                </a:solidFill>
              </a:rPr>
              <a:t>độ</a:t>
            </a:r>
            <a:r>
              <a:rPr lang="en-US" sz="3200" dirty="0">
                <a:solidFill>
                  <a:srgbClr val="0070C0"/>
                </a:solidFill>
              </a:rPr>
              <a:t> tin </a:t>
            </a:r>
            <a:r>
              <a:rPr lang="en-US" sz="3200" dirty="0" err="1">
                <a:solidFill>
                  <a:srgbClr val="0070C0"/>
                </a:solidFill>
              </a:rPr>
              <a:t>cậy</a:t>
            </a:r>
            <a:r>
              <a:rPr lang="en-US" sz="3200" dirty="0">
                <a:solidFill>
                  <a:srgbClr val="0070C0"/>
                </a:solidFill>
              </a:rPr>
              <a:t>  1- </a:t>
            </a:r>
            <a:r>
              <a:rPr lang="el-GR" sz="3200" dirty="0">
                <a:solidFill>
                  <a:srgbClr val="0070C0"/>
                </a:solidFill>
              </a:rPr>
              <a:t>α</a:t>
            </a:r>
            <a:r>
              <a:rPr lang="en-US" sz="3200" dirty="0">
                <a:solidFill>
                  <a:srgbClr val="0070C0"/>
                </a:solidFill>
              </a:rPr>
              <a:t> </a:t>
            </a:r>
            <a:r>
              <a:rPr lang="en-US" sz="3200" dirty="0" err="1"/>
              <a:t>là</a:t>
            </a:r>
            <a:r>
              <a:rPr lang="en-US" sz="3200" dirty="0"/>
              <a:t> </a:t>
            </a:r>
            <a:r>
              <a:rPr lang="en-US" sz="3200" dirty="0" err="1"/>
              <a:t>tìm</a:t>
            </a:r>
            <a:r>
              <a:rPr lang="en-US" sz="3200" dirty="0"/>
              <a:t> </a:t>
            </a:r>
            <a:r>
              <a:rPr lang="en-US" sz="3200" dirty="0" err="1"/>
              <a:t>khoảng</a:t>
            </a:r>
            <a:r>
              <a:rPr lang="en-US" sz="3200" dirty="0"/>
              <a:t> [</a:t>
            </a:r>
            <a:r>
              <a:rPr lang="en-US" sz="3200" dirty="0" err="1"/>
              <a:t>a,b</a:t>
            </a:r>
            <a:r>
              <a:rPr lang="en-US" sz="3200" dirty="0"/>
              <a:t>] </a:t>
            </a:r>
            <a:r>
              <a:rPr lang="en-US" sz="3200" dirty="0" err="1"/>
              <a:t>sao</a:t>
            </a:r>
            <a:r>
              <a:rPr lang="en-US" sz="3200" dirty="0"/>
              <a:t> </a:t>
            </a:r>
            <a:r>
              <a:rPr lang="en-US" sz="3200" dirty="0" err="1"/>
              <a:t>cho</a:t>
            </a:r>
            <a:endParaRPr lang="en-US" sz="3200" dirty="0"/>
          </a:p>
        </p:txBody>
      </p:sp>
      <p:graphicFrame>
        <p:nvGraphicFramePr>
          <p:cNvPr id="6" name="Object 5"/>
          <p:cNvGraphicFramePr>
            <a:graphicFrameLocks noChangeAspect="1"/>
          </p:cNvGraphicFramePr>
          <p:nvPr/>
        </p:nvGraphicFramePr>
        <p:xfrm>
          <a:off x="2514600" y="2514600"/>
          <a:ext cx="3695700" cy="609600"/>
        </p:xfrm>
        <a:graphic>
          <a:graphicData uri="http://schemas.openxmlformats.org/presentationml/2006/ole">
            <mc:AlternateContent xmlns:mc="http://schemas.openxmlformats.org/markup-compatibility/2006">
              <mc:Choice xmlns:v="urn:schemas-microsoft-com:vml" Requires="v">
                <p:oleObj name="Equation" r:id="rId2" imgW="1231560" imgH="203040" progId="Equation.DSMT4">
                  <p:embed/>
                </p:oleObj>
              </mc:Choice>
              <mc:Fallback>
                <p:oleObj name="Equation" r:id="rId2" imgW="1231560" imgH="203040" progId="Equation.DSMT4">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514600"/>
                        <a:ext cx="36957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685800" y="3733800"/>
            <a:ext cx="8153400" cy="3046988"/>
          </a:xfrm>
          <a:prstGeom prst="rect">
            <a:avLst/>
          </a:prstGeom>
          <a:noFill/>
        </p:spPr>
        <p:txBody>
          <a:bodyPr wrap="square" rtlCol="0">
            <a:spAutoFit/>
          </a:bodyPr>
          <a:lstStyle/>
          <a:p>
            <a:r>
              <a:rPr lang="en-US" sz="3200" dirty="0" err="1"/>
              <a:t>Cụ</a:t>
            </a:r>
            <a:r>
              <a:rPr lang="en-US" sz="3200" dirty="0"/>
              <a:t> </a:t>
            </a:r>
            <a:r>
              <a:rPr lang="en-US" sz="3200" dirty="0" err="1"/>
              <a:t>thể</a:t>
            </a:r>
            <a:r>
              <a:rPr lang="en-US" sz="3200" dirty="0"/>
              <a:t>, </a:t>
            </a:r>
            <a:r>
              <a:rPr lang="en-US" sz="3200" dirty="0" err="1"/>
              <a:t>ta</a:t>
            </a:r>
            <a:r>
              <a:rPr lang="en-US" sz="3200" dirty="0"/>
              <a:t> </a:t>
            </a:r>
            <a:r>
              <a:rPr lang="en-US" sz="3200" dirty="0" err="1"/>
              <a:t>sẽ</a:t>
            </a:r>
            <a:r>
              <a:rPr lang="en-US" sz="3200" dirty="0"/>
              <a:t> </a:t>
            </a:r>
            <a:r>
              <a:rPr lang="en-US" sz="3200" dirty="0" err="1">
                <a:solidFill>
                  <a:srgbClr val="0070C0"/>
                </a:solidFill>
              </a:rPr>
              <a:t>tìm</a:t>
            </a:r>
            <a:r>
              <a:rPr lang="en-US" sz="3200" dirty="0">
                <a:solidFill>
                  <a:srgbClr val="0070C0"/>
                </a:solidFill>
              </a:rPr>
              <a:t> </a:t>
            </a:r>
            <a:r>
              <a:rPr lang="el-GR" sz="3200" dirty="0">
                <a:solidFill>
                  <a:srgbClr val="0070C0"/>
                </a:solidFill>
              </a:rPr>
              <a:t>ε</a:t>
            </a:r>
            <a:r>
              <a:rPr lang="en-US" sz="3200" dirty="0"/>
              <a:t> </a:t>
            </a:r>
            <a:r>
              <a:rPr lang="en-US" sz="3200" dirty="0" err="1"/>
              <a:t>sao</a:t>
            </a:r>
            <a:r>
              <a:rPr lang="en-US" sz="3200" dirty="0"/>
              <a:t> </a:t>
            </a:r>
            <a:r>
              <a:rPr lang="en-US" sz="3200" dirty="0" err="1"/>
              <a:t>cho</a:t>
            </a:r>
            <a:endParaRPr lang="en-US" sz="3200" dirty="0"/>
          </a:p>
          <a:p>
            <a:endParaRPr lang="en-US" sz="3200" dirty="0"/>
          </a:p>
          <a:p>
            <a:endParaRPr lang="en-US" sz="3200" dirty="0"/>
          </a:p>
          <a:p>
            <a:r>
              <a:rPr lang="en-US" sz="3200" dirty="0" err="1"/>
              <a:t>với</a:t>
            </a:r>
            <a:r>
              <a:rPr lang="en-US" sz="3200" dirty="0"/>
              <a:t>      </a:t>
            </a:r>
            <a:r>
              <a:rPr lang="en-US" sz="3200" dirty="0" err="1"/>
              <a:t>là</a:t>
            </a:r>
            <a:r>
              <a:rPr lang="en-US" sz="3200" dirty="0"/>
              <a:t> </a:t>
            </a:r>
            <a:r>
              <a:rPr lang="en-US" sz="3200" dirty="0" err="1"/>
              <a:t>giá</a:t>
            </a:r>
            <a:r>
              <a:rPr lang="en-US" sz="3200" dirty="0"/>
              <a:t> </a:t>
            </a:r>
            <a:r>
              <a:rPr lang="en-US" sz="3200" dirty="0" err="1"/>
              <a:t>trị</a:t>
            </a:r>
            <a:r>
              <a:rPr lang="en-US" sz="3200" dirty="0"/>
              <a:t> </a:t>
            </a:r>
            <a:r>
              <a:rPr lang="en-US" sz="3200" dirty="0" err="1"/>
              <a:t>xác</a:t>
            </a:r>
            <a:r>
              <a:rPr lang="en-US" sz="3200" dirty="0"/>
              <a:t> </a:t>
            </a:r>
            <a:r>
              <a:rPr lang="en-US" sz="3200" dirty="0" err="1"/>
              <a:t>định</a:t>
            </a:r>
            <a:r>
              <a:rPr lang="en-US" sz="3200" dirty="0"/>
              <a:t> </a:t>
            </a:r>
            <a:r>
              <a:rPr lang="en-US" sz="3200" dirty="0" err="1"/>
              <a:t>của</a:t>
            </a:r>
            <a:r>
              <a:rPr lang="en-US" sz="3200" dirty="0"/>
              <a:t> </a:t>
            </a:r>
            <a:r>
              <a:rPr lang="en-US" sz="3200" dirty="0" err="1"/>
              <a:t>tham</a:t>
            </a:r>
            <a:r>
              <a:rPr lang="en-US" sz="3200" dirty="0"/>
              <a:t> </a:t>
            </a:r>
            <a:r>
              <a:rPr lang="en-US" sz="3200" dirty="0" err="1"/>
              <a:t>số</a:t>
            </a:r>
            <a:r>
              <a:rPr lang="en-US" sz="3200" dirty="0"/>
              <a:t>  </a:t>
            </a:r>
            <a:r>
              <a:rPr lang="el-GR" sz="3200" dirty="0"/>
              <a:t>θ</a:t>
            </a:r>
            <a:r>
              <a:rPr lang="en-US" sz="3200" dirty="0"/>
              <a:t> </a:t>
            </a:r>
            <a:r>
              <a:rPr lang="en-US" sz="3200" dirty="0" err="1"/>
              <a:t>ứng</a:t>
            </a:r>
            <a:r>
              <a:rPr lang="en-US" sz="3200" dirty="0"/>
              <a:t> </a:t>
            </a:r>
            <a:r>
              <a:rPr lang="en-US" sz="3200" dirty="0" err="1"/>
              <a:t>với</a:t>
            </a:r>
            <a:r>
              <a:rPr lang="en-US" sz="3200" dirty="0"/>
              <a:t> </a:t>
            </a:r>
            <a:r>
              <a:rPr lang="en-US" sz="3200" dirty="0" err="1"/>
              <a:t>mẫu</a:t>
            </a:r>
            <a:r>
              <a:rPr lang="en-US" sz="3200" dirty="0"/>
              <a:t> </a:t>
            </a:r>
            <a:r>
              <a:rPr lang="en-US" sz="3200" dirty="0" err="1"/>
              <a:t>cụ</a:t>
            </a:r>
            <a:r>
              <a:rPr lang="en-US" sz="3200" dirty="0"/>
              <a:t> </a:t>
            </a:r>
            <a:r>
              <a:rPr lang="en-US" sz="3200" dirty="0" err="1"/>
              <a:t>thể</a:t>
            </a:r>
            <a:r>
              <a:rPr lang="en-US" sz="3200" dirty="0"/>
              <a:t>.</a:t>
            </a:r>
          </a:p>
          <a:p>
            <a:endParaRPr lang="en-US" sz="3200" dirty="0"/>
          </a:p>
        </p:txBody>
      </p:sp>
      <p:graphicFrame>
        <p:nvGraphicFramePr>
          <p:cNvPr id="9" name="Object 8"/>
          <p:cNvGraphicFramePr>
            <a:graphicFrameLocks noChangeAspect="1"/>
          </p:cNvGraphicFramePr>
          <p:nvPr/>
        </p:nvGraphicFramePr>
        <p:xfrm>
          <a:off x="1346200" y="5105400"/>
          <a:ext cx="406400" cy="609600"/>
        </p:xfrm>
        <a:graphic>
          <a:graphicData uri="http://schemas.openxmlformats.org/presentationml/2006/ole">
            <mc:AlternateContent xmlns:mc="http://schemas.openxmlformats.org/markup-compatibility/2006">
              <mc:Choice xmlns:v="urn:schemas-microsoft-com:vml" Requires="v">
                <p:oleObj name="Equation" r:id="rId4" imgW="126720" imgH="215640" progId="Equation.DSMT4">
                  <p:embed/>
                </p:oleObj>
              </mc:Choice>
              <mc:Fallback>
                <p:oleObj name="Equation" r:id="rId4" imgW="126720" imgH="215640" progId="Equation.DSMT4">
                  <p:embed/>
                  <p:pic>
                    <p:nvPicPr>
                      <p:cNvPr id="9"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6200" y="5105400"/>
                        <a:ext cx="4064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2057400" y="4419600"/>
          <a:ext cx="4764505" cy="685800"/>
        </p:xfrm>
        <a:graphic>
          <a:graphicData uri="http://schemas.openxmlformats.org/presentationml/2006/ole">
            <mc:AlternateContent xmlns:mc="http://schemas.openxmlformats.org/markup-compatibility/2006">
              <mc:Choice xmlns:v="urn:schemas-microsoft-com:vml" Requires="v">
                <p:oleObj name="Equation" r:id="rId6" imgW="1676160" imgH="241200" progId="Equation.DSMT4">
                  <p:embed/>
                </p:oleObj>
              </mc:Choice>
              <mc:Fallback>
                <p:oleObj name="Equation" r:id="rId6" imgW="1676160" imgH="241200" progId="Equation.DSMT4">
                  <p:embed/>
                  <p:pic>
                    <p:nvPicPr>
                      <p:cNvPr id="1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7400" y="4419600"/>
                        <a:ext cx="476450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30105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317420" cy="685800"/>
          </a:xfrm>
        </p:spPr>
        <p:txBody>
          <a:bodyPr>
            <a:normAutofit fontScale="90000"/>
          </a:bodyPr>
          <a:lstStyle/>
          <a:p>
            <a:r>
              <a:rPr lang="en-US" dirty="0" err="1">
                <a:solidFill>
                  <a:srgbClr val="FF0000"/>
                </a:solidFill>
              </a:rPr>
              <a:t>Các</a:t>
            </a:r>
            <a:r>
              <a:rPr lang="en-US" dirty="0">
                <a:solidFill>
                  <a:srgbClr val="FF0000"/>
                </a:solidFill>
              </a:rPr>
              <a:t> </a:t>
            </a:r>
            <a:r>
              <a:rPr lang="en-US" dirty="0" err="1">
                <a:solidFill>
                  <a:srgbClr val="FF0000"/>
                </a:solidFill>
              </a:rPr>
              <a:t>khái</a:t>
            </a:r>
            <a:r>
              <a:rPr lang="en-US" dirty="0">
                <a:solidFill>
                  <a:srgbClr val="FF0000"/>
                </a:solidFill>
              </a:rPr>
              <a:t> </a:t>
            </a:r>
            <a:r>
              <a:rPr lang="en-US" dirty="0" err="1">
                <a:solidFill>
                  <a:srgbClr val="FF0000"/>
                </a:solidFill>
              </a:rPr>
              <a:t>niệm</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kí</a:t>
            </a:r>
            <a:r>
              <a:rPr lang="en-US" dirty="0">
                <a:solidFill>
                  <a:srgbClr val="FF0000"/>
                </a:solidFill>
              </a:rPr>
              <a:t> </a:t>
            </a:r>
            <a:r>
              <a:rPr lang="en-US" dirty="0" err="1">
                <a:solidFill>
                  <a:srgbClr val="FF0000"/>
                </a:solidFill>
              </a:rPr>
              <a:t>hiệu</a:t>
            </a:r>
            <a:r>
              <a:rPr lang="en-US" dirty="0">
                <a:solidFill>
                  <a:srgbClr val="FF0000"/>
                </a:solidFill>
              </a:rPr>
              <a:t> </a:t>
            </a:r>
            <a:r>
              <a:rPr lang="en-US" dirty="0" err="1">
                <a:solidFill>
                  <a:srgbClr val="FF0000"/>
                </a:solidFill>
              </a:rPr>
              <a:t>chung</a:t>
            </a:r>
            <a:r>
              <a:rPr lang="en-US" dirty="0">
                <a:solidFill>
                  <a:srgbClr val="FF0000"/>
                </a:solidFill>
              </a:rPr>
              <a:t> </a:t>
            </a:r>
            <a:r>
              <a:rPr lang="en-US" dirty="0" err="1">
                <a:solidFill>
                  <a:srgbClr val="FF0000"/>
                </a:solidFill>
              </a:rPr>
              <a:t>cho</a:t>
            </a:r>
            <a:r>
              <a:rPr lang="en-US" dirty="0">
                <a:solidFill>
                  <a:srgbClr val="FF0000"/>
                </a:solidFill>
              </a:rPr>
              <a:t> </a:t>
            </a:r>
            <a:r>
              <a:rPr lang="en-US" dirty="0" err="1">
                <a:solidFill>
                  <a:srgbClr val="FF0000"/>
                </a:solidFill>
              </a:rPr>
              <a:t>bài</a:t>
            </a:r>
            <a:r>
              <a:rPr lang="en-US" dirty="0">
                <a:solidFill>
                  <a:srgbClr val="FF0000"/>
                </a:solidFill>
              </a:rPr>
              <a:t> </a:t>
            </a:r>
            <a:r>
              <a:rPr lang="en-US" dirty="0" err="1">
                <a:solidFill>
                  <a:srgbClr val="FF0000"/>
                </a:solidFill>
              </a:rPr>
              <a:t>toán</a:t>
            </a:r>
            <a:r>
              <a:rPr lang="en-US" dirty="0">
                <a:solidFill>
                  <a:srgbClr val="FF0000"/>
                </a:solidFill>
              </a:rPr>
              <a:t> </a:t>
            </a:r>
            <a:r>
              <a:rPr lang="en-US" dirty="0" err="1">
                <a:solidFill>
                  <a:srgbClr val="FF0000"/>
                </a:solidFill>
              </a:rPr>
              <a:t>ước</a:t>
            </a:r>
            <a:r>
              <a:rPr lang="en-US" dirty="0">
                <a:solidFill>
                  <a:srgbClr val="FF0000"/>
                </a:solidFill>
              </a:rPr>
              <a:t> </a:t>
            </a:r>
            <a:r>
              <a:rPr lang="en-US" dirty="0" err="1">
                <a:solidFill>
                  <a:srgbClr val="FF0000"/>
                </a:solidFill>
              </a:rPr>
              <a:t>lượng</a:t>
            </a:r>
            <a:endParaRPr lang="en-US" dirty="0">
              <a:solidFill>
                <a:srgbClr val="FF0000"/>
              </a:solidFill>
            </a:endParaRPr>
          </a:p>
        </p:txBody>
      </p:sp>
      <p:sp>
        <p:nvSpPr>
          <p:cNvPr id="5" name="TextBox 4"/>
          <p:cNvSpPr txBox="1"/>
          <p:nvPr/>
        </p:nvSpPr>
        <p:spPr>
          <a:xfrm>
            <a:off x="762000" y="914400"/>
            <a:ext cx="8382000" cy="3816429"/>
          </a:xfrm>
          <a:prstGeom prst="rect">
            <a:avLst/>
          </a:prstGeom>
          <a:noFill/>
        </p:spPr>
        <p:txBody>
          <a:bodyPr wrap="square" rtlCol="0">
            <a:spAutoFit/>
          </a:bodyPr>
          <a:lstStyle/>
          <a:p>
            <a:r>
              <a:rPr lang="en-US" sz="3200" dirty="0" err="1"/>
              <a:t>Xét</a:t>
            </a:r>
            <a:r>
              <a:rPr lang="en-US" sz="3200" dirty="0"/>
              <a:t> ĐLNN X </a:t>
            </a:r>
            <a:r>
              <a:rPr lang="en-US" sz="3200" dirty="0" err="1"/>
              <a:t>trong</a:t>
            </a:r>
            <a:r>
              <a:rPr lang="en-US" sz="3200" dirty="0"/>
              <a:t> </a:t>
            </a:r>
            <a:r>
              <a:rPr lang="en-US" sz="3200" dirty="0" err="1"/>
              <a:t>tổng</a:t>
            </a:r>
            <a:r>
              <a:rPr lang="en-US" sz="3200" dirty="0"/>
              <a:t> </a:t>
            </a:r>
            <a:r>
              <a:rPr lang="en-US" sz="3200" dirty="0" err="1"/>
              <a:t>thể</a:t>
            </a:r>
            <a:r>
              <a:rPr lang="en-US" sz="3200" dirty="0"/>
              <a:t>.</a:t>
            </a:r>
          </a:p>
          <a:p>
            <a:r>
              <a:rPr lang="en-US" sz="3200" dirty="0" err="1"/>
              <a:t>Xét</a:t>
            </a:r>
            <a:r>
              <a:rPr lang="en-US" sz="3200" dirty="0"/>
              <a:t> </a:t>
            </a:r>
            <a:r>
              <a:rPr lang="en-US" sz="3200" dirty="0" err="1"/>
              <a:t>một</a:t>
            </a:r>
            <a:r>
              <a:rPr lang="en-US" sz="3200" dirty="0"/>
              <a:t> </a:t>
            </a:r>
            <a:r>
              <a:rPr lang="en-US" sz="3200" dirty="0" err="1"/>
              <a:t>mẫu</a:t>
            </a:r>
            <a:r>
              <a:rPr lang="en-US" sz="3200" dirty="0"/>
              <a:t> </a:t>
            </a:r>
            <a:r>
              <a:rPr lang="en-US" sz="3200" dirty="0" err="1"/>
              <a:t>ngẫu</a:t>
            </a:r>
            <a:r>
              <a:rPr lang="en-US" sz="3200" dirty="0"/>
              <a:t> </a:t>
            </a:r>
            <a:r>
              <a:rPr lang="en-US" sz="3200" dirty="0" err="1"/>
              <a:t>nhiên</a:t>
            </a:r>
            <a:r>
              <a:rPr lang="en-US" sz="3200" dirty="0"/>
              <a:t> </a:t>
            </a:r>
            <a:r>
              <a:rPr lang="en-US" sz="3200" dirty="0" err="1"/>
              <a:t>gồm</a:t>
            </a:r>
            <a:r>
              <a:rPr lang="en-US" sz="3200" dirty="0"/>
              <a:t> </a:t>
            </a:r>
            <a:r>
              <a:rPr lang="en-US" sz="3200" dirty="0">
                <a:solidFill>
                  <a:srgbClr val="FF0000"/>
                </a:solidFill>
              </a:rPr>
              <a:t>n</a:t>
            </a:r>
            <a:r>
              <a:rPr lang="en-US" sz="3200" dirty="0"/>
              <a:t> </a:t>
            </a:r>
            <a:r>
              <a:rPr lang="en-US" sz="3200" dirty="0" err="1"/>
              <a:t>phần</a:t>
            </a:r>
            <a:r>
              <a:rPr lang="en-US" sz="3200" dirty="0"/>
              <a:t> </a:t>
            </a:r>
            <a:r>
              <a:rPr lang="en-US" sz="3200" dirty="0" err="1"/>
              <a:t>tử</a:t>
            </a:r>
            <a:r>
              <a:rPr lang="en-US" sz="3200" dirty="0"/>
              <a:t>. </a:t>
            </a:r>
          </a:p>
          <a:p>
            <a:endParaRPr lang="en-US" sz="3200" dirty="0"/>
          </a:p>
          <a:p>
            <a:r>
              <a:rPr lang="en-US" sz="3200" dirty="0"/>
              <a:t>  </a:t>
            </a:r>
            <a:r>
              <a:rPr lang="el-GR" sz="3200" dirty="0">
                <a:solidFill>
                  <a:srgbClr val="FF0000"/>
                </a:solidFill>
              </a:rPr>
              <a:t>μ</a:t>
            </a:r>
            <a:r>
              <a:rPr lang="en-US" sz="3200" dirty="0">
                <a:solidFill>
                  <a:srgbClr val="FF0000"/>
                </a:solidFill>
              </a:rPr>
              <a:t>:</a:t>
            </a:r>
            <a:r>
              <a:rPr lang="en-US" sz="3200" dirty="0"/>
              <a:t> </a:t>
            </a:r>
            <a:r>
              <a:rPr lang="en-US" sz="3200" dirty="0" err="1"/>
              <a:t>giá</a:t>
            </a:r>
            <a:r>
              <a:rPr lang="en-US" sz="3200" dirty="0"/>
              <a:t> </a:t>
            </a:r>
            <a:r>
              <a:rPr lang="en-US" sz="3200" dirty="0" err="1"/>
              <a:t>trị</a:t>
            </a:r>
            <a:r>
              <a:rPr lang="en-US" sz="3200" dirty="0"/>
              <a:t> </a:t>
            </a:r>
            <a:r>
              <a:rPr lang="en-US" sz="3200" dirty="0" err="1"/>
              <a:t>trung</a:t>
            </a:r>
            <a:r>
              <a:rPr lang="en-US" sz="3200" dirty="0"/>
              <a:t> </a:t>
            </a:r>
            <a:r>
              <a:rPr lang="en-US" sz="3200" dirty="0" err="1"/>
              <a:t>bình</a:t>
            </a:r>
            <a:r>
              <a:rPr lang="en-US" sz="3200" dirty="0"/>
              <a:t> </a:t>
            </a:r>
            <a:r>
              <a:rPr lang="en-US" sz="3200" dirty="0" err="1"/>
              <a:t>của</a:t>
            </a:r>
            <a:r>
              <a:rPr lang="en-US" sz="3200" dirty="0"/>
              <a:t> ĐLNN X </a:t>
            </a:r>
            <a:r>
              <a:rPr lang="en-US" sz="3200" dirty="0" err="1"/>
              <a:t>trong</a:t>
            </a:r>
            <a:r>
              <a:rPr lang="en-US" sz="3200" dirty="0"/>
              <a:t> </a:t>
            </a:r>
            <a:r>
              <a:rPr lang="en-US" sz="3200" dirty="0" err="1"/>
              <a:t>tổng</a:t>
            </a:r>
            <a:r>
              <a:rPr lang="en-US" sz="3200" dirty="0"/>
              <a:t> </a:t>
            </a:r>
            <a:r>
              <a:rPr lang="en-US" sz="3200" dirty="0" err="1"/>
              <a:t>thể</a:t>
            </a:r>
            <a:r>
              <a:rPr lang="en-US" sz="3200" dirty="0"/>
              <a:t>.</a:t>
            </a:r>
          </a:p>
          <a:p>
            <a:r>
              <a:rPr lang="en-US" sz="3200" dirty="0"/>
              <a:t>  </a:t>
            </a:r>
          </a:p>
          <a:p>
            <a:r>
              <a:rPr lang="en-US" sz="3200" dirty="0"/>
              <a:t>                                             </a:t>
            </a:r>
            <a:r>
              <a:rPr lang="en-US" sz="3200" dirty="0" err="1"/>
              <a:t>trung</a:t>
            </a:r>
            <a:r>
              <a:rPr lang="en-US" sz="3200" dirty="0"/>
              <a:t> </a:t>
            </a:r>
            <a:r>
              <a:rPr lang="en-US" sz="3200" dirty="0" err="1"/>
              <a:t>bình</a:t>
            </a:r>
            <a:r>
              <a:rPr lang="en-US" sz="3200" dirty="0"/>
              <a:t> </a:t>
            </a:r>
            <a:r>
              <a:rPr lang="en-US" sz="3200" dirty="0" err="1"/>
              <a:t>mẫu</a:t>
            </a:r>
            <a:r>
              <a:rPr lang="en-US" sz="3200" dirty="0"/>
              <a:t> </a:t>
            </a:r>
            <a:r>
              <a:rPr lang="en-US" sz="3200" dirty="0" err="1"/>
              <a:t>cụ</a:t>
            </a:r>
            <a:r>
              <a:rPr lang="en-US" sz="3200" dirty="0"/>
              <a:t> </a:t>
            </a:r>
            <a:r>
              <a:rPr lang="en-US" sz="3200" dirty="0" err="1"/>
              <a:t>thể</a:t>
            </a:r>
            <a:endParaRPr lang="en-US" sz="3200" dirty="0"/>
          </a:p>
          <a:p>
            <a:endParaRPr lang="en-US" sz="3200" dirty="0"/>
          </a:p>
          <a:p>
            <a:endParaRPr lang="en-US" dirty="0"/>
          </a:p>
        </p:txBody>
      </p:sp>
      <p:graphicFrame>
        <p:nvGraphicFramePr>
          <p:cNvPr id="7" name="Object 6"/>
          <p:cNvGraphicFramePr>
            <a:graphicFrameLocks noChangeAspect="1"/>
          </p:cNvGraphicFramePr>
          <p:nvPr/>
        </p:nvGraphicFramePr>
        <p:xfrm>
          <a:off x="1219200" y="3124200"/>
          <a:ext cx="3371850" cy="1066800"/>
        </p:xfrm>
        <a:graphic>
          <a:graphicData uri="http://schemas.openxmlformats.org/presentationml/2006/ole">
            <mc:AlternateContent xmlns:mc="http://schemas.openxmlformats.org/markup-compatibility/2006">
              <mc:Choice xmlns:v="urn:schemas-microsoft-com:vml" Requires="v">
                <p:oleObj name="Equation" r:id="rId2" imgW="1244520" imgH="393480" progId="Equation.DSMT4">
                  <p:embed/>
                </p:oleObj>
              </mc:Choice>
              <mc:Fallback>
                <p:oleObj name="Equation" r:id="rId2" imgW="1244520" imgH="393480" progId="Equation.DSMT4">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124200"/>
                        <a:ext cx="3371850" cy="1066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762000" y="4343400"/>
            <a:ext cx="8153400" cy="1077218"/>
          </a:xfrm>
          <a:prstGeom prst="rect">
            <a:avLst/>
          </a:prstGeom>
          <a:noFill/>
        </p:spPr>
        <p:txBody>
          <a:bodyPr wrap="square" rtlCol="0">
            <a:spAutoFit/>
          </a:bodyPr>
          <a:lstStyle/>
          <a:p>
            <a:r>
              <a:rPr lang="en-US" sz="3200" dirty="0"/>
              <a:t>  </a:t>
            </a:r>
            <a:r>
              <a:rPr lang="el-GR" sz="3200" dirty="0">
                <a:solidFill>
                  <a:srgbClr val="FF0000"/>
                </a:solidFill>
              </a:rPr>
              <a:t>σ</a:t>
            </a:r>
            <a:r>
              <a:rPr lang="en-US" sz="3200" dirty="0">
                <a:solidFill>
                  <a:srgbClr val="FF0000"/>
                </a:solidFill>
              </a:rPr>
              <a:t>:</a:t>
            </a:r>
            <a:r>
              <a:rPr lang="en-US" sz="3200" dirty="0"/>
              <a:t>  </a:t>
            </a:r>
            <a:r>
              <a:rPr lang="en-US" sz="3200" dirty="0" err="1"/>
              <a:t>độ</a:t>
            </a:r>
            <a:r>
              <a:rPr lang="en-US" sz="3200" dirty="0"/>
              <a:t> </a:t>
            </a:r>
            <a:r>
              <a:rPr lang="en-US" sz="3200" dirty="0" err="1"/>
              <a:t>lệch</a:t>
            </a:r>
            <a:r>
              <a:rPr lang="en-US" sz="3200" dirty="0"/>
              <a:t> </a:t>
            </a:r>
            <a:r>
              <a:rPr lang="en-US" sz="3200" dirty="0" err="1"/>
              <a:t>chuẩn</a:t>
            </a:r>
            <a:r>
              <a:rPr lang="en-US" sz="3200" dirty="0"/>
              <a:t> </a:t>
            </a:r>
            <a:r>
              <a:rPr lang="en-US" sz="3200" dirty="0" err="1"/>
              <a:t>của</a:t>
            </a:r>
            <a:r>
              <a:rPr lang="en-US" sz="3200" dirty="0"/>
              <a:t> X </a:t>
            </a:r>
            <a:r>
              <a:rPr lang="en-US" sz="3200" dirty="0" err="1"/>
              <a:t>trong</a:t>
            </a:r>
            <a:r>
              <a:rPr lang="en-US" sz="3200" dirty="0"/>
              <a:t> </a:t>
            </a:r>
            <a:r>
              <a:rPr lang="en-US" sz="3200" dirty="0" err="1">
                <a:solidFill>
                  <a:srgbClr val="FF0000"/>
                </a:solidFill>
              </a:rPr>
              <a:t>tổng</a:t>
            </a:r>
            <a:r>
              <a:rPr lang="en-US" sz="3200" dirty="0">
                <a:solidFill>
                  <a:srgbClr val="FF0000"/>
                </a:solidFill>
              </a:rPr>
              <a:t> </a:t>
            </a:r>
            <a:r>
              <a:rPr lang="en-US" sz="3200" dirty="0" err="1">
                <a:solidFill>
                  <a:srgbClr val="FF0000"/>
                </a:solidFill>
              </a:rPr>
              <a:t>thể</a:t>
            </a:r>
            <a:r>
              <a:rPr lang="en-US" sz="3200" dirty="0">
                <a:solidFill>
                  <a:srgbClr val="FF0000"/>
                </a:solidFill>
              </a:rPr>
              <a:t>.</a:t>
            </a:r>
          </a:p>
          <a:p>
            <a:r>
              <a:rPr lang="en-US" sz="3200" dirty="0">
                <a:solidFill>
                  <a:srgbClr val="FF0000"/>
                </a:solidFill>
              </a:rPr>
              <a:t>  s:</a:t>
            </a:r>
            <a:r>
              <a:rPr lang="en-US" sz="3200" dirty="0"/>
              <a:t> </a:t>
            </a:r>
            <a:r>
              <a:rPr lang="en-US" sz="3200" dirty="0" err="1"/>
              <a:t>độ</a:t>
            </a:r>
            <a:r>
              <a:rPr lang="en-US" sz="3200" dirty="0"/>
              <a:t> </a:t>
            </a:r>
            <a:r>
              <a:rPr lang="en-US" sz="3200" dirty="0" err="1"/>
              <a:t>lệch</a:t>
            </a:r>
            <a:r>
              <a:rPr lang="en-US" sz="3200" dirty="0"/>
              <a:t> </a:t>
            </a:r>
            <a:r>
              <a:rPr lang="en-US" sz="3200" dirty="0" err="1"/>
              <a:t>chuẩn</a:t>
            </a:r>
            <a:r>
              <a:rPr lang="en-US" sz="3200" dirty="0"/>
              <a:t> </a:t>
            </a:r>
            <a:r>
              <a:rPr lang="en-US" sz="3200" dirty="0" err="1">
                <a:solidFill>
                  <a:srgbClr val="FFC000"/>
                </a:solidFill>
              </a:rPr>
              <a:t>có</a:t>
            </a:r>
            <a:r>
              <a:rPr lang="en-US" sz="3200" dirty="0">
                <a:solidFill>
                  <a:srgbClr val="FFC000"/>
                </a:solidFill>
              </a:rPr>
              <a:t> </a:t>
            </a:r>
            <a:r>
              <a:rPr lang="en-US" sz="3200" dirty="0" err="1">
                <a:solidFill>
                  <a:srgbClr val="FFC000"/>
                </a:solidFill>
              </a:rPr>
              <a:t>hiệu</a:t>
            </a:r>
            <a:r>
              <a:rPr lang="en-US" sz="3200" dirty="0">
                <a:solidFill>
                  <a:srgbClr val="FFC000"/>
                </a:solidFill>
              </a:rPr>
              <a:t> </a:t>
            </a:r>
            <a:r>
              <a:rPr lang="en-US" sz="3200" dirty="0" err="1">
                <a:solidFill>
                  <a:srgbClr val="FFC000"/>
                </a:solidFill>
              </a:rPr>
              <a:t>chỉnh</a:t>
            </a:r>
            <a:r>
              <a:rPr lang="en-US" sz="3200" dirty="0">
                <a:solidFill>
                  <a:srgbClr val="FFC000"/>
                </a:solidFill>
              </a:rPr>
              <a:t> </a:t>
            </a:r>
            <a:r>
              <a:rPr lang="en-US" sz="3200" dirty="0" err="1"/>
              <a:t>của</a:t>
            </a:r>
            <a:r>
              <a:rPr lang="en-US" sz="3200" dirty="0"/>
              <a:t> </a:t>
            </a:r>
            <a:r>
              <a:rPr lang="en-US" sz="3200" dirty="0" err="1">
                <a:solidFill>
                  <a:srgbClr val="FF0000"/>
                </a:solidFill>
              </a:rPr>
              <a:t>mẫu</a:t>
            </a:r>
            <a:r>
              <a:rPr lang="en-US" sz="3200" dirty="0">
                <a:solidFill>
                  <a:srgbClr val="FF0000"/>
                </a:solidFill>
              </a:rPr>
              <a:t> </a:t>
            </a:r>
            <a:r>
              <a:rPr lang="en-US" sz="3200" dirty="0" err="1">
                <a:solidFill>
                  <a:srgbClr val="FF0000"/>
                </a:solidFill>
              </a:rPr>
              <a:t>cụ</a:t>
            </a:r>
            <a:r>
              <a:rPr lang="en-US" sz="3200" dirty="0">
                <a:solidFill>
                  <a:srgbClr val="FF0000"/>
                </a:solidFill>
              </a:rPr>
              <a:t> </a:t>
            </a:r>
            <a:r>
              <a:rPr lang="en-US" sz="3200" dirty="0" err="1">
                <a:solidFill>
                  <a:srgbClr val="FF0000"/>
                </a:solidFill>
              </a:rPr>
              <a:t>thể</a:t>
            </a:r>
            <a:endParaRPr lang="en-US" sz="3200" dirty="0">
              <a:solidFill>
                <a:srgbClr val="FF0000"/>
              </a:solidFill>
            </a:endParaRPr>
          </a:p>
        </p:txBody>
      </p:sp>
      <p:graphicFrame>
        <p:nvGraphicFramePr>
          <p:cNvPr id="9" name="Object 8"/>
          <p:cNvGraphicFramePr>
            <a:graphicFrameLocks noChangeAspect="1"/>
          </p:cNvGraphicFramePr>
          <p:nvPr/>
        </p:nvGraphicFramePr>
        <p:xfrm>
          <a:off x="939120" y="5343236"/>
          <a:ext cx="7290480" cy="1362364"/>
        </p:xfrm>
        <a:graphic>
          <a:graphicData uri="http://schemas.openxmlformats.org/presentationml/2006/ole">
            <mc:AlternateContent xmlns:mc="http://schemas.openxmlformats.org/markup-compatibility/2006">
              <mc:Choice xmlns:v="urn:schemas-microsoft-com:vml" Requires="v">
                <p:oleObj name="Equation" r:id="rId4" imgW="2514600" imgH="469800" progId="Equation.DSMT4">
                  <p:embed/>
                </p:oleObj>
              </mc:Choice>
              <mc:Fallback>
                <p:oleObj name="Equation" r:id="rId4" imgW="2514600" imgH="469800" progId="Equation.DSMT4">
                  <p:embed/>
                  <p:pic>
                    <p:nvPicPr>
                      <p:cNvPr id="9"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9120" y="5343236"/>
                        <a:ext cx="7290480" cy="13623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28071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p:cNvSpPr>
                <a:spLocks noGrp="1"/>
              </p:cNvSpPr>
              <p:nvPr>
                <p:ph type="title"/>
              </p:nvPr>
            </p:nvSpPr>
            <p:spPr>
              <a:xfrm>
                <a:off x="1676400" y="2362200"/>
                <a:ext cx="7010400" cy="1143000"/>
              </a:xfrm>
            </p:spPr>
            <p:txBody>
              <a:bodyPr>
                <a:normAutofit fontScale="90000"/>
              </a:bodyPr>
              <a:lstStyle/>
              <a:p>
                <a:r>
                  <a:rPr lang="en-US"/>
                  <a:t>Ước lượng trung bình tổng thể </a:t>
                </a:r>
                <a14:m>
                  <m:oMath xmlns:m="http://schemas.openxmlformats.org/officeDocument/2006/math">
                    <m:r>
                      <a:rPr lang="en-US" b="0" i="1" smtClean="0">
                        <a:latin typeface="Cambria Math" panose="02040503050406030204" pitchFamily="18" charset="0"/>
                      </a:rPr>
                      <m:t>𝜇</m:t>
                    </m:r>
                  </m:oMath>
                </a14:m>
                <a:endParaRPr lang="en-US"/>
              </a:p>
            </p:txBody>
          </p:sp>
        </mc:Choice>
        <mc:Fallback xmlns="">
          <p:sp>
            <p:nvSpPr>
              <p:cNvPr id="4" name="Title 3"/>
              <p:cNvSpPr>
                <a:spLocks noGrp="1" noRot="1" noChangeAspect="1" noMove="1" noResize="1" noEditPoints="1" noAdjustHandles="1" noChangeArrowheads="1" noChangeShapeType="1" noTextEdit="1"/>
              </p:cNvSpPr>
              <p:nvPr>
                <p:ph type="title"/>
              </p:nvPr>
            </p:nvSpPr>
            <p:spPr>
              <a:xfrm>
                <a:off x="1676400" y="2362200"/>
                <a:ext cx="7010400" cy="1143000"/>
              </a:xfrm>
              <a:blipFill rotWithShape="0">
                <a:blip r:embed="rId2"/>
                <a:stretch>
                  <a:fillRect l="-3043" b="-3743"/>
                </a:stretch>
              </a:blipFill>
            </p:spPr>
            <p:txBody>
              <a:bodyPr/>
              <a:lstStyle/>
              <a:p>
                <a:r>
                  <a:rPr lang="en-US">
                    <a:noFill/>
                  </a:rPr>
                  <a:t> </a:t>
                </a:r>
              </a:p>
            </p:txBody>
          </p:sp>
        </mc:Fallback>
      </mc:AlternateContent>
    </p:spTree>
    <p:extLst>
      <p:ext uri="{BB962C8B-B14F-4D97-AF65-F5344CB8AC3E}">
        <p14:creationId xmlns:p14="http://schemas.microsoft.com/office/powerpoint/2010/main" val="597184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991600" cy="5105400"/>
          </a:xfrm>
        </p:spPr>
        <p:txBody>
          <a:bodyPr>
            <a:normAutofit/>
          </a:bodyPr>
          <a:lstStyle/>
          <a:p>
            <a:r>
              <a:rPr lang="en-US" b="1" dirty="0" err="1">
                <a:latin typeface="Times New Roman" pitchFamily="18" charset="0"/>
                <a:cs typeface="Times New Roman" pitchFamily="18" charset="0"/>
              </a:rPr>
              <a:t>Mục</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tiêu</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ước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lượng</a:t>
            </a:r>
            <a:r>
              <a:rPr lang="en-US" dirty="0">
                <a:latin typeface="Times New Roman" pitchFamily="18" charset="0"/>
                <a:cs typeface="Times New Roman" pitchFamily="18" charset="0"/>
              </a:rPr>
              <a:t> </a:t>
            </a:r>
            <a:r>
              <a:rPr lang="el-GR" dirty="0">
                <a:latin typeface="Times New Roman" pitchFamily="18" charset="0"/>
                <a:cs typeface="Times New Roman" pitchFamily="18" charset="0"/>
              </a:rPr>
              <a:t>μ</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cậy</a:t>
            </a:r>
            <a:r>
              <a:rPr lang="en-US" dirty="0">
                <a:latin typeface="Times New Roman" pitchFamily="18" charset="0"/>
                <a:cs typeface="Times New Roman" pitchFamily="18" charset="0"/>
              </a:rPr>
              <a:t> 1- </a:t>
            </a:r>
            <a:r>
              <a:rPr lang="el-GR" dirty="0">
                <a:latin typeface="Times New Roman" pitchFamily="18" charset="0"/>
                <a:cs typeface="Times New Roman" pitchFamily="18" charset="0"/>
              </a:rPr>
              <a:t>α</a:t>
            </a:r>
            <a:endParaRPr lang="en-US" dirty="0">
              <a:latin typeface="Times New Roman" pitchFamily="18" charset="0"/>
              <a:cs typeface="Times New Roman" pitchFamily="18" charset="0"/>
            </a:endParaRPr>
          </a:p>
          <a:p>
            <a:pPr lvl="1"/>
            <a:r>
              <a:rPr lang="en-US" dirty="0" err="1">
                <a:latin typeface="Times New Roman" pitchFamily="18" charset="0"/>
                <a:cs typeface="Times New Roman" pitchFamily="18" charset="0"/>
              </a:rPr>
              <a:t>Độ</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cậy</a:t>
            </a:r>
            <a:r>
              <a:rPr lang="en-US" dirty="0">
                <a:latin typeface="Times New Roman" pitchFamily="18" charset="0"/>
                <a:cs typeface="Times New Roman" pitchFamily="18" charset="0"/>
              </a:rPr>
              <a:t> 1- </a:t>
            </a:r>
            <a:r>
              <a:rPr lang="el-GR" dirty="0">
                <a:latin typeface="Times New Roman" pitchFamily="18" charset="0"/>
                <a:cs typeface="Times New Roman" pitchFamily="18" charset="0"/>
              </a:rPr>
              <a:t>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l-GR" dirty="0">
                <a:latin typeface="Times New Roman" pitchFamily="18" charset="0"/>
                <a:cs typeface="Times New Roman" pitchFamily="18" charset="0"/>
              </a:rPr>
              <a:t>μ</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khoảng</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cậy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a:t>
            </a:r>
            <a:r>
              <a:rPr lang="en-US" dirty="0">
                <a:latin typeface="Times New Roman" pitchFamily="18" charset="0"/>
                <a:cs typeface="Times New Roman" pitchFamily="18" charset="0"/>
              </a:rPr>
              <a:t>.</a:t>
            </a:r>
          </a:p>
          <a:p>
            <a:pPr lvl="1"/>
            <a:r>
              <a:rPr lang="en-US" dirty="0" err="1">
                <a:latin typeface="Times New Roman" pitchFamily="18" charset="0"/>
                <a:cs typeface="Times New Roman" pitchFamily="18" charset="0"/>
              </a:rPr>
              <a:t>Dùng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mẫu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ước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lượng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tổng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l-GR" dirty="0">
                <a:latin typeface="Times New Roman" pitchFamily="18" charset="0"/>
                <a:cs typeface="Times New Roman" pitchFamily="18" charset="0"/>
              </a:rPr>
              <a:t>μ</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Ta </a:t>
            </a:r>
            <a:r>
              <a:rPr lang="en-US" dirty="0" err="1">
                <a:latin typeface="Times New Roman" pitchFamily="18" charset="0"/>
                <a:cs typeface="Times New Roman" pitchFamily="18" charset="0"/>
              </a:rPr>
              <a:t>cần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tìm</a:t>
            </a:r>
            <a:r>
              <a:rPr lang="en-US" dirty="0">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khoảng</a:t>
            </a:r>
            <a:r>
              <a:rPr lang="en-US" dirty="0">
                <a:solidFill>
                  <a:srgbClr val="FF0000"/>
                </a:solidFill>
                <a:latin typeface="Times New Roman" pitchFamily="18" charset="0"/>
                <a:cs typeface="Times New Roman" pitchFamily="18" charset="0"/>
              </a:rPr>
              <a:t> tin </a:t>
            </a:r>
            <a:r>
              <a:rPr lang="en-US" dirty="0" err="1">
                <a:solidFill>
                  <a:srgbClr val="FF0000"/>
                </a:solidFill>
                <a:latin typeface="Times New Roman" pitchFamily="18" charset="0"/>
                <a:cs typeface="Times New Roman" pitchFamily="18" charset="0"/>
              </a:rPr>
              <a:t>cậy</a:t>
            </a:r>
            <a:r>
              <a:rPr lang="en-US" dirty="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sao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a:t>
            </a:r>
          </a:p>
          <a:p>
            <a:r>
              <a:rPr lang="en-US" sz="2800" dirty="0" err="1">
                <a:latin typeface="Times New Roman" pitchFamily="18" charset="0"/>
                <a:cs typeface="Times New Roman" pitchFamily="18" charset="0"/>
              </a:rPr>
              <a:t>Ví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Khoảng</a:t>
            </a:r>
            <a:r>
              <a:rPr lang="en-US" sz="2800" dirty="0">
                <a:latin typeface="Times New Roman" pitchFamily="18" charset="0"/>
                <a:cs typeface="Times New Roman" pitchFamily="18" charset="0"/>
              </a:rPr>
              <a:t> tin </a:t>
            </a:r>
            <a:r>
              <a:rPr lang="en-US" sz="2800" dirty="0" err="1">
                <a:latin typeface="Times New Roman" pitchFamily="18" charset="0"/>
                <a:cs typeface="Times New Roman" pitchFamily="18" charset="0"/>
              </a:rPr>
              <a:t>cậy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[156; 173]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tin </a:t>
            </a:r>
            <a:r>
              <a:rPr lang="en-US" sz="2800" dirty="0" err="1">
                <a:latin typeface="Times New Roman" pitchFamily="18" charset="0"/>
                <a:cs typeface="Times New Roman" pitchFamily="18" charset="0"/>
              </a:rPr>
              <a:t>cậy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95%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95% </a:t>
            </a:r>
            <a:r>
              <a:rPr lang="en-US" sz="2800" dirty="0" err="1">
                <a:latin typeface="Times New Roman" pitchFamily="18" charset="0"/>
                <a:cs typeface="Times New Roman" pitchFamily="18" charset="0"/>
              </a:rPr>
              <a:t>khả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l-GR" sz="2800" dirty="0">
                <a:latin typeface="Times New Roman" pitchFamily="18" charset="0"/>
                <a:cs typeface="Times New Roman" pitchFamily="18" charset="0"/>
              </a:rPr>
              <a:t>μ</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khoảng</a:t>
            </a:r>
            <a:r>
              <a:rPr lang="en-US" sz="2800" dirty="0">
                <a:latin typeface="Times New Roman" pitchFamily="18" charset="0"/>
                <a:cs typeface="Times New Roman" pitchFamily="18" charset="0"/>
              </a:rPr>
              <a:t> [156; 173]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5% </a:t>
            </a:r>
            <a:r>
              <a:rPr lang="en-US" sz="2800" dirty="0" err="1">
                <a:latin typeface="Times New Roman" pitchFamily="18" charset="0"/>
                <a:cs typeface="Times New Roman" pitchFamily="18" charset="0"/>
              </a:rPr>
              <a:t>khả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l-GR" sz="2800" dirty="0">
                <a:latin typeface="Times New Roman" pitchFamily="18" charset="0"/>
                <a:cs typeface="Times New Roman" pitchFamily="18" charset="0"/>
              </a:rPr>
              <a:t>μ</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khoảng</a:t>
            </a:r>
            <a:r>
              <a:rPr lang="en-US" sz="2800" dirty="0">
                <a:latin typeface="Times New Roman" pitchFamily="18" charset="0"/>
                <a:cs typeface="Times New Roman" pitchFamily="18" charset="0"/>
              </a:rPr>
              <a:t> [156; 173]. </a:t>
            </a:r>
          </a:p>
          <a:p>
            <a:pPr lvl="1">
              <a:buNone/>
            </a:pPr>
            <a:endParaRPr lang="en-US" dirty="0">
              <a:latin typeface="Times New Roman" pitchFamily="18" charset="0"/>
              <a:cs typeface="Times New Roman" pitchFamily="18" charset="0"/>
            </a:endParaRPr>
          </a:p>
          <a:p>
            <a:pPr lvl="1">
              <a:buNone/>
            </a:pPr>
            <a:endParaRPr lang="en-US" dirty="0">
              <a:latin typeface="Times New Roman" pitchFamily="18" charset="0"/>
              <a:cs typeface="Times New Roman" pitchFamily="18" charset="0"/>
            </a:endParaRPr>
          </a:p>
          <a:p>
            <a:pPr lvl="1">
              <a:buNone/>
            </a:pPr>
            <a:endParaRPr lang="en-US" dirty="0">
              <a:latin typeface="Times New Roman" pitchFamily="18" charset="0"/>
              <a:cs typeface="Times New Roman" pitchFamily="18" charset="0"/>
            </a:endParaRPr>
          </a:p>
          <a:p>
            <a:pPr lvl="1">
              <a:buNone/>
            </a:pPr>
            <a:endParaRPr lang="en-US" dirty="0">
              <a:latin typeface="Times New Roman" pitchFamily="18" charset="0"/>
              <a:cs typeface="Times New Roman" pitchFamily="18" charset="0"/>
            </a:endParaRPr>
          </a:p>
          <a:p>
            <a:pPr lvl="1"/>
            <a:endParaRPr lang="en-US" b="1" dirty="0">
              <a:latin typeface="Times New Roman" pitchFamily="18" charset="0"/>
              <a:cs typeface="Times New Roman" pitchFamily="18" charset="0"/>
            </a:endParaRPr>
          </a:p>
        </p:txBody>
      </p:sp>
      <p:sp>
        <p:nvSpPr>
          <p:cNvPr id="4" name="Title 1"/>
          <p:cNvSpPr>
            <a:spLocks noGrp="1"/>
          </p:cNvSpPr>
          <p:nvPr>
            <p:ph type="title"/>
          </p:nvPr>
        </p:nvSpPr>
        <p:spPr/>
        <p:txBody>
          <a:bodyPr/>
          <a:lstStyle/>
          <a:p>
            <a:r>
              <a:rPr lang="en-US" dirty="0" err="1"/>
              <a:t>Ước</a:t>
            </a:r>
            <a:r>
              <a:rPr lang="en-US" dirty="0"/>
              <a:t> </a:t>
            </a:r>
            <a:r>
              <a:rPr lang="en-US" dirty="0" err="1"/>
              <a:t>lượng</a:t>
            </a:r>
            <a:r>
              <a:rPr lang="en-US" dirty="0"/>
              <a:t> </a:t>
            </a:r>
            <a:r>
              <a:rPr lang="en-US" dirty="0" err="1"/>
              <a:t>trung</a:t>
            </a:r>
            <a:r>
              <a:rPr lang="en-US" dirty="0"/>
              <a:t> </a:t>
            </a:r>
            <a:r>
              <a:rPr lang="en-US" dirty="0" err="1"/>
              <a:t>bình</a:t>
            </a:r>
            <a:r>
              <a:rPr lang="en-US" dirty="0"/>
              <a:t> </a:t>
            </a:r>
            <a:r>
              <a:rPr lang="en-US" dirty="0" err="1"/>
              <a:t>tổng</a:t>
            </a:r>
            <a:r>
              <a:rPr lang="en-US" dirty="0"/>
              <a:t> </a:t>
            </a:r>
            <a:r>
              <a:rPr lang="en-US" dirty="0" err="1"/>
              <a:t>thể</a:t>
            </a:r>
            <a:r>
              <a:rPr lang="en-US" dirty="0"/>
              <a:t> </a:t>
            </a:r>
            <a:r>
              <a:rPr lang="el-GR" dirty="0"/>
              <a:t>μ</a:t>
            </a:r>
            <a:endParaRPr lang="en-US" dirty="0"/>
          </a:p>
        </p:txBody>
      </p:sp>
      <p:graphicFrame>
        <p:nvGraphicFramePr>
          <p:cNvPr id="5" name="Object 4"/>
          <p:cNvGraphicFramePr>
            <a:graphicFrameLocks noChangeAspect="1"/>
          </p:cNvGraphicFramePr>
          <p:nvPr/>
        </p:nvGraphicFramePr>
        <p:xfrm>
          <a:off x="5562600" y="2616200"/>
          <a:ext cx="657225" cy="554038"/>
        </p:xfrm>
        <a:graphic>
          <a:graphicData uri="http://schemas.openxmlformats.org/presentationml/2006/ole">
            <mc:AlternateContent xmlns:mc="http://schemas.openxmlformats.org/markup-compatibility/2006">
              <mc:Choice xmlns:v="urn:schemas-microsoft-com:vml" Requires="v">
                <p:oleObj name="Equation" r:id="rId3" imgW="241200" imgH="203040" progId="Equation.DSMT4">
                  <p:embed/>
                </p:oleObj>
              </mc:Choice>
              <mc:Fallback>
                <p:oleObj name="Equation" r:id="rId3" imgW="241200" imgH="203040" progId="Equation.DSMT4">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2616200"/>
                        <a:ext cx="657225"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4953000" y="3657600"/>
          <a:ext cx="2100264" cy="533400"/>
        </p:xfrm>
        <a:graphic>
          <a:graphicData uri="http://schemas.openxmlformats.org/presentationml/2006/ole">
            <mc:AlternateContent xmlns:mc="http://schemas.openxmlformats.org/markup-compatibility/2006">
              <mc:Choice xmlns:v="urn:schemas-microsoft-com:vml" Requires="v">
                <p:oleObj name="Equation" r:id="rId5" imgW="799920" imgH="203040" progId="Equation.DSMT4">
                  <p:embed/>
                </p:oleObj>
              </mc:Choice>
              <mc:Fallback>
                <p:oleObj name="Equation" r:id="rId5" imgW="799920" imgH="203040" progId="Equation.DSMT4">
                  <p:embed/>
                  <p:pic>
                    <p:nvPicPr>
                      <p:cNvPr id="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3657600"/>
                        <a:ext cx="2100264"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2057400" y="4343401"/>
          <a:ext cx="4495800" cy="536812"/>
        </p:xfrm>
        <a:graphic>
          <a:graphicData uri="http://schemas.openxmlformats.org/presentationml/2006/ole">
            <mc:AlternateContent xmlns:mc="http://schemas.openxmlformats.org/markup-compatibility/2006">
              <mc:Choice xmlns:v="urn:schemas-microsoft-com:vml" Requires="v">
                <p:oleObj name="Equation" r:id="rId7" imgW="1701720" imgH="203040" progId="Equation.DSMT4">
                  <p:embed/>
                </p:oleObj>
              </mc:Choice>
              <mc:Fallback>
                <p:oleObj name="Equation" r:id="rId7" imgW="1701720" imgH="203040" progId="Equation.DSMT4">
                  <p:embed/>
                  <p:pic>
                    <p:nvPicPr>
                      <p:cNvPr id="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4343401"/>
                        <a:ext cx="4495800" cy="536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Ước lượng </a:t>
            </a:r>
            <a:r>
              <a:rPr lang="en-US">
                <a:solidFill>
                  <a:srgbClr val="FF0000"/>
                </a:solidFill>
              </a:rPr>
              <a:t>μ</a:t>
            </a:r>
            <a:r>
              <a:rPr lang="en-US"/>
              <a:t> với </a:t>
            </a:r>
            <a:r>
              <a:rPr lang="en-US">
                <a:solidFill>
                  <a:srgbClr val="C00000"/>
                </a:solidFill>
              </a:rPr>
              <a:t>độ tin cậy 1-</a:t>
            </a:r>
            <a:r>
              <a:rPr lang="el-GR">
                <a:solidFill>
                  <a:srgbClr val="C00000"/>
                </a:solidFill>
              </a:rPr>
              <a:t>α</a:t>
            </a:r>
            <a:endParaRPr lang="en-US" dirty="0">
              <a:solidFill>
                <a:srgbClr val="C00000"/>
              </a:solidFill>
            </a:endParaRPr>
          </a:p>
        </p:txBody>
      </p:sp>
      <p:sp>
        <p:nvSpPr>
          <p:cNvPr id="5" name="TextBox 4"/>
          <p:cNvSpPr txBox="1"/>
          <p:nvPr/>
        </p:nvSpPr>
        <p:spPr>
          <a:xfrm>
            <a:off x="152400" y="798414"/>
            <a:ext cx="9296400" cy="1077218"/>
          </a:xfrm>
          <a:prstGeom prst="rect">
            <a:avLst/>
          </a:prstGeom>
          <a:noFill/>
        </p:spPr>
        <p:txBody>
          <a:bodyPr wrap="square" rtlCol="0">
            <a:spAutoFit/>
          </a:bodyPr>
          <a:lstStyle/>
          <a:p>
            <a:r>
              <a:rPr lang="en-US" sz="3200" dirty="0">
                <a:solidFill>
                  <a:srgbClr val="0070C0"/>
                </a:solidFill>
              </a:rPr>
              <a:t>1) TH: </a:t>
            </a:r>
            <a:r>
              <a:rPr lang="el-GR" sz="3200" dirty="0">
                <a:solidFill>
                  <a:srgbClr val="C00000"/>
                </a:solidFill>
              </a:rPr>
              <a:t>σ</a:t>
            </a:r>
            <a:r>
              <a:rPr lang="en-US" sz="3200" dirty="0">
                <a:solidFill>
                  <a:srgbClr val="0070C0"/>
                </a:solidFill>
              </a:rPr>
              <a:t> </a:t>
            </a:r>
            <a:r>
              <a:rPr lang="en-US" sz="3200" dirty="0" err="1">
                <a:solidFill>
                  <a:srgbClr val="0070C0"/>
                </a:solidFill>
              </a:rPr>
              <a:t>đã</a:t>
            </a:r>
            <a:r>
              <a:rPr lang="en-US" sz="3200" dirty="0">
                <a:solidFill>
                  <a:srgbClr val="0070C0"/>
                </a:solidFill>
              </a:rPr>
              <a:t> </a:t>
            </a:r>
            <a:r>
              <a:rPr lang="en-US" sz="3200" dirty="0" err="1">
                <a:solidFill>
                  <a:srgbClr val="0070C0"/>
                </a:solidFill>
              </a:rPr>
              <a:t>biết</a:t>
            </a:r>
            <a:r>
              <a:rPr lang="en-US" sz="3200" dirty="0">
                <a:solidFill>
                  <a:srgbClr val="0070C0"/>
                </a:solidFill>
              </a:rPr>
              <a:t> (</a:t>
            </a:r>
            <a:r>
              <a:rPr lang="en-US" sz="3200" dirty="0"/>
              <a:t>X </a:t>
            </a:r>
            <a:r>
              <a:rPr lang="en-US" sz="3200" dirty="0" err="1"/>
              <a:t>có</a:t>
            </a:r>
            <a:r>
              <a:rPr lang="en-US" sz="3200" dirty="0"/>
              <a:t> PP </a:t>
            </a:r>
            <a:r>
              <a:rPr lang="en-US" sz="3200" dirty="0" err="1"/>
              <a:t>chuẩn</a:t>
            </a:r>
            <a:r>
              <a:rPr lang="en-US" sz="3200" dirty="0"/>
              <a:t>, </a:t>
            </a:r>
            <a:r>
              <a:rPr lang="en-US" sz="3200" dirty="0" err="1"/>
              <a:t>hoặc</a:t>
            </a:r>
            <a:r>
              <a:rPr lang="en-US" sz="3200" dirty="0"/>
              <a:t> X </a:t>
            </a:r>
            <a:r>
              <a:rPr lang="en-US" sz="3200" dirty="0" err="1"/>
              <a:t>không</a:t>
            </a:r>
            <a:r>
              <a:rPr lang="en-US" sz="3200" dirty="0"/>
              <a:t> </a:t>
            </a:r>
            <a:r>
              <a:rPr lang="en-US" sz="3200" dirty="0" err="1"/>
              <a:t>có</a:t>
            </a:r>
            <a:r>
              <a:rPr lang="en-US" sz="3200" dirty="0"/>
              <a:t> PP </a:t>
            </a:r>
            <a:r>
              <a:rPr lang="en-US" sz="3200" dirty="0" err="1"/>
              <a:t>chuẩn</a:t>
            </a:r>
            <a:r>
              <a:rPr lang="en-US" sz="3200" dirty="0"/>
              <a:t> </a:t>
            </a:r>
            <a:r>
              <a:rPr lang="en-US" sz="3200" dirty="0" err="1"/>
              <a:t>nhưng</a:t>
            </a:r>
            <a:r>
              <a:rPr lang="en-US" sz="3200" dirty="0"/>
              <a:t> n &gt;=30</a:t>
            </a:r>
            <a:r>
              <a:rPr lang="en-US" sz="3200" dirty="0">
                <a:solidFill>
                  <a:srgbClr val="0070C0"/>
                </a:solidFill>
              </a:rPr>
              <a:t>)</a:t>
            </a:r>
            <a:r>
              <a:rPr lang="en-US" sz="3200" dirty="0"/>
              <a:t> </a:t>
            </a:r>
            <a:endParaRPr lang="en-US" sz="3200" dirty="0">
              <a:solidFill>
                <a:srgbClr val="0070C0"/>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2343002167"/>
              </p:ext>
            </p:extLst>
          </p:nvPr>
        </p:nvGraphicFramePr>
        <p:xfrm>
          <a:off x="2386806" y="1681162"/>
          <a:ext cx="4370388" cy="1176338"/>
        </p:xfrm>
        <a:graphic>
          <a:graphicData uri="http://schemas.openxmlformats.org/presentationml/2006/ole">
            <mc:AlternateContent xmlns:mc="http://schemas.openxmlformats.org/markup-compatibility/2006">
              <mc:Choice xmlns:v="urn:schemas-microsoft-com:vml" Requires="v">
                <p:oleObj name="Equation" r:id="rId3" imgW="1650960" imgH="444240" progId="Equation.DSMT4">
                  <p:embed/>
                </p:oleObj>
              </mc:Choice>
              <mc:Fallback>
                <p:oleObj name="Equation" r:id="rId3" imgW="1650960" imgH="444240" progId="Equation.DSMT4">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806" y="1681162"/>
                        <a:ext cx="4370388" cy="1176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762000" y="2590800"/>
            <a:ext cx="8382000" cy="5078313"/>
          </a:xfrm>
          <a:prstGeom prst="rect">
            <a:avLst/>
          </a:prstGeom>
          <a:noFill/>
        </p:spPr>
        <p:txBody>
          <a:bodyPr wrap="square" rtlCol="0">
            <a:spAutoFit/>
          </a:bodyPr>
          <a:lstStyle/>
          <a:p>
            <a:r>
              <a:rPr lang="en-US" sz="3200" dirty="0" err="1"/>
              <a:t>Tìm</a:t>
            </a:r>
            <a:r>
              <a:rPr lang="en-US" sz="3200" dirty="0"/>
              <a:t>              </a:t>
            </a:r>
            <a:r>
              <a:rPr lang="en-US" sz="3200" dirty="0" err="1"/>
              <a:t>sao</a:t>
            </a:r>
            <a:r>
              <a:rPr lang="en-US" sz="3200" dirty="0"/>
              <a:t> </a:t>
            </a:r>
            <a:r>
              <a:rPr lang="en-US" sz="3200" dirty="0" err="1"/>
              <a:t>cho</a:t>
            </a:r>
            <a:r>
              <a:rPr lang="en-US" sz="3200" dirty="0"/>
              <a:t> </a:t>
            </a:r>
            <a:r>
              <a:rPr lang="en-US" sz="3200" dirty="0">
                <a:solidFill>
                  <a:srgbClr val="FF0000"/>
                </a:solidFill>
              </a:rPr>
              <a:t>  </a:t>
            </a:r>
            <a:r>
              <a:rPr lang="en-US" sz="3600" dirty="0">
                <a:solidFill>
                  <a:srgbClr val="FF0000"/>
                </a:solidFill>
              </a:rPr>
              <a:t>P(-z</a:t>
            </a:r>
            <a:r>
              <a:rPr lang="el-GR" sz="3600" baseline="-25000" dirty="0">
                <a:solidFill>
                  <a:srgbClr val="FF0000"/>
                </a:solidFill>
              </a:rPr>
              <a:t>α</a:t>
            </a:r>
            <a:r>
              <a:rPr lang="en-US" sz="3600" baseline="-25000" dirty="0">
                <a:solidFill>
                  <a:srgbClr val="FF0000"/>
                </a:solidFill>
              </a:rPr>
              <a:t>/2</a:t>
            </a:r>
            <a:r>
              <a:rPr lang="en-US" sz="3600" dirty="0">
                <a:solidFill>
                  <a:srgbClr val="FF0000"/>
                </a:solidFill>
              </a:rPr>
              <a:t> ≤ Z ≤ z</a:t>
            </a:r>
            <a:r>
              <a:rPr lang="el-GR" sz="3600" baseline="-25000" dirty="0">
                <a:solidFill>
                  <a:srgbClr val="FF0000"/>
                </a:solidFill>
              </a:rPr>
              <a:t>α</a:t>
            </a:r>
            <a:r>
              <a:rPr lang="en-US" sz="3600" baseline="-25000" dirty="0">
                <a:solidFill>
                  <a:srgbClr val="FF0000"/>
                </a:solidFill>
              </a:rPr>
              <a:t>/2</a:t>
            </a:r>
            <a:r>
              <a:rPr lang="en-US" sz="3600" dirty="0">
                <a:solidFill>
                  <a:srgbClr val="FF0000"/>
                </a:solidFill>
              </a:rPr>
              <a:t> ) = 1 – </a:t>
            </a:r>
            <a:r>
              <a:rPr lang="el-GR" sz="3600" dirty="0">
                <a:solidFill>
                  <a:srgbClr val="FF0000"/>
                </a:solidFill>
              </a:rPr>
              <a:t>α</a:t>
            </a:r>
            <a:r>
              <a:rPr lang="en-US" sz="3600" dirty="0">
                <a:solidFill>
                  <a:srgbClr val="FF0000"/>
                </a:solidFill>
              </a:rPr>
              <a:t>, </a:t>
            </a:r>
            <a:r>
              <a:rPr lang="en-US" sz="3600" dirty="0" err="1"/>
              <a:t>nghĩa</a:t>
            </a:r>
            <a:r>
              <a:rPr lang="en-US" sz="3600" dirty="0"/>
              <a:t> </a:t>
            </a:r>
            <a:r>
              <a:rPr lang="en-US" sz="3600" dirty="0" err="1"/>
              <a:t>là</a:t>
            </a:r>
            <a:r>
              <a:rPr lang="en-US" sz="3600" dirty="0"/>
              <a:t> </a:t>
            </a:r>
            <a:r>
              <a:rPr lang="en-US" sz="3600" dirty="0" err="1"/>
              <a:t>tìm</a:t>
            </a:r>
            <a:r>
              <a:rPr lang="en-US" sz="3600" dirty="0"/>
              <a:t>         (</a:t>
            </a:r>
            <a:r>
              <a:rPr lang="en-US" sz="3600" dirty="0" err="1"/>
              <a:t>tra</a:t>
            </a:r>
            <a:r>
              <a:rPr lang="en-US" sz="3600" dirty="0"/>
              <a:t> </a:t>
            </a:r>
            <a:r>
              <a:rPr lang="en-US" sz="3600" dirty="0" err="1"/>
              <a:t>bảng</a:t>
            </a:r>
            <a:r>
              <a:rPr lang="en-US" sz="3600" dirty="0"/>
              <a:t> A4)  </a:t>
            </a:r>
            <a:r>
              <a:rPr lang="en-US" sz="3600" dirty="0" err="1"/>
              <a:t>thỏa</a:t>
            </a:r>
            <a:r>
              <a:rPr lang="en-US" sz="3600" dirty="0"/>
              <a:t> </a:t>
            </a:r>
          </a:p>
          <a:p>
            <a:r>
              <a:rPr lang="en-US" sz="3600" dirty="0"/>
              <a:t>           P(</a:t>
            </a:r>
            <a:r>
              <a:rPr lang="en-US" sz="3600" dirty="0">
                <a:solidFill>
                  <a:srgbClr val="C00000"/>
                </a:solidFill>
              </a:rPr>
              <a:t>Z ≤ z</a:t>
            </a:r>
            <a:r>
              <a:rPr lang="el-GR" sz="3600" baseline="-25000" dirty="0">
                <a:solidFill>
                  <a:srgbClr val="C00000"/>
                </a:solidFill>
              </a:rPr>
              <a:t>α</a:t>
            </a:r>
            <a:r>
              <a:rPr lang="en-US" sz="3600" baseline="-25000" dirty="0">
                <a:solidFill>
                  <a:srgbClr val="C00000"/>
                </a:solidFill>
              </a:rPr>
              <a:t>/2</a:t>
            </a:r>
            <a:r>
              <a:rPr lang="en-US" sz="3600" dirty="0">
                <a:solidFill>
                  <a:srgbClr val="C00000"/>
                </a:solidFill>
              </a:rPr>
              <a:t> </a:t>
            </a:r>
            <a:r>
              <a:rPr lang="en-US" sz="3600" dirty="0"/>
              <a:t>) = 1-</a:t>
            </a:r>
            <a:r>
              <a:rPr lang="en-US" sz="3600" dirty="0">
                <a:solidFill>
                  <a:srgbClr val="FF0000"/>
                </a:solidFill>
              </a:rPr>
              <a:t> (</a:t>
            </a:r>
            <a:r>
              <a:rPr lang="el-GR" sz="3600" dirty="0">
                <a:solidFill>
                  <a:srgbClr val="FF0000"/>
                </a:solidFill>
              </a:rPr>
              <a:t>α</a:t>
            </a:r>
            <a:r>
              <a:rPr lang="en-US" sz="3600" dirty="0">
                <a:solidFill>
                  <a:srgbClr val="FF0000"/>
                </a:solidFill>
              </a:rPr>
              <a:t>/2) </a:t>
            </a:r>
          </a:p>
          <a:p>
            <a:r>
              <a:rPr lang="en-US" sz="3600" dirty="0" err="1"/>
              <a:t>Tính</a:t>
            </a:r>
            <a:r>
              <a:rPr lang="en-US" sz="3600" dirty="0"/>
              <a:t> </a:t>
            </a:r>
            <a:r>
              <a:rPr lang="en-US" sz="3600" dirty="0" err="1"/>
              <a:t>độ</a:t>
            </a:r>
            <a:r>
              <a:rPr lang="en-US" sz="3600" dirty="0"/>
              <a:t> </a:t>
            </a:r>
            <a:r>
              <a:rPr lang="en-US" sz="3600" dirty="0" err="1"/>
              <a:t>sai</a:t>
            </a:r>
            <a:r>
              <a:rPr lang="en-US" sz="3600" dirty="0"/>
              <a:t> </a:t>
            </a:r>
            <a:r>
              <a:rPr lang="en-US" sz="3600" dirty="0" err="1"/>
              <a:t>số</a:t>
            </a:r>
            <a:r>
              <a:rPr lang="en-US" sz="3600" dirty="0"/>
              <a:t> </a:t>
            </a:r>
            <a:r>
              <a:rPr lang="en-US" sz="3600" dirty="0" err="1"/>
              <a:t>của</a:t>
            </a:r>
            <a:r>
              <a:rPr lang="en-US" sz="3600" dirty="0"/>
              <a:t> </a:t>
            </a:r>
            <a:r>
              <a:rPr lang="en-US" sz="3600" dirty="0" err="1"/>
              <a:t>ước</a:t>
            </a:r>
            <a:r>
              <a:rPr lang="en-US" sz="3600" dirty="0"/>
              <a:t> </a:t>
            </a:r>
            <a:r>
              <a:rPr lang="en-US" sz="3600" dirty="0" err="1"/>
              <a:t>lượng</a:t>
            </a:r>
            <a:endParaRPr lang="en-US" sz="3600" dirty="0"/>
          </a:p>
          <a:p>
            <a:endParaRPr lang="en-US" sz="3600" dirty="0">
              <a:solidFill>
                <a:srgbClr val="FF0000"/>
              </a:solidFill>
            </a:endParaRPr>
          </a:p>
          <a:p>
            <a:r>
              <a:rPr lang="en-US" sz="3600" dirty="0" err="1">
                <a:solidFill>
                  <a:srgbClr val="0070C0"/>
                </a:solidFill>
              </a:rPr>
              <a:t>Khoảng</a:t>
            </a:r>
            <a:r>
              <a:rPr lang="en-US" sz="3600" dirty="0">
                <a:solidFill>
                  <a:srgbClr val="0070C0"/>
                </a:solidFill>
              </a:rPr>
              <a:t> tin </a:t>
            </a:r>
            <a:r>
              <a:rPr lang="en-US" sz="3600" dirty="0" err="1">
                <a:solidFill>
                  <a:srgbClr val="0070C0"/>
                </a:solidFill>
              </a:rPr>
              <a:t>cậy</a:t>
            </a:r>
            <a:r>
              <a:rPr lang="en-US" sz="3600" dirty="0"/>
              <a:t> </a:t>
            </a:r>
            <a:r>
              <a:rPr lang="en-US" sz="3600" dirty="0" err="1"/>
              <a:t>cho</a:t>
            </a:r>
            <a:r>
              <a:rPr lang="en-US" sz="3600" dirty="0"/>
              <a:t> </a:t>
            </a:r>
            <a:r>
              <a:rPr lang="el-GR" sz="3600" dirty="0">
                <a:solidFill>
                  <a:srgbClr val="0070C0"/>
                </a:solidFill>
              </a:rPr>
              <a:t>μ</a:t>
            </a:r>
            <a:r>
              <a:rPr lang="en-US" sz="3600" dirty="0"/>
              <a:t> </a:t>
            </a:r>
            <a:r>
              <a:rPr lang="en-US" sz="3600" dirty="0" err="1"/>
              <a:t>với</a:t>
            </a:r>
            <a:r>
              <a:rPr lang="en-US" sz="3600" dirty="0"/>
              <a:t> </a:t>
            </a:r>
            <a:r>
              <a:rPr lang="en-US" sz="3600" dirty="0" err="1"/>
              <a:t>độ</a:t>
            </a:r>
            <a:r>
              <a:rPr lang="en-US" sz="3600" dirty="0"/>
              <a:t> tin </a:t>
            </a:r>
            <a:r>
              <a:rPr lang="en-US" sz="3600" dirty="0" err="1"/>
              <a:t>cậy</a:t>
            </a:r>
            <a:r>
              <a:rPr lang="en-US" sz="3600" dirty="0"/>
              <a:t> </a:t>
            </a:r>
            <a:r>
              <a:rPr lang="en-US" sz="3600" dirty="0">
                <a:solidFill>
                  <a:srgbClr val="C00000"/>
                </a:solidFill>
              </a:rPr>
              <a:t>1-</a:t>
            </a:r>
            <a:r>
              <a:rPr lang="el-GR" sz="3600" dirty="0">
                <a:solidFill>
                  <a:srgbClr val="C00000"/>
                </a:solidFill>
              </a:rPr>
              <a:t>α</a:t>
            </a:r>
            <a:r>
              <a:rPr lang="en-US" sz="3600" dirty="0">
                <a:solidFill>
                  <a:srgbClr val="C00000"/>
                </a:solidFill>
              </a:rPr>
              <a:t>:</a:t>
            </a:r>
            <a:r>
              <a:rPr lang="el-GR" sz="3600" dirty="0">
                <a:solidFill>
                  <a:srgbClr val="C00000"/>
                </a:solidFill>
              </a:rPr>
              <a:t> </a:t>
            </a:r>
            <a:endParaRPr lang="en-US" sz="3600" dirty="0">
              <a:solidFill>
                <a:srgbClr val="C00000"/>
              </a:solidFill>
            </a:endParaRPr>
          </a:p>
          <a:p>
            <a:r>
              <a:rPr lang="en-US" sz="3600" dirty="0">
                <a:solidFill>
                  <a:srgbClr val="C00000"/>
                </a:solidFill>
              </a:rPr>
              <a:t>             </a:t>
            </a:r>
            <a:r>
              <a:rPr lang="en-US" sz="3600" dirty="0"/>
              <a:t>  [   - </a:t>
            </a:r>
            <a:r>
              <a:rPr lang="el-GR" sz="3600" dirty="0">
                <a:solidFill>
                  <a:srgbClr val="FF0000"/>
                </a:solidFill>
              </a:rPr>
              <a:t>ε</a:t>
            </a:r>
            <a:r>
              <a:rPr lang="en-US" sz="3600" dirty="0"/>
              <a:t>,    + </a:t>
            </a:r>
            <a:r>
              <a:rPr lang="el-GR" sz="3600" dirty="0">
                <a:solidFill>
                  <a:srgbClr val="FF0000"/>
                </a:solidFill>
              </a:rPr>
              <a:t>ε</a:t>
            </a:r>
            <a:r>
              <a:rPr lang="en-US" sz="3600" dirty="0"/>
              <a:t> ]</a:t>
            </a:r>
          </a:p>
          <a:p>
            <a:r>
              <a:rPr lang="en-US" sz="3600" dirty="0"/>
              <a:t> </a:t>
            </a:r>
          </a:p>
          <a:p>
            <a:r>
              <a:rPr lang="en-US" sz="3600" dirty="0"/>
              <a:t>        </a:t>
            </a:r>
          </a:p>
        </p:txBody>
      </p:sp>
      <p:graphicFrame>
        <p:nvGraphicFramePr>
          <p:cNvPr id="8" name="Object 7"/>
          <p:cNvGraphicFramePr>
            <a:graphicFrameLocks noChangeAspect="1"/>
          </p:cNvGraphicFramePr>
          <p:nvPr/>
        </p:nvGraphicFramePr>
        <p:xfrm>
          <a:off x="1790700" y="2590800"/>
          <a:ext cx="800100" cy="685800"/>
        </p:xfrm>
        <a:graphic>
          <a:graphicData uri="http://schemas.openxmlformats.org/presentationml/2006/ole">
            <mc:AlternateContent xmlns:mc="http://schemas.openxmlformats.org/markup-compatibility/2006">
              <mc:Choice xmlns:v="urn:schemas-microsoft-com:vml" Requires="v">
                <p:oleObj name="Equation" r:id="rId5" imgW="266400" imgH="228600" progId="Equation.DSMT4">
                  <p:embed/>
                </p:oleObj>
              </mc:Choice>
              <mc:Fallback>
                <p:oleObj name="Equation" r:id="rId5" imgW="266400" imgH="228600" progId="Equation.DSMT4">
                  <p:embed/>
                  <p:pic>
                    <p:nvPicPr>
                      <p:cNvPr id="8"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0700" y="2590800"/>
                        <a:ext cx="8001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6553200" y="4038600"/>
          <a:ext cx="2043545" cy="1143000"/>
        </p:xfrm>
        <a:graphic>
          <a:graphicData uri="http://schemas.openxmlformats.org/presentationml/2006/ole">
            <mc:AlternateContent xmlns:mc="http://schemas.openxmlformats.org/markup-compatibility/2006">
              <mc:Choice xmlns:v="urn:schemas-microsoft-com:vml" Requires="v">
                <p:oleObj name="Equation" r:id="rId7" imgW="749160" imgH="419040" progId="Equation.DSMT4">
                  <p:embed/>
                </p:oleObj>
              </mc:Choice>
              <mc:Fallback>
                <p:oleObj name="Equation" r:id="rId7" imgW="749160" imgH="419040" progId="Equation.DSMT4">
                  <p:embed/>
                  <p:pic>
                    <p:nvPicPr>
                      <p:cNvPr id="9"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4038600"/>
                        <a:ext cx="2043545" cy="1143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2438400" y="5943600"/>
          <a:ext cx="451338" cy="533400"/>
        </p:xfrm>
        <a:graphic>
          <a:graphicData uri="http://schemas.openxmlformats.org/presentationml/2006/ole">
            <mc:AlternateContent xmlns:mc="http://schemas.openxmlformats.org/markup-compatibility/2006">
              <mc:Choice xmlns:v="urn:schemas-microsoft-com:vml" Requires="v">
                <p:oleObj name="Equation" r:id="rId9" imgW="139680" imgH="164880" progId="Equation.DSMT4">
                  <p:embed/>
                </p:oleObj>
              </mc:Choice>
              <mc:Fallback>
                <p:oleObj name="Equation" r:id="rId9" imgW="139680" imgH="164880" progId="Equation.DSMT4">
                  <p:embed/>
                  <p:pic>
                    <p:nvPicPr>
                      <p:cNvPr id="1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38400" y="5943600"/>
                        <a:ext cx="45133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8" name="Object 6"/>
          <p:cNvGraphicFramePr>
            <a:graphicFrameLocks noChangeAspect="1"/>
          </p:cNvGraphicFramePr>
          <p:nvPr/>
        </p:nvGraphicFramePr>
        <p:xfrm>
          <a:off x="3352800" y="5935979"/>
          <a:ext cx="457200" cy="541021"/>
        </p:xfrm>
        <a:graphic>
          <a:graphicData uri="http://schemas.openxmlformats.org/presentationml/2006/ole">
            <mc:AlternateContent xmlns:mc="http://schemas.openxmlformats.org/markup-compatibility/2006">
              <mc:Choice xmlns:v="urn:schemas-microsoft-com:vml" Requires="v">
                <p:oleObj name="Equation" r:id="rId11" imgW="139680" imgH="164880" progId="Equation.DSMT4">
                  <p:embed/>
                </p:oleObj>
              </mc:Choice>
              <mc:Fallback>
                <p:oleObj name="Equation" r:id="rId11" imgW="139680" imgH="164880" progId="Equation.DSMT4">
                  <p:embed/>
                  <p:pic>
                    <p:nvPicPr>
                      <p:cNvPr id="3078"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52800" y="5935979"/>
                        <a:ext cx="457200" cy="5410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9" name="Object 7"/>
          <p:cNvGraphicFramePr>
            <a:graphicFrameLocks noChangeAspect="1"/>
          </p:cNvGraphicFramePr>
          <p:nvPr/>
        </p:nvGraphicFramePr>
        <p:xfrm>
          <a:off x="3048000" y="3124200"/>
          <a:ext cx="800100" cy="685800"/>
        </p:xfrm>
        <a:graphic>
          <a:graphicData uri="http://schemas.openxmlformats.org/presentationml/2006/ole">
            <mc:AlternateContent xmlns:mc="http://schemas.openxmlformats.org/markup-compatibility/2006">
              <mc:Choice xmlns:v="urn:schemas-microsoft-com:vml" Requires="v">
                <p:oleObj name="Equation" r:id="rId13" imgW="266400" imgH="228600" progId="Equation.DSMT4">
                  <p:embed/>
                </p:oleObj>
              </mc:Choice>
              <mc:Fallback>
                <p:oleObj name="Equation" r:id="rId13" imgW="266400" imgH="228600" progId="Equation.DSMT4">
                  <p:embed/>
                  <p:pic>
                    <p:nvPicPr>
                      <p:cNvPr id="3079"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0" y="3124200"/>
                        <a:ext cx="8001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32128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Ước</a:t>
            </a:r>
            <a:r>
              <a:rPr lang="en-US" dirty="0"/>
              <a:t> </a:t>
            </a:r>
            <a:r>
              <a:rPr lang="en-US" dirty="0" err="1"/>
              <a:t>lượng</a:t>
            </a:r>
            <a:r>
              <a:rPr lang="en-US" dirty="0"/>
              <a:t> </a:t>
            </a:r>
            <a:r>
              <a:rPr lang="en-US" dirty="0">
                <a:solidFill>
                  <a:srgbClr val="FF0000"/>
                </a:solidFill>
              </a:rPr>
              <a:t>μ</a:t>
            </a:r>
            <a:r>
              <a:rPr lang="en-US" dirty="0"/>
              <a:t> </a:t>
            </a:r>
            <a:r>
              <a:rPr lang="en-US" dirty="0" err="1"/>
              <a:t>với</a:t>
            </a:r>
            <a:r>
              <a:rPr lang="en-US" dirty="0"/>
              <a:t> </a:t>
            </a:r>
            <a:r>
              <a:rPr lang="en-US" dirty="0" err="1">
                <a:solidFill>
                  <a:srgbClr val="C00000"/>
                </a:solidFill>
              </a:rPr>
              <a:t>độ</a:t>
            </a:r>
            <a:r>
              <a:rPr lang="en-US" dirty="0">
                <a:solidFill>
                  <a:srgbClr val="C00000"/>
                </a:solidFill>
              </a:rPr>
              <a:t> tin </a:t>
            </a:r>
            <a:r>
              <a:rPr lang="en-US" dirty="0" err="1">
                <a:solidFill>
                  <a:srgbClr val="C00000"/>
                </a:solidFill>
              </a:rPr>
              <a:t>cậy</a:t>
            </a:r>
            <a:r>
              <a:rPr lang="en-US" dirty="0">
                <a:solidFill>
                  <a:srgbClr val="C00000"/>
                </a:solidFill>
              </a:rPr>
              <a:t> 1-</a:t>
            </a:r>
            <a:r>
              <a:rPr lang="el-GR" dirty="0">
                <a:solidFill>
                  <a:srgbClr val="C00000"/>
                </a:solidFill>
              </a:rPr>
              <a:t>α</a:t>
            </a:r>
            <a:endParaRPr lang="en-US" dirty="0">
              <a:solidFill>
                <a:srgbClr val="C00000"/>
              </a:solidFill>
            </a:endParaRPr>
          </a:p>
        </p:txBody>
      </p:sp>
      <p:sp>
        <p:nvSpPr>
          <p:cNvPr id="5" name="TextBox 4"/>
          <p:cNvSpPr txBox="1"/>
          <p:nvPr/>
        </p:nvSpPr>
        <p:spPr>
          <a:xfrm>
            <a:off x="533400" y="990600"/>
            <a:ext cx="8403020" cy="1569660"/>
          </a:xfrm>
          <a:prstGeom prst="rect">
            <a:avLst/>
          </a:prstGeom>
          <a:noFill/>
        </p:spPr>
        <p:txBody>
          <a:bodyPr wrap="square" rtlCol="0">
            <a:spAutoFit/>
          </a:bodyPr>
          <a:lstStyle/>
          <a:p>
            <a:r>
              <a:rPr lang="en-US" sz="3200" dirty="0">
                <a:solidFill>
                  <a:srgbClr val="0070C0"/>
                </a:solidFill>
              </a:rPr>
              <a:t>2) TH: </a:t>
            </a:r>
            <a:r>
              <a:rPr lang="el-GR" sz="3200" dirty="0">
                <a:solidFill>
                  <a:srgbClr val="C00000"/>
                </a:solidFill>
              </a:rPr>
              <a:t>σ</a:t>
            </a:r>
            <a:r>
              <a:rPr lang="en-US" sz="3200" dirty="0">
                <a:solidFill>
                  <a:srgbClr val="0070C0"/>
                </a:solidFill>
              </a:rPr>
              <a:t> </a:t>
            </a:r>
            <a:r>
              <a:rPr lang="en-US" sz="3200" dirty="0" err="1">
                <a:solidFill>
                  <a:srgbClr val="0070C0"/>
                </a:solidFill>
              </a:rPr>
              <a:t>chưa</a:t>
            </a:r>
            <a:r>
              <a:rPr lang="en-US" sz="3200" dirty="0">
                <a:solidFill>
                  <a:srgbClr val="0070C0"/>
                </a:solidFill>
              </a:rPr>
              <a:t> </a:t>
            </a:r>
            <a:r>
              <a:rPr lang="en-US" sz="3200" dirty="0" err="1">
                <a:solidFill>
                  <a:srgbClr val="0070C0"/>
                </a:solidFill>
              </a:rPr>
              <a:t>biết</a:t>
            </a:r>
            <a:r>
              <a:rPr lang="en-US" sz="3200" dirty="0">
                <a:solidFill>
                  <a:srgbClr val="0070C0"/>
                </a:solidFill>
              </a:rPr>
              <a:t> </a:t>
            </a:r>
          </a:p>
          <a:p>
            <a:r>
              <a:rPr lang="en-US" sz="3200" dirty="0">
                <a:solidFill>
                  <a:srgbClr val="0070C0"/>
                </a:solidFill>
              </a:rPr>
              <a:t>    a) </a:t>
            </a:r>
            <a:r>
              <a:rPr lang="en-US" sz="3200" dirty="0">
                <a:solidFill>
                  <a:srgbClr val="C00000"/>
                </a:solidFill>
              </a:rPr>
              <a:t>n ≥ 30 </a:t>
            </a:r>
            <a:r>
              <a:rPr lang="en-US" sz="3200" dirty="0">
                <a:solidFill>
                  <a:srgbClr val="0070C0"/>
                </a:solidFill>
              </a:rPr>
              <a:t>: </a:t>
            </a:r>
            <a:r>
              <a:rPr lang="en-US" sz="3200" dirty="0" err="1">
                <a:solidFill>
                  <a:srgbClr val="0070C0"/>
                </a:solidFill>
              </a:rPr>
              <a:t>thay</a:t>
            </a:r>
            <a:r>
              <a:rPr lang="en-US" sz="3200" dirty="0">
                <a:solidFill>
                  <a:srgbClr val="0070C0"/>
                </a:solidFill>
              </a:rPr>
              <a:t>  </a:t>
            </a:r>
            <a:r>
              <a:rPr lang="el-GR" sz="3200" dirty="0">
                <a:solidFill>
                  <a:srgbClr val="C00000"/>
                </a:solidFill>
              </a:rPr>
              <a:t>σ</a:t>
            </a:r>
            <a:r>
              <a:rPr lang="en-US" sz="3200" dirty="0">
                <a:solidFill>
                  <a:srgbClr val="0070C0"/>
                </a:solidFill>
              </a:rPr>
              <a:t>  </a:t>
            </a:r>
            <a:r>
              <a:rPr lang="en-US" sz="3200" dirty="0" err="1">
                <a:solidFill>
                  <a:srgbClr val="0070C0"/>
                </a:solidFill>
              </a:rPr>
              <a:t>bởi</a:t>
            </a:r>
            <a:r>
              <a:rPr lang="en-US" sz="3200" dirty="0">
                <a:solidFill>
                  <a:srgbClr val="0070C0"/>
                </a:solidFill>
              </a:rPr>
              <a:t> </a:t>
            </a:r>
            <a:r>
              <a:rPr lang="en-US" sz="3200" dirty="0">
                <a:solidFill>
                  <a:srgbClr val="C00000"/>
                </a:solidFill>
              </a:rPr>
              <a:t>s </a:t>
            </a:r>
            <a:r>
              <a:rPr lang="en-US" sz="3200" dirty="0"/>
              <a:t>(X </a:t>
            </a:r>
            <a:r>
              <a:rPr lang="en-US" sz="3200" dirty="0" err="1"/>
              <a:t>có</a:t>
            </a:r>
            <a:r>
              <a:rPr lang="en-US" sz="3200" dirty="0"/>
              <a:t> </a:t>
            </a:r>
            <a:r>
              <a:rPr lang="en-US" sz="3200" dirty="0" err="1"/>
              <a:t>phân</a:t>
            </a:r>
            <a:r>
              <a:rPr lang="en-US" sz="3200" dirty="0"/>
              <a:t> </a:t>
            </a:r>
            <a:r>
              <a:rPr lang="en-US" sz="3200" dirty="0" err="1"/>
              <a:t>phối</a:t>
            </a:r>
            <a:r>
              <a:rPr lang="en-US" sz="3200" dirty="0"/>
              <a:t> </a:t>
            </a:r>
            <a:r>
              <a:rPr lang="en-US" sz="3200" dirty="0" err="1"/>
              <a:t>bất</a:t>
            </a:r>
            <a:r>
              <a:rPr lang="en-US" sz="3200" dirty="0"/>
              <a:t> </a:t>
            </a:r>
            <a:r>
              <a:rPr lang="en-US" sz="3200" dirty="0" err="1"/>
              <a:t>kì</a:t>
            </a:r>
            <a:r>
              <a:rPr lang="en-US" sz="3200" dirty="0"/>
              <a:t>)</a:t>
            </a:r>
          </a:p>
          <a:p>
            <a:r>
              <a:rPr lang="en-US" sz="3200" dirty="0"/>
              <a:t> </a:t>
            </a:r>
            <a:endParaRPr lang="en-US" sz="3200" dirty="0">
              <a:solidFill>
                <a:srgbClr val="0070C0"/>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2566718841"/>
              </p:ext>
            </p:extLst>
          </p:nvPr>
        </p:nvGraphicFramePr>
        <p:xfrm>
          <a:off x="1447006" y="1972091"/>
          <a:ext cx="4268787" cy="1176338"/>
        </p:xfrm>
        <a:graphic>
          <a:graphicData uri="http://schemas.openxmlformats.org/presentationml/2006/ole">
            <mc:AlternateContent xmlns:mc="http://schemas.openxmlformats.org/markup-compatibility/2006">
              <mc:Choice xmlns:v="urn:schemas-microsoft-com:vml" Requires="v">
                <p:oleObj name="Equation" r:id="rId3" imgW="1612800" imgH="444240" progId="Equation.DSMT4">
                  <p:embed/>
                </p:oleObj>
              </mc:Choice>
              <mc:Fallback>
                <p:oleObj name="Equation" r:id="rId3" imgW="1612800" imgH="444240" progId="Equation.DSMT4">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006" y="1972091"/>
                        <a:ext cx="4268787" cy="1176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762000" y="2590800"/>
            <a:ext cx="8382000" cy="5016758"/>
          </a:xfrm>
          <a:prstGeom prst="rect">
            <a:avLst/>
          </a:prstGeom>
          <a:noFill/>
        </p:spPr>
        <p:txBody>
          <a:bodyPr wrap="square" rtlCol="0">
            <a:spAutoFit/>
          </a:bodyPr>
          <a:lstStyle/>
          <a:p>
            <a:endParaRPr lang="en-US" sz="3200" dirty="0"/>
          </a:p>
          <a:p>
            <a:r>
              <a:rPr lang="en-US" sz="3200" dirty="0" err="1"/>
              <a:t>Tìm</a:t>
            </a:r>
            <a:r>
              <a:rPr lang="en-US" sz="3200" dirty="0"/>
              <a:t>              (</a:t>
            </a:r>
            <a:r>
              <a:rPr lang="en-US" sz="3200" dirty="0" err="1"/>
              <a:t>tra</a:t>
            </a:r>
            <a:r>
              <a:rPr lang="en-US" sz="3200" dirty="0"/>
              <a:t> </a:t>
            </a:r>
            <a:r>
              <a:rPr lang="en-US" sz="3200" dirty="0" err="1"/>
              <a:t>bảng</a:t>
            </a:r>
            <a:r>
              <a:rPr lang="en-US" sz="3200" dirty="0"/>
              <a:t> A4) </a:t>
            </a:r>
            <a:r>
              <a:rPr lang="en-US" sz="3600" dirty="0" err="1"/>
              <a:t>thỏa</a:t>
            </a:r>
            <a:r>
              <a:rPr lang="en-US" sz="3600" dirty="0"/>
              <a:t>       </a:t>
            </a:r>
          </a:p>
          <a:p>
            <a:r>
              <a:rPr lang="en-US" sz="3600" dirty="0"/>
              <a:t>        P(</a:t>
            </a:r>
            <a:r>
              <a:rPr lang="en-US" sz="3600" dirty="0">
                <a:solidFill>
                  <a:srgbClr val="C00000"/>
                </a:solidFill>
              </a:rPr>
              <a:t>Z ≤ z</a:t>
            </a:r>
            <a:r>
              <a:rPr lang="el-GR" sz="3600" baseline="-25000" dirty="0">
                <a:solidFill>
                  <a:srgbClr val="C00000"/>
                </a:solidFill>
              </a:rPr>
              <a:t>α</a:t>
            </a:r>
            <a:r>
              <a:rPr lang="en-US" sz="3600" baseline="-25000" dirty="0">
                <a:solidFill>
                  <a:srgbClr val="C00000"/>
                </a:solidFill>
              </a:rPr>
              <a:t>/2</a:t>
            </a:r>
            <a:r>
              <a:rPr lang="en-US" sz="3600" dirty="0">
                <a:solidFill>
                  <a:srgbClr val="C00000"/>
                </a:solidFill>
              </a:rPr>
              <a:t> </a:t>
            </a:r>
            <a:r>
              <a:rPr lang="en-US" sz="3600" dirty="0"/>
              <a:t>) = 1-</a:t>
            </a:r>
            <a:r>
              <a:rPr lang="en-US" sz="3600" dirty="0">
                <a:solidFill>
                  <a:srgbClr val="FF0000"/>
                </a:solidFill>
              </a:rPr>
              <a:t> (</a:t>
            </a:r>
            <a:r>
              <a:rPr lang="el-GR" sz="3600" dirty="0">
                <a:solidFill>
                  <a:srgbClr val="FF0000"/>
                </a:solidFill>
              </a:rPr>
              <a:t>α</a:t>
            </a:r>
            <a:r>
              <a:rPr lang="en-US" sz="3600" dirty="0">
                <a:solidFill>
                  <a:srgbClr val="FF0000"/>
                </a:solidFill>
              </a:rPr>
              <a:t>/2) </a:t>
            </a:r>
            <a:endParaRPr lang="en-US" sz="3600" dirty="0"/>
          </a:p>
          <a:p>
            <a:r>
              <a:rPr lang="en-US" sz="3600" dirty="0" err="1"/>
              <a:t>Tính</a:t>
            </a:r>
            <a:r>
              <a:rPr lang="en-US" sz="3600" dirty="0"/>
              <a:t> </a:t>
            </a:r>
            <a:r>
              <a:rPr lang="en-US" sz="3600" dirty="0" err="1"/>
              <a:t>độ</a:t>
            </a:r>
            <a:r>
              <a:rPr lang="en-US" sz="3600" dirty="0"/>
              <a:t> </a:t>
            </a:r>
            <a:r>
              <a:rPr lang="en-US" sz="3600" dirty="0" err="1"/>
              <a:t>sai</a:t>
            </a:r>
            <a:r>
              <a:rPr lang="en-US" sz="3600" dirty="0"/>
              <a:t> </a:t>
            </a:r>
            <a:r>
              <a:rPr lang="en-US" sz="3600" dirty="0" err="1"/>
              <a:t>số</a:t>
            </a:r>
            <a:r>
              <a:rPr lang="en-US" sz="3600" dirty="0"/>
              <a:t> </a:t>
            </a:r>
            <a:r>
              <a:rPr lang="en-US" sz="3600" dirty="0" err="1"/>
              <a:t>của</a:t>
            </a:r>
            <a:r>
              <a:rPr lang="en-US" sz="3600" dirty="0"/>
              <a:t> </a:t>
            </a:r>
            <a:r>
              <a:rPr lang="en-US" sz="3600" dirty="0" err="1"/>
              <a:t>ước</a:t>
            </a:r>
            <a:r>
              <a:rPr lang="en-US" sz="3600" dirty="0"/>
              <a:t> </a:t>
            </a:r>
            <a:r>
              <a:rPr lang="en-US" sz="3600" dirty="0" err="1"/>
              <a:t>lượng</a:t>
            </a:r>
            <a:endParaRPr lang="en-US" sz="3600" dirty="0"/>
          </a:p>
          <a:p>
            <a:endParaRPr lang="en-US" sz="3600" dirty="0">
              <a:solidFill>
                <a:srgbClr val="FF0000"/>
              </a:solidFill>
            </a:endParaRPr>
          </a:p>
          <a:p>
            <a:r>
              <a:rPr lang="en-US" sz="3600" dirty="0" err="1">
                <a:solidFill>
                  <a:srgbClr val="0070C0"/>
                </a:solidFill>
              </a:rPr>
              <a:t>Khoảng</a:t>
            </a:r>
            <a:r>
              <a:rPr lang="en-US" sz="3600" dirty="0">
                <a:solidFill>
                  <a:srgbClr val="0070C0"/>
                </a:solidFill>
              </a:rPr>
              <a:t> tin </a:t>
            </a:r>
            <a:r>
              <a:rPr lang="en-US" sz="3600" dirty="0" err="1">
                <a:solidFill>
                  <a:srgbClr val="0070C0"/>
                </a:solidFill>
              </a:rPr>
              <a:t>cậy</a:t>
            </a:r>
            <a:r>
              <a:rPr lang="en-US" sz="3600" dirty="0"/>
              <a:t> </a:t>
            </a:r>
            <a:r>
              <a:rPr lang="en-US" sz="3600" dirty="0" err="1"/>
              <a:t>cho</a:t>
            </a:r>
            <a:r>
              <a:rPr lang="en-US" sz="3600" dirty="0"/>
              <a:t> </a:t>
            </a:r>
            <a:r>
              <a:rPr lang="el-GR" sz="3600" dirty="0">
                <a:solidFill>
                  <a:srgbClr val="0070C0"/>
                </a:solidFill>
              </a:rPr>
              <a:t>μ</a:t>
            </a:r>
            <a:r>
              <a:rPr lang="en-US" sz="3600" dirty="0"/>
              <a:t> </a:t>
            </a:r>
            <a:r>
              <a:rPr lang="en-US" sz="3600" dirty="0" err="1"/>
              <a:t>với</a:t>
            </a:r>
            <a:r>
              <a:rPr lang="en-US" sz="3600" dirty="0"/>
              <a:t> </a:t>
            </a:r>
            <a:r>
              <a:rPr lang="en-US" sz="3600" dirty="0" err="1"/>
              <a:t>độ</a:t>
            </a:r>
            <a:r>
              <a:rPr lang="en-US" sz="3600" dirty="0"/>
              <a:t> tin </a:t>
            </a:r>
            <a:r>
              <a:rPr lang="en-US" sz="3600" dirty="0" err="1"/>
              <a:t>cậy</a:t>
            </a:r>
            <a:r>
              <a:rPr lang="en-US" sz="3600" dirty="0"/>
              <a:t> </a:t>
            </a:r>
            <a:r>
              <a:rPr lang="en-US" sz="3600" dirty="0">
                <a:solidFill>
                  <a:srgbClr val="C00000"/>
                </a:solidFill>
              </a:rPr>
              <a:t>1-</a:t>
            </a:r>
            <a:r>
              <a:rPr lang="el-GR" sz="3600" dirty="0">
                <a:solidFill>
                  <a:srgbClr val="C00000"/>
                </a:solidFill>
              </a:rPr>
              <a:t>α</a:t>
            </a:r>
            <a:r>
              <a:rPr lang="en-US" sz="3600" dirty="0">
                <a:solidFill>
                  <a:srgbClr val="C00000"/>
                </a:solidFill>
              </a:rPr>
              <a:t>:</a:t>
            </a:r>
            <a:r>
              <a:rPr lang="el-GR" sz="3600" dirty="0">
                <a:solidFill>
                  <a:srgbClr val="C00000"/>
                </a:solidFill>
              </a:rPr>
              <a:t> </a:t>
            </a:r>
            <a:endParaRPr lang="en-US" sz="3600" dirty="0">
              <a:solidFill>
                <a:srgbClr val="C00000"/>
              </a:solidFill>
            </a:endParaRPr>
          </a:p>
          <a:p>
            <a:r>
              <a:rPr lang="en-US" sz="3600" dirty="0">
                <a:solidFill>
                  <a:srgbClr val="C00000"/>
                </a:solidFill>
              </a:rPr>
              <a:t>             </a:t>
            </a:r>
            <a:r>
              <a:rPr lang="en-US" sz="3600" dirty="0"/>
              <a:t>  [   - </a:t>
            </a:r>
            <a:r>
              <a:rPr lang="el-GR" sz="3600" dirty="0">
                <a:solidFill>
                  <a:srgbClr val="FF0000"/>
                </a:solidFill>
              </a:rPr>
              <a:t>ε</a:t>
            </a:r>
            <a:r>
              <a:rPr lang="en-US" sz="3600" dirty="0"/>
              <a:t>,    + </a:t>
            </a:r>
            <a:r>
              <a:rPr lang="el-GR" sz="3600" dirty="0">
                <a:solidFill>
                  <a:srgbClr val="FF0000"/>
                </a:solidFill>
              </a:rPr>
              <a:t>ε</a:t>
            </a:r>
            <a:r>
              <a:rPr lang="en-US" sz="3600" dirty="0"/>
              <a:t> ]</a:t>
            </a:r>
          </a:p>
          <a:p>
            <a:r>
              <a:rPr lang="en-US" sz="3600" dirty="0"/>
              <a:t> </a:t>
            </a:r>
          </a:p>
          <a:p>
            <a:r>
              <a:rPr lang="en-US" sz="3600" dirty="0"/>
              <a:t>        </a:t>
            </a:r>
          </a:p>
        </p:txBody>
      </p:sp>
      <p:graphicFrame>
        <p:nvGraphicFramePr>
          <p:cNvPr id="8" name="Object 7"/>
          <p:cNvGraphicFramePr>
            <a:graphicFrameLocks noChangeAspect="1"/>
          </p:cNvGraphicFramePr>
          <p:nvPr/>
        </p:nvGraphicFramePr>
        <p:xfrm>
          <a:off x="1790700" y="3048000"/>
          <a:ext cx="800100" cy="685800"/>
        </p:xfrm>
        <a:graphic>
          <a:graphicData uri="http://schemas.openxmlformats.org/presentationml/2006/ole">
            <mc:AlternateContent xmlns:mc="http://schemas.openxmlformats.org/markup-compatibility/2006">
              <mc:Choice xmlns:v="urn:schemas-microsoft-com:vml" Requires="v">
                <p:oleObj name="Equation" r:id="rId5" imgW="266400" imgH="228600" progId="Equation.DSMT4">
                  <p:embed/>
                </p:oleObj>
              </mc:Choice>
              <mc:Fallback>
                <p:oleObj name="Equation" r:id="rId5" imgW="266400" imgH="228600" progId="Equation.DSMT4">
                  <p:embed/>
                  <p:pic>
                    <p:nvPicPr>
                      <p:cNvPr id="8"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0700" y="3048000"/>
                        <a:ext cx="8001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6553200" y="4038600"/>
          <a:ext cx="2043545" cy="1143000"/>
        </p:xfrm>
        <a:graphic>
          <a:graphicData uri="http://schemas.openxmlformats.org/presentationml/2006/ole">
            <mc:AlternateContent xmlns:mc="http://schemas.openxmlformats.org/markup-compatibility/2006">
              <mc:Choice xmlns:v="urn:schemas-microsoft-com:vml" Requires="v">
                <p:oleObj name="Equation" r:id="rId7" imgW="749160" imgH="419040" progId="Equation.DSMT4">
                  <p:embed/>
                </p:oleObj>
              </mc:Choice>
              <mc:Fallback>
                <p:oleObj name="Equation" r:id="rId7" imgW="749160" imgH="419040" progId="Equation.DSMT4">
                  <p:embed/>
                  <p:pic>
                    <p:nvPicPr>
                      <p:cNvPr id="9"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4038600"/>
                        <a:ext cx="2043545" cy="1143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2438400" y="5867400"/>
          <a:ext cx="451338" cy="533400"/>
        </p:xfrm>
        <a:graphic>
          <a:graphicData uri="http://schemas.openxmlformats.org/presentationml/2006/ole">
            <mc:AlternateContent xmlns:mc="http://schemas.openxmlformats.org/markup-compatibility/2006">
              <mc:Choice xmlns:v="urn:schemas-microsoft-com:vml" Requires="v">
                <p:oleObj name="Equation" r:id="rId9" imgW="139680" imgH="164880" progId="Equation.DSMT4">
                  <p:embed/>
                </p:oleObj>
              </mc:Choice>
              <mc:Fallback>
                <p:oleObj name="Equation" r:id="rId9" imgW="139680" imgH="164880" progId="Equation.DSMT4">
                  <p:embed/>
                  <p:pic>
                    <p:nvPicPr>
                      <p:cNvPr id="1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38400" y="5867400"/>
                        <a:ext cx="45133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8" name="Object 6"/>
          <p:cNvGraphicFramePr>
            <a:graphicFrameLocks noChangeAspect="1"/>
          </p:cNvGraphicFramePr>
          <p:nvPr/>
        </p:nvGraphicFramePr>
        <p:xfrm>
          <a:off x="3352800" y="5867400"/>
          <a:ext cx="457200" cy="541021"/>
        </p:xfrm>
        <a:graphic>
          <a:graphicData uri="http://schemas.openxmlformats.org/presentationml/2006/ole">
            <mc:AlternateContent xmlns:mc="http://schemas.openxmlformats.org/markup-compatibility/2006">
              <mc:Choice xmlns:v="urn:schemas-microsoft-com:vml" Requires="v">
                <p:oleObj name="Equation" r:id="rId11" imgW="139680" imgH="164880" progId="Equation.DSMT4">
                  <p:embed/>
                </p:oleObj>
              </mc:Choice>
              <mc:Fallback>
                <p:oleObj name="Equation" r:id="rId11" imgW="139680" imgH="164880" progId="Equation.DSMT4">
                  <p:embed/>
                  <p:pic>
                    <p:nvPicPr>
                      <p:cNvPr id="3078"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52800" y="5867400"/>
                        <a:ext cx="457200" cy="5410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32128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Ước</a:t>
            </a:r>
            <a:r>
              <a:rPr lang="en-US" dirty="0"/>
              <a:t> </a:t>
            </a:r>
            <a:r>
              <a:rPr lang="en-US" dirty="0" err="1"/>
              <a:t>lượng</a:t>
            </a:r>
            <a:r>
              <a:rPr lang="en-US" dirty="0"/>
              <a:t> </a:t>
            </a:r>
            <a:r>
              <a:rPr lang="en-US" dirty="0">
                <a:solidFill>
                  <a:srgbClr val="FF0000"/>
                </a:solidFill>
              </a:rPr>
              <a:t>μ</a:t>
            </a:r>
            <a:r>
              <a:rPr lang="en-US" dirty="0"/>
              <a:t> </a:t>
            </a:r>
            <a:r>
              <a:rPr lang="en-US" dirty="0" err="1"/>
              <a:t>với</a:t>
            </a:r>
            <a:r>
              <a:rPr lang="en-US" dirty="0"/>
              <a:t> </a:t>
            </a:r>
            <a:r>
              <a:rPr lang="en-US" dirty="0" err="1">
                <a:solidFill>
                  <a:srgbClr val="C00000"/>
                </a:solidFill>
              </a:rPr>
              <a:t>độ</a:t>
            </a:r>
            <a:r>
              <a:rPr lang="en-US" dirty="0">
                <a:solidFill>
                  <a:srgbClr val="C00000"/>
                </a:solidFill>
              </a:rPr>
              <a:t> tin </a:t>
            </a:r>
            <a:r>
              <a:rPr lang="en-US" dirty="0" err="1">
                <a:solidFill>
                  <a:srgbClr val="C00000"/>
                </a:solidFill>
              </a:rPr>
              <a:t>cậy</a:t>
            </a:r>
            <a:r>
              <a:rPr lang="en-US" dirty="0">
                <a:solidFill>
                  <a:srgbClr val="C00000"/>
                </a:solidFill>
              </a:rPr>
              <a:t> 1-</a:t>
            </a:r>
            <a:r>
              <a:rPr lang="el-GR" dirty="0">
                <a:solidFill>
                  <a:srgbClr val="C00000"/>
                </a:solidFill>
              </a:rPr>
              <a:t>α</a:t>
            </a:r>
            <a:endParaRPr lang="en-US" dirty="0">
              <a:solidFill>
                <a:srgbClr val="C00000"/>
              </a:solidFill>
            </a:endParaRPr>
          </a:p>
        </p:txBody>
      </p:sp>
      <p:sp>
        <p:nvSpPr>
          <p:cNvPr id="5" name="TextBox 4"/>
          <p:cNvSpPr txBox="1"/>
          <p:nvPr/>
        </p:nvSpPr>
        <p:spPr>
          <a:xfrm>
            <a:off x="-76200" y="762000"/>
            <a:ext cx="9296400" cy="2062103"/>
          </a:xfrm>
          <a:prstGeom prst="rect">
            <a:avLst/>
          </a:prstGeom>
          <a:noFill/>
        </p:spPr>
        <p:txBody>
          <a:bodyPr wrap="square" rtlCol="0">
            <a:spAutoFit/>
          </a:bodyPr>
          <a:lstStyle/>
          <a:p>
            <a:r>
              <a:rPr lang="en-US" sz="3200" dirty="0">
                <a:solidFill>
                  <a:srgbClr val="0070C0"/>
                </a:solidFill>
              </a:rPr>
              <a:t>2) TH: </a:t>
            </a:r>
            <a:r>
              <a:rPr lang="el-GR" sz="3200" dirty="0">
                <a:solidFill>
                  <a:srgbClr val="C00000"/>
                </a:solidFill>
              </a:rPr>
              <a:t>σ</a:t>
            </a:r>
            <a:r>
              <a:rPr lang="en-US" sz="3200" dirty="0">
                <a:solidFill>
                  <a:srgbClr val="0070C0"/>
                </a:solidFill>
              </a:rPr>
              <a:t> </a:t>
            </a:r>
            <a:r>
              <a:rPr lang="en-US" sz="3200" dirty="0" err="1">
                <a:solidFill>
                  <a:srgbClr val="FF0000"/>
                </a:solidFill>
              </a:rPr>
              <a:t>chưa</a:t>
            </a:r>
            <a:r>
              <a:rPr lang="en-US" sz="3200" dirty="0">
                <a:solidFill>
                  <a:srgbClr val="FF0000"/>
                </a:solidFill>
              </a:rPr>
              <a:t> </a:t>
            </a:r>
            <a:r>
              <a:rPr lang="en-US" sz="3200" dirty="0" err="1">
                <a:solidFill>
                  <a:srgbClr val="FF0000"/>
                </a:solidFill>
              </a:rPr>
              <a:t>biết</a:t>
            </a:r>
            <a:r>
              <a:rPr lang="en-US" sz="3200" dirty="0">
                <a:solidFill>
                  <a:srgbClr val="FF0000"/>
                </a:solidFill>
              </a:rPr>
              <a:t> </a:t>
            </a:r>
          </a:p>
          <a:p>
            <a:r>
              <a:rPr lang="en-US" sz="3200" dirty="0">
                <a:solidFill>
                  <a:srgbClr val="0070C0"/>
                </a:solidFill>
              </a:rPr>
              <a:t>    b) </a:t>
            </a:r>
            <a:r>
              <a:rPr lang="en-US" sz="3200" dirty="0">
                <a:solidFill>
                  <a:srgbClr val="C00000"/>
                </a:solidFill>
              </a:rPr>
              <a:t>n &lt; 30</a:t>
            </a:r>
            <a:r>
              <a:rPr lang="en-US" sz="3200" dirty="0">
                <a:solidFill>
                  <a:srgbClr val="0070C0"/>
                </a:solidFill>
              </a:rPr>
              <a:t>,  </a:t>
            </a:r>
            <a:r>
              <a:rPr lang="en-US" sz="3200" dirty="0">
                <a:solidFill>
                  <a:srgbClr val="C00000"/>
                </a:solidFill>
              </a:rPr>
              <a:t>X </a:t>
            </a:r>
            <a:r>
              <a:rPr lang="en-US" sz="3200" dirty="0" err="1">
                <a:solidFill>
                  <a:srgbClr val="C00000"/>
                </a:solidFill>
              </a:rPr>
              <a:t>có</a:t>
            </a:r>
            <a:r>
              <a:rPr lang="en-US" sz="3200" dirty="0">
                <a:solidFill>
                  <a:srgbClr val="C00000"/>
                </a:solidFill>
              </a:rPr>
              <a:t> </a:t>
            </a:r>
            <a:r>
              <a:rPr lang="en-US" sz="3200" dirty="0" err="1">
                <a:solidFill>
                  <a:srgbClr val="C00000"/>
                </a:solidFill>
              </a:rPr>
              <a:t>phân</a:t>
            </a:r>
            <a:r>
              <a:rPr lang="en-US" sz="3200" dirty="0">
                <a:solidFill>
                  <a:srgbClr val="C00000"/>
                </a:solidFill>
              </a:rPr>
              <a:t> </a:t>
            </a:r>
            <a:r>
              <a:rPr lang="en-US" sz="3200" dirty="0" err="1">
                <a:solidFill>
                  <a:srgbClr val="C00000"/>
                </a:solidFill>
              </a:rPr>
              <a:t>phối</a:t>
            </a:r>
            <a:r>
              <a:rPr lang="en-US" sz="3200" dirty="0">
                <a:solidFill>
                  <a:srgbClr val="C00000"/>
                </a:solidFill>
              </a:rPr>
              <a:t> </a:t>
            </a:r>
            <a:r>
              <a:rPr lang="en-US" sz="3200" dirty="0" err="1">
                <a:solidFill>
                  <a:srgbClr val="C00000"/>
                </a:solidFill>
              </a:rPr>
              <a:t>chuẩn</a:t>
            </a:r>
            <a:r>
              <a:rPr lang="en-US" sz="3200" dirty="0">
                <a:solidFill>
                  <a:srgbClr val="C00000"/>
                </a:solidFill>
              </a:rPr>
              <a:t> :</a:t>
            </a:r>
          </a:p>
          <a:p>
            <a:r>
              <a:rPr lang="en-US" sz="3200" dirty="0">
                <a:solidFill>
                  <a:srgbClr val="0070C0"/>
                </a:solidFill>
              </a:rPr>
              <a:t>        </a:t>
            </a:r>
            <a:r>
              <a:rPr lang="en-US" sz="3200" dirty="0" err="1">
                <a:solidFill>
                  <a:srgbClr val="0070C0"/>
                </a:solidFill>
              </a:rPr>
              <a:t>Thay</a:t>
            </a:r>
            <a:r>
              <a:rPr lang="en-US" sz="3200" dirty="0">
                <a:solidFill>
                  <a:srgbClr val="0070C0"/>
                </a:solidFill>
              </a:rPr>
              <a:t> </a:t>
            </a:r>
            <a:r>
              <a:rPr lang="el-GR" sz="3200" dirty="0">
                <a:solidFill>
                  <a:srgbClr val="C00000"/>
                </a:solidFill>
              </a:rPr>
              <a:t>σ</a:t>
            </a:r>
            <a:r>
              <a:rPr lang="en-US" sz="3200" dirty="0">
                <a:solidFill>
                  <a:srgbClr val="0070C0"/>
                </a:solidFill>
              </a:rPr>
              <a:t> </a:t>
            </a:r>
            <a:r>
              <a:rPr lang="en-US" sz="3200" dirty="0" err="1">
                <a:solidFill>
                  <a:srgbClr val="0070C0"/>
                </a:solidFill>
              </a:rPr>
              <a:t>bởi</a:t>
            </a:r>
            <a:r>
              <a:rPr lang="en-US" sz="3200" dirty="0">
                <a:solidFill>
                  <a:srgbClr val="0070C0"/>
                </a:solidFill>
              </a:rPr>
              <a:t> </a:t>
            </a:r>
            <a:r>
              <a:rPr lang="en-US" sz="3200" dirty="0" err="1">
                <a:solidFill>
                  <a:srgbClr val="0070C0"/>
                </a:solidFill>
              </a:rPr>
              <a:t>độ</a:t>
            </a:r>
            <a:r>
              <a:rPr lang="en-US" sz="3200" dirty="0">
                <a:solidFill>
                  <a:srgbClr val="0070C0"/>
                </a:solidFill>
              </a:rPr>
              <a:t> </a:t>
            </a:r>
            <a:r>
              <a:rPr lang="en-US" sz="3200" dirty="0" err="1">
                <a:solidFill>
                  <a:srgbClr val="0070C0"/>
                </a:solidFill>
              </a:rPr>
              <a:t>lệch</a:t>
            </a:r>
            <a:r>
              <a:rPr lang="en-US" sz="3200" dirty="0">
                <a:solidFill>
                  <a:srgbClr val="0070C0"/>
                </a:solidFill>
              </a:rPr>
              <a:t> </a:t>
            </a:r>
            <a:r>
              <a:rPr lang="en-US" sz="3200" dirty="0" err="1">
                <a:solidFill>
                  <a:srgbClr val="0070C0"/>
                </a:solidFill>
              </a:rPr>
              <a:t>chuẩn</a:t>
            </a:r>
            <a:r>
              <a:rPr lang="en-US" sz="3200" dirty="0">
                <a:solidFill>
                  <a:srgbClr val="0070C0"/>
                </a:solidFill>
              </a:rPr>
              <a:t> </a:t>
            </a:r>
            <a:r>
              <a:rPr lang="en-US" sz="3200" dirty="0" err="1">
                <a:solidFill>
                  <a:srgbClr val="0070C0"/>
                </a:solidFill>
              </a:rPr>
              <a:t>mẫu</a:t>
            </a:r>
            <a:r>
              <a:rPr lang="en-US" sz="3200" dirty="0">
                <a:solidFill>
                  <a:srgbClr val="0070C0"/>
                </a:solidFill>
              </a:rPr>
              <a:t> </a:t>
            </a:r>
            <a:r>
              <a:rPr lang="en-US" sz="3200" dirty="0" err="1">
                <a:solidFill>
                  <a:srgbClr val="0070C0"/>
                </a:solidFill>
              </a:rPr>
              <a:t>có</a:t>
            </a:r>
            <a:r>
              <a:rPr lang="en-US" sz="3200" dirty="0">
                <a:solidFill>
                  <a:srgbClr val="0070C0"/>
                </a:solidFill>
              </a:rPr>
              <a:t> </a:t>
            </a:r>
            <a:r>
              <a:rPr lang="en-US" sz="3200" dirty="0" err="1">
                <a:solidFill>
                  <a:srgbClr val="0070C0"/>
                </a:solidFill>
              </a:rPr>
              <a:t>điều</a:t>
            </a:r>
            <a:r>
              <a:rPr lang="en-US" sz="3200" dirty="0">
                <a:solidFill>
                  <a:srgbClr val="0070C0"/>
                </a:solidFill>
              </a:rPr>
              <a:t> </a:t>
            </a:r>
            <a:r>
              <a:rPr lang="en-US" sz="3200" dirty="0" err="1">
                <a:solidFill>
                  <a:srgbClr val="0070C0"/>
                </a:solidFill>
              </a:rPr>
              <a:t>chỉnh</a:t>
            </a:r>
            <a:r>
              <a:rPr lang="en-US" sz="3200" dirty="0">
                <a:solidFill>
                  <a:srgbClr val="0070C0"/>
                </a:solidFill>
              </a:rPr>
              <a:t> </a:t>
            </a:r>
            <a:r>
              <a:rPr lang="en-US" sz="3200" dirty="0">
                <a:solidFill>
                  <a:srgbClr val="C00000"/>
                </a:solidFill>
              </a:rPr>
              <a:t>s</a:t>
            </a:r>
          </a:p>
          <a:p>
            <a:r>
              <a:rPr lang="en-US" sz="3200" dirty="0"/>
              <a:t> </a:t>
            </a:r>
            <a:endParaRPr lang="en-US" sz="3200" dirty="0">
              <a:solidFill>
                <a:srgbClr val="0070C0"/>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570859367"/>
              </p:ext>
            </p:extLst>
          </p:nvPr>
        </p:nvGraphicFramePr>
        <p:xfrm>
          <a:off x="989013" y="2241778"/>
          <a:ext cx="2516187" cy="1078366"/>
        </p:xfrm>
        <a:graphic>
          <a:graphicData uri="http://schemas.openxmlformats.org/presentationml/2006/ole">
            <mc:AlternateContent xmlns:mc="http://schemas.openxmlformats.org/markup-compatibility/2006">
              <mc:Choice xmlns:v="urn:schemas-microsoft-com:vml" Requires="v">
                <p:oleObj name="Equation" r:id="rId3" imgW="1066680" imgH="457200" progId="Equation.DSMT4">
                  <p:embed/>
                </p:oleObj>
              </mc:Choice>
              <mc:Fallback>
                <p:oleObj name="Equation" r:id="rId3" imgW="1066680" imgH="457200" progId="Equation.DSMT4">
                  <p:embed/>
                  <p:pic>
                    <p:nvPicPr>
                      <p:cNvPr id="6" name="Object 5"/>
                      <p:cNvPicPr>
                        <a:picLocks noChangeAspect="1" noChangeArrowheads="1"/>
                      </p:cNvPicPr>
                      <p:nvPr/>
                    </p:nvPicPr>
                    <p:blipFill>
                      <a:blip r:embed="rId4"/>
                      <a:srcRect/>
                      <a:stretch>
                        <a:fillRect/>
                      </a:stretch>
                    </p:blipFill>
                    <p:spPr bwMode="auto">
                      <a:xfrm>
                        <a:off x="989013" y="2241778"/>
                        <a:ext cx="2516187" cy="1078366"/>
                      </a:xfrm>
                      <a:prstGeom prst="rect">
                        <a:avLst/>
                      </a:prstGeom>
                      <a:noFill/>
                    </p:spPr>
                  </p:pic>
                </p:oleObj>
              </mc:Fallback>
            </mc:AlternateContent>
          </a:graphicData>
        </a:graphic>
      </p:graphicFrame>
      <p:sp>
        <p:nvSpPr>
          <p:cNvPr id="7" name="TextBox 6"/>
          <p:cNvSpPr txBox="1"/>
          <p:nvPr/>
        </p:nvSpPr>
        <p:spPr>
          <a:xfrm>
            <a:off x="457200" y="2971800"/>
            <a:ext cx="8382000" cy="4339650"/>
          </a:xfrm>
          <a:prstGeom prst="rect">
            <a:avLst/>
          </a:prstGeom>
          <a:noFill/>
        </p:spPr>
        <p:txBody>
          <a:bodyPr wrap="square" rtlCol="0">
            <a:spAutoFit/>
          </a:bodyPr>
          <a:lstStyle/>
          <a:p>
            <a:pPr>
              <a:lnSpc>
                <a:spcPct val="150000"/>
              </a:lnSpc>
            </a:pPr>
            <a:r>
              <a:rPr lang="en-US" sz="3200" dirty="0" err="1"/>
              <a:t>Tìm</a:t>
            </a:r>
            <a:r>
              <a:rPr lang="en-US" sz="3200" dirty="0"/>
              <a:t>              (</a:t>
            </a:r>
            <a:r>
              <a:rPr lang="en-US" sz="3200" dirty="0" err="1"/>
              <a:t>tra</a:t>
            </a:r>
            <a:r>
              <a:rPr lang="en-US" sz="3200" dirty="0"/>
              <a:t> </a:t>
            </a:r>
            <a:r>
              <a:rPr lang="en-US" sz="3200" dirty="0" err="1"/>
              <a:t>bảng</a:t>
            </a:r>
            <a:r>
              <a:rPr lang="en-US" sz="3200" dirty="0"/>
              <a:t> </a:t>
            </a:r>
            <a:r>
              <a:rPr lang="en-US" sz="3200" dirty="0" err="1"/>
              <a:t>A5</a:t>
            </a:r>
            <a:r>
              <a:rPr lang="en-US" sz="3200" dirty="0"/>
              <a:t>, </a:t>
            </a:r>
            <a:r>
              <a:rPr lang="en-US" sz="3200" dirty="0" err="1">
                <a:solidFill>
                  <a:srgbClr val="C00000"/>
                </a:solidFill>
              </a:rPr>
              <a:t>dòng</a:t>
            </a:r>
            <a:r>
              <a:rPr lang="en-US" sz="3200" dirty="0">
                <a:solidFill>
                  <a:srgbClr val="C00000"/>
                </a:solidFill>
              </a:rPr>
              <a:t> n-1</a:t>
            </a:r>
            <a:r>
              <a:rPr lang="en-US" sz="3200" dirty="0"/>
              <a:t>) </a:t>
            </a:r>
            <a:r>
              <a:rPr lang="en-US" sz="3200" dirty="0" err="1"/>
              <a:t>thỏa</a:t>
            </a:r>
            <a:r>
              <a:rPr lang="en-US" sz="3200" dirty="0"/>
              <a:t>    </a:t>
            </a:r>
            <a:r>
              <a:rPr lang="en-US" sz="3600" dirty="0"/>
              <a:t>   </a:t>
            </a:r>
          </a:p>
          <a:p>
            <a:pPr>
              <a:lnSpc>
                <a:spcPct val="150000"/>
              </a:lnSpc>
            </a:pPr>
            <a:endParaRPr lang="en-US" sz="3600" dirty="0"/>
          </a:p>
          <a:p>
            <a:pPr>
              <a:lnSpc>
                <a:spcPct val="150000"/>
              </a:lnSpc>
            </a:pPr>
            <a:r>
              <a:rPr lang="en-US" sz="3200" dirty="0" err="1"/>
              <a:t>Tính</a:t>
            </a:r>
            <a:r>
              <a:rPr lang="en-US" sz="3200" dirty="0"/>
              <a:t> </a:t>
            </a:r>
            <a:r>
              <a:rPr lang="en-US" sz="3200" dirty="0" err="1"/>
              <a:t>độ</a:t>
            </a:r>
            <a:r>
              <a:rPr lang="en-US" sz="3200" dirty="0"/>
              <a:t> </a:t>
            </a:r>
            <a:r>
              <a:rPr lang="en-US" sz="3200" dirty="0" err="1"/>
              <a:t>sai</a:t>
            </a:r>
            <a:r>
              <a:rPr lang="en-US" sz="3200" dirty="0"/>
              <a:t> </a:t>
            </a:r>
            <a:r>
              <a:rPr lang="en-US" sz="3200" dirty="0" err="1"/>
              <a:t>số</a:t>
            </a:r>
            <a:r>
              <a:rPr lang="en-US" sz="3200" dirty="0"/>
              <a:t> </a:t>
            </a:r>
            <a:r>
              <a:rPr lang="en-US" sz="3200" dirty="0" err="1"/>
              <a:t>của</a:t>
            </a:r>
            <a:r>
              <a:rPr lang="en-US" sz="3200" dirty="0"/>
              <a:t> </a:t>
            </a:r>
            <a:r>
              <a:rPr lang="en-US" sz="3200" dirty="0" err="1"/>
              <a:t>ước</a:t>
            </a:r>
            <a:r>
              <a:rPr lang="en-US" sz="3200" dirty="0"/>
              <a:t> </a:t>
            </a:r>
            <a:r>
              <a:rPr lang="en-US" sz="3200" dirty="0" err="1"/>
              <a:t>lượng</a:t>
            </a:r>
            <a:endParaRPr lang="en-US" sz="3600" dirty="0">
              <a:solidFill>
                <a:srgbClr val="FF0000"/>
              </a:solidFill>
            </a:endParaRPr>
          </a:p>
          <a:p>
            <a:pPr>
              <a:lnSpc>
                <a:spcPct val="150000"/>
              </a:lnSpc>
            </a:pPr>
            <a:r>
              <a:rPr lang="en-US" sz="3200" dirty="0" err="1">
                <a:solidFill>
                  <a:srgbClr val="0070C0"/>
                </a:solidFill>
              </a:rPr>
              <a:t>Khoảng</a:t>
            </a:r>
            <a:r>
              <a:rPr lang="en-US" sz="3200" dirty="0">
                <a:solidFill>
                  <a:srgbClr val="0070C0"/>
                </a:solidFill>
              </a:rPr>
              <a:t> tin </a:t>
            </a:r>
            <a:r>
              <a:rPr lang="en-US" sz="3200" dirty="0" err="1">
                <a:solidFill>
                  <a:srgbClr val="0070C0"/>
                </a:solidFill>
              </a:rPr>
              <a:t>cậy</a:t>
            </a:r>
            <a:r>
              <a:rPr lang="en-US" sz="3200" dirty="0"/>
              <a:t> </a:t>
            </a:r>
            <a:r>
              <a:rPr lang="en-US" sz="3200" dirty="0" err="1"/>
              <a:t>cho</a:t>
            </a:r>
            <a:r>
              <a:rPr lang="en-US" sz="3200" dirty="0"/>
              <a:t> </a:t>
            </a:r>
            <a:r>
              <a:rPr lang="el-GR" sz="3200" dirty="0">
                <a:solidFill>
                  <a:srgbClr val="0070C0"/>
                </a:solidFill>
              </a:rPr>
              <a:t>μ</a:t>
            </a:r>
            <a:r>
              <a:rPr lang="en-US" sz="3200" dirty="0"/>
              <a:t> </a:t>
            </a:r>
            <a:r>
              <a:rPr lang="en-US" sz="3200" dirty="0" err="1"/>
              <a:t>với</a:t>
            </a:r>
            <a:r>
              <a:rPr lang="en-US" sz="3200" dirty="0"/>
              <a:t> </a:t>
            </a:r>
            <a:r>
              <a:rPr lang="en-US" sz="3200" dirty="0" err="1"/>
              <a:t>độ</a:t>
            </a:r>
            <a:r>
              <a:rPr lang="en-US" sz="3200" dirty="0"/>
              <a:t> tin </a:t>
            </a:r>
            <a:r>
              <a:rPr lang="en-US" sz="3200" dirty="0" err="1"/>
              <a:t>cậy</a:t>
            </a:r>
            <a:r>
              <a:rPr lang="en-US" sz="3200" dirty="0"/>
              <a:t> </a:t>
            </a:r>
            <a:r>
              <a:rPr lang="en-US" sz="3200" dirty="0">
                <a:solidFill>
                  <a:srgbClr val="C00000"/>
                </a:solidFill>
              </a:rPr>
              <a:t>1-</a:t>
            </a:r>
            <a:r>
              <a:rPr lang="el-GR" sz="3200" dirty="0">
                <a:solidFill>
                  <a:srgbClr val="C00000"/>
                </a:solidFill>
              </a:rPr>
              <a:t>α</a:t>
            </a:r>
            <a:r>
              <a:rPr lang="en-US" sz="3200" dirty="0">
                <a:solidFill>
                  <a:srgbClr val="C00000"/>
                </a:solidFill>
              </a:rPr>
              <a:t>:     </a:t>
            </a:r>
          </a:p>
          <a:p>
            <a:r>
              <a:rPr lang="en-US" sz="3600" dirty="0">
                <a:solidFill>
                  <a:srgbClr val="C00000"/>
                </a:solidFill>
              </a:rPr>
              <a:t>             </a:t>
            </a:r>
            <a:r>
              <a:rPr lang="en-US" sz="3600" dirty="0"/>
              <a:t>   </a:t>
            </a:r>
          </a:p>
          <a:p>
            <a:r>
              <a:rPr lang="en-US" sz="3600" dirty="0"/>
              <a:t>        </a:t>
            </a:r>
          </a:p>
        </p:txBody>
      </p:sp>
      <p:graphicFrame>
        <p:nvGraphicFramePr>
          <p:cNvPr id="8" name="Object 7"/>
          <p:cNvGraphicFramePr>
            <a:graphicFrameLocks noChangeAspect="1"/>
          </p:cNvGraphicFramePr>
          <p:nvPr>
            <p:extLst>
              <p:ext uri="{D42A27DB-BD31-4B8C-83A1-F6EECF244321}">
                <p14:modId xmlns:p14="http://schemas.microsoft.com/office/powerpoint/2010/main" val="824360183"/>
              </p:ext>
            </p:extLst>
          </p:nvPr>
        </p:nvGraphicFramePr>
        <p:xfrm>
          <a:off x="1524000" y="3200400"/>
          <a:ext cx="685800" cy="685800"/>
        </p:xfrm>
        <a:graphic>
          <a:graphicData uri="http://schemas.openxmlformats.org/presentationml/2006/ole">
            <mc:AlternateContent xmlns:mc="http://schemas.openxmlformats.org/markup-compatibility/2006">
              <mc:Choice xmlns:v="urn:schemas-microsoft-com:vml" Requires="v">
                <p:oleObj name="Equation" r:id="rId5" imgW="228600" imgH="228600" progId="Equation.DSMT4">
                  <p:embed/>
                </p:oleObj>
              </mc:Choice>
              <mc:Fallback>
                <p:oleObj name="Equation" r:id="rId5" imgW="228600" imgH="228600" progId="Equation.DSMT4">
                  <p:embed/>
                  <p:pic>
                    <p:nvPicPr>
                      <p:cNvPr id="8"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3200400"/>
                        <a:ext cx="6858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76827230"/>
              </p:ext>
            </p:extLst>
          </p:nvPr>
        </p:nvGraphicFramePr>
        <p:xfrm>
          <a:off x="5715000" y="4572000"/>
          <a:ext cx="1754457" cy="1016258"/>
        </p:xfrm>
        <a:graphic>
          <a:graphicData uri="http://schemas.openxmlformats.org/presentationml/2006/ole">
            <mc:AlternateContent xmlns:mc="http://schemas.openxmlformats.org/markup-compatibility/2006">
              <mc:Choice xmlns:v="urn:schemas-microsoft-com:vml" Requires="v">
                <p:oleObj name="Equation" r:id="rId7" imgW="723600" imgH="419040" progId="Equation.DSMT4">
                  <p:embed/>
                </p:oleObj>
              </mc:Choice>
              <mc:Fallback>
                <p:oleObj name="Equation" r:id="rId7" imgW="723600" imgH="419040" progId="Equation.DSMT4">
                  <p:embed/>
                  <p:pic>
                    <p:nvPicPr>
                      <p:cNvPr id="9" name="Object 8"/>
                      <p:cNvPicPr>
                        <a:picLocks noChangeAspect="1" noChangeArrowheads="1"/>
                      </p:cNvPicPr>
                      <p:nvPr/>
                    </p:nvPicPr>
                    <p:blipFill>
                      <a:blip r:embed="rId8"/>
                      <a:srcRect/>
                      <a:stretch>
                        <a:fillRect/>
                      </a:stretch>
                    </p:blipFill>
                    <p:spPr bwMode="auto">
                      <a:xfrm>
                        <a:off x="5715000" y="4572000"/>
                        <a:ext cx="1754457" cy="1016258"/>
                      </a:xfrm>
                      <a:prstGeom prst="rect">
                        <a:avLst/>
                      </a:prstGeom>
                      <a:noFill/>
                      <a:ln w="9525">
                        <a:solidFill>
                          <a:srgbClr val="000000"/>
                        </a:solidFill>
                        <a:miter lim="800000"/>
                        <a:headEnd/>
                        <a:tailEnd/>
                      </a:ln>
                    </p:spPr>
                  </p:pic>
                </p:oleObj>
              </mc:Fallback>
            </mc:AlternateContent>
          </a:graphicData>
        </a:graphic>
      </p:graphicFrame>
      <p:sp>
        <p:nvSpPr>
          <p:cNvPr id="11" name="TextBox 10"/>
          <p:cNvSpPr txBox="1"/>
          <p:nvPr/>
        </p:nvSpPr>
        <p:spPr>
          <a:xfrm>
            <a:off x="3505200" y="2494002"/>
            <a:ext cx="5486400" cy="553998"/>
          </a:xfrm>
          <a:prstGeom prst="rect">
            <a:avLst/>
          </a:prstGeom>
          <a:noFill/>
        </p:spPr>
        <p:txBody>
          <a:bodyPr wrap="square" rtlCol="0">
            <a:spAutoFit/>
          </a:bodyPr>
          <a:lstStyle/>
          <a:p>
            <a:r>
              <a:rPr lang="en-US" sz="3000" dirty="0" err="1"/>
              <a:t>Phân</a:t>
            </a:r>
            <a:r>
              <a:rPr lang="en-US" sz="3000" dirty="0"/>
              <a:t> </a:t>
            </a:r>
            <a:r>
              <a:rPr lang="en-US" sz="3000" dirty="0" err="1"/>
              <a:t>phối</a:t>
            </a:r>
            <a:r>
              <a:rPr lang="en-US" sz="3000" dirty="0"/>
              <a:t> </a:t>
            </a:r>
            <a:r>
              <a:rPr lang="en-US" sz="3000" dirty="0">
                <a:solidFill>
                  <a:srgbClr val="FF0000"/>
                </a:solidFill>
              </a:rPr>
              <a:t>Student </a:t>
            </a:r>
            <a:r>
              <a:rPr lang="en-US" sz="3000" dirty="0"/>
              <a:t> </a:t>
            </a:r>
            <a:r>
              <a:rPr lang="en-US" sz="3000" dirty="0" err="1">
                <a:solidFill>
                  <a:srgbClr val="0070C0"/>
                </a:solidFill>
              </a:rPr>
              <a:t>bậc</a:t>
            </a:r>
            <a:r>
              <a:rPr lang="en-US" sz="3000" dirty="0">
                <a:solidFill>
                  <a:srgbClr val="0070C0"/>
                </a:solidFill>
              </a:rPr>
              <a:t> </a:t>
            </a:r>
            <a:r>
              <a:rPr lang="en-US" sz="3000" dirty="0" err="1">
                <a:solidFill>
                  <a:srgbClr val="0070C0"/>
                </a:solidFill>
              </a:rPr>
              <a:t>tự</a:t>
            </a:r>
            <a:r>
              <a:rPr lang="en-US" sz="3000" dirty="0">
                <a:solidFill>
                  <a:srgbClr val="0070C0"/>
                </a:solidFill>
              </a:rPr>
              <a:t> do  </a:t>
            </a:r>
            <a:r>
              <a:rPr lang="en-US" sz="3000" dirty="0">
                <a:solidFill>
                  <a:srgbClr val="FF0000"/>
                </a:solidFill>
              </a:rPr>
              <a:t>n-1</a:t>
            </a:r>
          </a:p>
        </p:txBody>
      </p:sp>
      <p:graphicFrame>
        <p:nvGraphicFramePr>
          <p:cNvPr id="3" name="Object 2">
            <a:extLst>
              <a:ext uri="{FF2B5EF4-FFF2-40B4-BE49-F238E27FC236}">
                <a16:creationId xmlns:a16="http://schemas.microsoft.com/office/drawing/2014/main" id="{90E63500-3E6C-4526-B793-0C9A41FF4DE8}"/>
              </a:ext>
            </a:extLst>
          </p:cNvPr>
          <p:cNvGraphicFramePr>
            <a:graphicFrameLocks noChangeAspect="1"/>
          </p:cNvGraphicFramePr>
          <p:nvPr>
            <p:extLst>
              <p:ext uri="{D42A27DB-BD31-4B8C-83A1-F6EECF244321}">
                <p14:modId xmlns:p14="http://schemas.microsoft.com/office/powerpoint/2010/main" val="1518400516"/>
              </p:ext>
            </p:extLst>
          </p:nvPr>
        </p:nvGraphicFramePr>
        <p:xfrm>
          <a:off x="1847850" y="3886200"/>
          <a:ext cx="2359025" cy="936625"/>
        </p:xfrm>
        <a:graphic>
          <a:graphicData uri="http://schemas.openxmlformats.org/presentationml/2006/ole">
            <mc:AlternateContent xmlns:mc="http://schemas.openxmlformats.org/markup-compatibility/2006">
              <mc:Choice xmlns:v="urn:schemas-microsoft-com:vml" Requires="v">
                <p:oleObj name="Equation" r:id="rId9" imgW="990360" imgH="393480" progId="Equation.DSMT4">
                  <p:embed/>
                </p:oleObj>
              </mc:Choice>
              <mc:Fallback>
                <p:oleObj name="Equation" r:id="rId9" imgW="990360" imgH="393480" progId="Equation.DSMT4">
                  <p:embed/>
                  <p:pic>
                    <p:nvPicPr>
                      <p:cNvPr id="3" name="Object 2">
                        <a:extLst>
                          <a:ext uri="{FF2B5EF4-FFF2-40B4-BE49-F238E27FC236}">
                            <a16:creationId xmlns:a16="http://schemas.microsoft.com/office/drawing/2014/main" id="{90E63500-3E6C-4526-B793-0C9A41FF4DE8}"/>
                          </a:ext>
                        </a:extLst>
                      </p:cNvPr>
                      <p:cNvPicPr/>
                      <p:nvPr/>
                    </p:nvPicPr>
                    <p:blipFill>
                      <a:blip r:embed="rId10"/>
                      <a:stretch>
                        <a:fillRect/>
                      </a:stretch>
                    </p:blipFill>
                    <p:spPr>
                      <a:xfrm>
                        <a:off x="1847850" y="3886200"/>
                        <a:ext cx="2359025" cy="936625"/>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747005E5-8BCA-4DD2-B16A-8D62ED30A8D2}"/>
              </a:ext>
            </a:extLst>
          </p:cNvPr>
          <p:cNvGraphicFramePr>
            <a:graphicFrameLocks noChangeAspect="1"/>
          </p:cNvGraphicFramePr>
          <p:nvPr>
            <p:extLst>
              <p:ext uri="{D42A27DB-BD31-4B8C-83A1-F6EECF244321}">
                <p14:modId xmlns:p14="http://schemas.microsoft.com/office/powerpoint/2010/main" val="3891093516"/>
              </p:ext>
            </p:extLst>
          </p:nvPr>
        </p:nvGraphicFramePr>
        <p:xfrm>
          <a:off x="1981200" y="6019800"/>
          <a:ext cx="2146030" cy="545024"/>
        </p:xfrm>
        <a:graphic>
          <a:graphicData uri="http://schemas.openxmlformats.org/presentationml/2006/ole">
            <mc:AlternateContent xmlns:mc="http://schemas.openxmlformats.org/markup-compatibility/2006">
              <mc:Choice xmlns:v="urn:schemas-microsoft-com:vml" Requires="v">
                <p:oleObj name="Equation" r:id="rId11" imgW="799920" imgH="203040" progId="Equation.DSMT4">
                  <p:embed/>
                </p:oleObj>
              </mc:Choice>
              <mc:Fallback>
                <p:oleObj name="Equation" r:id="rId11" imgW="799920" imgH="203040" progId="Equation.DSMT4">
                  <p:embed/>
                  <p:pic>
                    <p:nvPicPr>
                      <p:cNvPr id="4" name="Object 3">
                        <a:extLst>
                          <a:ext uri="{FF2B5EF4-FFF2-40B4-BE49-F238E27FC236}">
                            <a16:creationId xmlns:a16="http://schemas.microsoft.com/office/drawing/2014/main" id="{747005E5-8BCA-4DD2-B16A-8D62ED30A8D2}"/>
                          </a:ext>
                        </a:extLst>
                      </p:cNvPr>
                      <p:cNvPicPr/>
                      <p:nvPr/>
                    </p:nvPicPr>
                    <p:blipFill>
                      <a:blip r:embed="rId12"/>
                      <a:stretch>
                        <a:fillRect/>
                      </a:stretch>
                    </p:blipFill>
                    <p:spPr>
                      <a:xfrm>
                        <a:off x="1981200" y="6019800"/>
                        <a:ext cx="2146030" cy="545024"/>
                      </a:xfrm>
                      <a:prstGeom prst="rect">
                        <a:avLst/>
                      </a:prstGeom>
                    </p:spPr>
                  </p:pic>
                </p:oleObj>
              </mc:Fallback>
            </mc:AlternateContent>
          </a:graphicData>
        </a:graphic>
      </p:graphicFrame>
    </p:spTree>
    <p:extLst>
      <p:ext uri="{BB962C8B-B14F-4D97-AF65-F5344CB8AC3E}">
        <p14:creationId xmlns:p14="http://schemas.microsoft.com/office/powerpoint/2010/main" val="632128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97871F-E72B-4D47-A4D8-E349147B9B1C}"/>
              </a:ext>
            </a:extLst>
          </p:cNvPr>
          <p:cNvSpPr txBox="1"/>
          <p:nvPr/>
        </p:nvSpPr>
        <p:spPr>
          <a:xfrm>
            <a:off x="533400" y="1295400"/>
            <a:ext cx="9144000" cy="3354765"/>
          </a:xfrm>
          <a:prstGeom prst="rect">
            <a:avLst/>
          </a:prstGeom>
          <a:noFill/>
        </p:spPr>
        <p:txBody>
          <a:bodyPr wrap="square" rtlCol="0">
            <a:spAutoFit/>
          </a:bodyPr>
          <a:lstStyle/>
          <a:p>
            <a:r>
              <a:rPr lang="en-US" sz="3200" dirty="0">
                <a:solidFill>
                  <a:srgbClr val="C00000"/>
                </a:solidFill>
                <a:latin typeface="Times New Roman" panose="02020603050405020304" pitchFamily="18" charset="0"/>
                <a:cs typeface="Times New Roman" panose="02020603050405020304" pitchFamily="18" charset="0"/>
              </a:rPr>
              <a:t>TH:  n &lt; 30 </a:t>
            </a:r>
            <a:r>
              <a:rPr lang="en-US" sz="3200" dirty="0" err="1">
                <a:solidFill>
                  <a:srgbClr val="C00000"/>
                </a:solidFill>
                <a:latin typeface="Times New Roman" panose="02020603050405020304" pitchFamily="18" charset="0"/>
                <a:cs typeface="Times New Roman" panose="02020603050405020304" pitchFamily="18" charset="0"/>
              </a:rPr>
              <a:t>và</a:t>
            </a:r>
            <a:r>
              <a:rPr lang="en-US" sz="3200" dirty="0">
                <a:solidFill>
                  <a:srgbClr val="C00000"/>
                </a:solidFill>
                <a:latin typeface="Times New Roman" panose="02020603050405020304" pitchFamily="18" charset="0"/>
                <a:cs typeface="Times New Roman" panose="02020603050405020304" pitchFamily="18" charset="0"/>
              </a:rPr>
              <a:t> X </a:t>
            </a:r>
            <a:r>
              <a:rPr lang="en-US" sz="3200" dirty="0" err="1">
                <a:solidFill>
                  <a:srgbClr val="C00000"/>
                </a:solidFill>
                <a:latin typeface="Times New Roman" panose="02020603050405020304" pitchFamily="18" charset="0"/>
                <a:cs typeface="Times New Roman" panose="02020603050405020304" pitchFamily="18" charset="0"/>
              </a:rPr>
              <a:t>không</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có</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phân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phối</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chuẩn</a:t>
            </a:r>
            <a:r>
              <a:rPr lang="en-US" sz="3200" dirty="0">
                <a:solidFill>
                  <a:srgbClr val="C00000"/>
                </a:solidFill>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r>
              <a:rPr lang="en-US" sz="2800" dirty="0" err="1">
                <a:latin typeface="Times New Roman" panose="02020603050405020304" pitchFamily="18" charset="0"/>
                <a:cs typeface="Times New Roman" panose="02020603050405020304" pitchFamily="18" charset="0"/>
              </a:rPr>
              <a:t>Tham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khảo</a:t>
            </a:r>
            <a:r>
              <a:rPr lang="en-US" sz="2800"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Section 10.3.3 </a:t>
            </a:r>
            <a:r>
              <a:rPr lang="en-US" sz="3200" dirty="0">
                <a:latin typeface="Times New Roman" panose="02020603050405020304" pitchFamily="18" charset="0"/>
                <a:cs typeface="Times New Roman" panose="02020603050405020304" pitchFamily="18" charset="0"/>
              </a:rPr>
              <a:t>Bootstrap confidence intervals,</a:t>
            </a:r>
          </a:p>
          <a:p>
            <a:r>
              <a:rPr lang="en-US" sz="3200" dirty="0">
                <a:latin typeface="Times New Roman" panose="02020603050405020304" pitchFamily="18" charset="0"/>
                <a:cs typeface="Times New Roman" panose="02020603050405020304" pitchFamily="18" charset="0"/>
              </a:rPr>
              <a:t> Probability and Statistics for Computer Scientists,</a:t>
            </a:r>
          </a:p>
          <a:p>
            <a:r>
              <a:rPr lang="en-US" sz="3200" dirty="0">
                <a:latin typeface="Times New Roman" panose="02020603050405020304" pitchFamily="18" charset="0"/>
                <a:cs typeface="Times New Roman" panose="02020603050405020304" pitchFamily="18" charset="0"/>
              </a:rPr>
              <a:t> Michael Baron, second edition. </a:t>
            </a:r>
          </a:p>
        </p:txBody>
      </p:sp>
      <p:sp>
        <p:nvSpPr>
          <p:cNvPr id="5" name="Title 1">
            <a:extLst>
              <a:ext uri="{FF2B5EF4-FFF2-40B4-BE49-F238E27FC236}">
                <a16:creationId xmlns:a16="http://schemas.microsoft.com/office/drawing/2014/main" id="{56770F9D-A904-43FD-B5F7-0FF28540ADE3}"/>
              </a:ext>
            </a:extLst>
          </p:cNvPr>
          <p:cNvSpPr>
            <a:spLocks noGrp="1"/>
          </p:cNvSpPr>
          <p:nvPr>
            <p:ph type="title"/>
          </p:nvPr>
        </p:nvSpPr>
        <p:spPr>
          <a:xfrm>
            <a:off x="436563" y="76200"/>
            <a:ext cx="8402637" cy="685800"/>
          </a:xfrm>
        </p:spPr>
        <p:txBody>
          <a:bodyPr>
            <a:normAutofit/>
          </a:bodyPr>
          <a:lstStyle/>
          <a:p>
            <a:r>
              <a:rPr lang="en-US"/>
              <a:t>Ước lượng </a:t>
            </a:r>
            <a:r>
              <a:rPr lang="en-US">
                <a:solidFill>
                  <a:srgbClr val="FF0000"/>
                </a:solidFill>
              </a:rPr>
              <a:t>μ</a:t>
            </a:r>
            <a:r>
              <a:rPr lang="en-US"/>
              <a:t> với </a:t>
            </a:r>
            <a:r>
              <a:rPr lang="en-US">
                <a:solidFill>
                  <a:srgbClr val="C00000"/>
                </a:solidFill>
              </a:rPr>
              <a:t>độ tin cậy 1-</a:t>
            </a:r>
            <a:r>
              <a:rPr lang="el-GR">
                <a:solidFill>
                  <a:srgbClr val="C00000"/>
                </a:solidFill>
              </a:rPr>
              <a:t>α</a:t>
            </a:r>
            <a:endParaRPr lang="en-US" dirty="0">
              <a:solidFill>
                <a:srgbClr val="C00000"/>
              </a:solidFill>
            </a:endParaRPr>
          </a:p>
        </p:txBody>
      </p:sp>
    </p:spTree>
    <p:extLst>
      <p:ext uri="{BB962C8B-B14F-4D97-AF65-F5344CB8AC3E}">
        <p14:creationId xmlns:p14="http://schemas.microsoft.com/office/powerpoint/2010/main" val="1070633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mẫu lớn</a:t>
            </a:r>
          </a:p>
        </p:txBody>
      </p:sp>
      <p:sp>
        <p:nvSpPr>
          <p:cNvPr id="3" name="Content Placeholder 2"/>
          <p:cNvSpPr>
            <a:spLocks noGrp="1"/>
          </p:cNvSpPr>
          <p:nvPr>
            <p:ph idx="1"/>
          </p:nvPr>
        </p:nvSpPr>
        <p:spPr>
          <a:xfrm>
            <a:off x="457200" y="1143000"/>
            <a:ext cx="8229600" cy="3352800"/>
          </a:xfrm>
        </p:spPr>
        <p:txBody>
          <a:bodyPr/>
          <a:lstStyle/>
          <a:p>
            <a:pPr marL="0" indent="0">
              <a:buNone/>
            </a:pPr>
            <a:r>
              <a:rPr lang="vi-VN">
                <a:solidFill>
                  <a:schemeClr val="tx1"/>
                </a:solidFill>
                <a:latin typeface="Calibri" pitchFamily="34" charset="0"/>
                <a:cs typeface="Calibri" pitchFamily="34" charset="0"/>
              </a:rPr>
              <a:t>Độ đo các đường kính của một mẫu ngẫu nhiên gồm </a:t>
            </a:r>
            <a:r>
              <a:rPr lang="en-US">
                <a:solidFill>
                  <a:srgbClr val="FF0000"/>
                </a:solidFill>
                <a:latin typeface="Calibri" pitchFamily="34" charset="0"/>
                <a:cs typeface="Calibri" pitchFamily="34" charset="0"/>
              </a:rPr>
              <a:t>1</a:t>
            </a:r>
            <a:r>
              <a:rPr lang="vi-VN">
                <a:solidFill>
                  <a:srgbClr val="FF0000"/>
                </a:solidFill>
                <a:latin typeface="Calibri" pitchFamily="34" charset="0"/>
                <a:cs typeface="Calibri" pitchFamily="34" charset="0"/>
              </a:rPr>
              <a:t>00 vòng bi </a:t>
            </a:r>
            <a:r>
              <a:rPr lang="vi-VN">
                <a:solidFill>
                  <a:schemeClr val="tx1"/>
                </a:solidFill>
                <a:latin typeface="Calibri" pitchFamily="34" charset="0"/>
                <a:cs typeface="Calibri" pitchFamily="34" charset="0"/>
              </a:rPr>
              <a:t>do một máy sản xuất trong một tuần có </a:t>
            </a:r>
            <a:r>
              <a:rPr lang="vi-VN">
                <a:solidFill>
                  <a:schemeClr val="accent6">
                    <a:lumMod val="75000"/>
                  </a:schemeClr>
                </a:solidFill>
                <a:latin typeface="Calibri" pitchFamily="34" charset="0"/>
                <a:cs typeface="Calibri" pitchFamily="34" charset="0"/>
              </a:rPr>
              <a:t>đường kính trung bình là 0,824 cm</a:t>
            </a:r>
            <a:r>
              <a:rPr lang="vi-VN">
                <a:solidFill>
                  <a:schemeClr val="tx1"/>
                </a:solidFill>
                <a:latin typeface="Calibri" pitchFamily="34" charset="0"/>
                <a:cs typeface="Calibri" pitchFamily="34" charset="0"/>
              </a:rPr>
              <a:t> và </a:t>
            </a:r>
            <a:r>
              <a:rPr lang="vi-VN">
                <a:solidFill>
                  <a:srgbClr val="7030A0"/>
                </a:solidFill>
                <a:latin typeface="Calibri" pitchFamily="34" charset="0"/>
                <a:cs typeface="Calibri" pitchFamily="34" charset="0"/>
              </a:rPr>
              <a:t>độ lệch chuẩ</a:t>
            </a:r>
            <a:r>
              <a:rPr lang="en-US">
                <a:solidFill>
                  <a:srgbClr val="7030A0"/>
                </a:solidFill>
                <a:latin typeface="Calibri" pitchFamily="34" charset="0"/>
                <a:cs typeface="Calibri" pitchFamily="34" charset="0"/>
              </a:rPr>
              <a:t>n mẫu có điều chỉnh </a:t>
            </a:r>
            <a:r>
              <a:rPr lang="vi-VN">
                <a:solidFill>
                  <a:srgbClr val="7030A0"/>
                </a:solidFill>
                <a:latin typeface="Calibri" pitchFamily="34" charset="0"/>
                <a:cs typeface="Calibri" pitchFamily="34" charset="0"/>
              </a:rPr>
              <a:t>là 0,042 cm</a:t>
            </a:r>
            <a:r>
              <a:rPr lang="vi-VN">
                <a:solidFill>
                  <a:schemeClr val="tx1"/>
                </a:solidFill>
                <a:latin typeface="Calibri" pitchFamily="34" charset="0"/>
                <a:cs typeface="Calibri" pitchFamily="34" charset="0"/>
              </a:rPr>
              <a:t>. </a:t>
            </a:r>
            <a:br>
              <a:rPr lang="en-US">
                <a:solidFill>
                  <a:schemeClr val="tx1"/>
                </a:solidFill>
                <a:latin typeface="Calibri" pitchFamily="34" charset="0"/>
                <a:cs typeface="Calibri" pitchFamily="34" charset="0"/>
              </a:rPr>
            </a:br>
            <a:r>
              <a:rPr lang="vi-VN">
                <a:solidFill>
                  <a:schemeClr val="tx1"/>
                </a:solidFill>
                <a:latin typeface="Calibri" pitchFamily="34" charset="0"/>
                <a:cs typeface="Calibri" pitchFamily="34" charset="0"/>
              </a:rPr>
              <a:t>Hãy tìm khoảng tin cậy đường kính trung bình của tất cả các vòng bi với </a:t>
            </a:r>
            <a:r>
              <a:rPr lang="vi-VN">
                <a:solidFill>
                  <a:srgbClr val="00B0F0"/>
                </a:solidFill>
                <a:latin typeface="Calibri" pitchFamily="34" charset="0"/>
                <a:cs typeface="Calibri" pitchFamily="34" charset="0"/>
              </a:rPr>
              <a:t>độ tin cậy</a:t>
            </a:r>
            <a:r>
              <a:rPr lang="en-US">
                <a:solidFill>
                  <a:srgbClr val="00B0F0"/>
                </a:solidFill>
                <a:latin typeface="Calibri" pitchFamily="34" charset="0"/>
                <a:cs typeface="Calibri" pitchFamily="34" charset="0"/>
              </a:rPr>
              <a:t> 96%.</a:t>
            </a:r>
          </a:p>
        </p:txBody>
      </p:sp>
    </p:spTree>
    <p:extLst>
      <p:ext uri="{BB962C8B-B14F-4D97-AF65-F5344CB8AC3E}">
        <p14:creationId xmlns:p14="http://schemas.microsoft.com/office/powerpoint/2010/main" val="1967590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Ví dụ: mẫu bé, biết </a:t>
                </a:r>
                <a14:m>
                  <m:oMath xmlns:m="http://schemas.openxmlformats.org/officeDocument/2006/math">
                    <m:r>
                      <a:rPr lang="en-US" b="0" i="1" smtClean="0">
                        <a:latin typeface="Cambria Math" panose="02040503050406030204" pitchFamily="18" charset="0"/>
                      </a:rPr>
                      <m:t>𝜎</m:t>
                    </m:r>
                  </m:oMath>
                </a14:m>
                <a:endParaRPr lang="en-US"/>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3"/>
                <a:stretch>
                  <a:fillRect l="-2250" t="-10714" b="-30357"/>
                </a:stretch>
              </a:blipFill>
            </p:spPr>
            <p:txBody>
              <a:bodyPr/>
              <a:lstStyle/>
              <a:p>
                <a:r>
                  <a:rPr lang="en-US">
                    <a:noFill/>
                  </a:rPr>
                  <a:t> </a:t>
                </a:r>
              </a:p>
            </p:txBody>
          </p:sp>
        </mc:Fallback>
      </mc:AlternateContent>
      <p:sp>
        <p:nvSpPr>
          <p:cNvPr id="4" name="Content Placeholder 3"/>
          <p:cNvSpPr>
            <a:spLocks noGrp="1"/>
          </p:cNvSpPr>
          <p:nvPr>
            <p:ph idx="1"/>
          </p:nvPr>
        </p:nvSpPr>
        <p:spPr/>
        <p:txBody>
          <a:bodyPr/>
          <a:lstStyle/>
          <a:p>
            <a:r>
              <a:rPr lang="en-US" dirty="0" err="1"/>
              <a:t>Trọng</a:t>
            </a:r>
            <a:r>
              <a:rPr lang="en-US" dirty="0"/>
              <a:t> </a:t>
            </a:r>
            <a:r>
              <a:rPr lang="en-US" dirty="0" err="1"/>
              <a:t>lượng</a:t>
            </a:r>
            <a:r>
              <a:rPr lang="en-US" dirty="0"/>
              <a:t> </a:t>
            </a:r>
            <a:r>
              <a:rPr lang="en-US" dirty="0" err="1"/>
              <a:t>của</a:t>
            </a:r>
            <a:r>
              <a:rPr lang="en-US" dirty="0"/>
              <a:t> </a:t>
            </a:r>
            <a:r>
              <a:rPr lang="en-US" dirty="0" err="1"/>
              <a:t>những</a:t>
            </a:r>
            <a:r>
              <a:rPr lang="en-US" dirty="0"/>
              <a:t> </a:t>
            </a:r>
            <a:r>
              <a:rPr lang="en-US" dirty="0" err="1"/>
              <a:t>vỉ</a:t>
            </a:r>
            <a:r>
              <a:rPr lang="en-US" dirty="0"/>
              <a:t> </a:t>
            </a:r>
            <a:r>
              <a:rPr lang="en-US" dirty="0" err="1"/>
              <a:t>thuốc</a:t>
            </a:r>
            <a:r>
              <a:rPr lang="en-US" dirty="0"/>
              <a:t> do </a:t>
            </a:r>
            <a:r>
              <a:rPr lang="en-US" dirty="0" err="1"/>
              <a:t>một</a:t>
            </a:r>
            <a:r>
              <a:rPr lang="en-US" dirty="0"/>
              <a:t> </a:t>
            </a:r>
            <a:r>
              <a:rPr lang="en-US" dirty="0" err="1"/>
              <a:t>công</a:t>
            </a:r>
            <a:r>
              <a:rPr lang="en-US" dirty="0"/>
              <a:t> ty </a:t>
            </a:r>
            <a:r>
              <a:rPr lang="en-US" dirty="0" err="1"/>
              <a:t>dược</a:t>
            </a:r>
            <a:r>
              <a:rPr lang="en-US" dirty="0"/>
              <a:t> </a:t>
            </a:r>
            <a:r>
              <a:rPr lang="en-US" dirty="0" err="1"/>
              <a:t>sản</a:t>
            </a:r>
            <a:r>
              <a:rPr lang="en-US" dirty="0"/>
              <a:t> </a:t>
            </a:r>
            <a:r>
              <a:rPr lang="en-US" dirty="0" err="1"/>
              <a:t>xuất</a:t>
            </a:r>
            <a:r>
              <a:rPr lang="en-US" dirty="0"/>
              <a:t> </a:t>
            </a:r>
            <a:r>
              <a:rPr lang="en-US" b="1" i="1" dirty="0" err="1"/>
              <a:t>có</a:t>
            </a:r>
            <a:r>
              <a:rPr lang="en-US" b="1" i="1" dirty="0"/>
              <a:t> </a:t>
            </a:r>
            <a:r>
              <a:rPr lang="en-US" b="1" i="1" dirty="0" err="1"/>
              <a:t>phân</a:t>
            </a:r>
            <a:r>
              <a:rPr lang="en-US" b="1" i="1" dirty="0"/>
              <a:t> </a:t>
            </a:r>
            <a:r>
              <a:rPr lang="en-US" b="1" i="1" dirty="0" err="1"/>
              <a:t>phối</a:t>
            </a:r>
            <a:r>
              <a:rPr lang="en-US" b="1" i="1" dirty="0"/>
              <a:t> </a:t>
            </a:r>
            <a:r>
              <a:rPr lang="en-US" b="1" i="1" dirty="0" err="1"/>
              <a:t>chuẩn</a:t>
            </a:r>
            <a:r>
              <a:rPr lang="en-US" dirty="0"/>
              <a:t> </a:t>
            </a:r>
            <a:r>
              <a:rPr lang="en-US" dirty="0" err="1"/>
              <a:t>với</a:t>
            </a:r>
            <a:r>
              <a:rPr lang="en-US" dirty="0"/>
              <a:t> </a:t>
            </a:r>
            <a:r>
              <a:rPr lang="en-US" b="1" i="1" dirty="0" err="1"/>
              <a:t>độ</a:t>
            </a:r>
            <a:r>
              <a:rPr lang="en-US" b="1" i="1" dirty="0"/>
              <a:t> </a:t>
            </a:r>
            <a:r>
              <a:rPr lang="en-US" b="1" i="1" dirty="0" err="1"/>
              <a:t>lệch</a:t>
            </a:r>
            <a:r>
              <a:rPr lang="en-US" b="1" i="1" dirty="0"/>
              <a:t> </a:t>
            </a:r>
            <a:r>
              <a:rPr lang="en-US" b="1" i="1" dirty="0" err="1"/>
              <a:t>chuẩn</a:t>
            </a:r>
            <a:r>
              <a:rPr lang="en-US" b="1" i="1" dirty="0"/>
              <a:t> </a:t>
            </a:r>
            <a:r>
              <a:rPr lang="en-US" b="1" i="1" dirty="0" err="1"/>
              <a:t>0.038mg</a:t>
            </a:r>
            <a:r>
              <a:rPr lang="en-US" dirty="0"/>
              <a:t>. </a:t>
            </a:r>
            <a:r>
              <a:rPr lang="en-US" dirty="0" err="1"/>
              <a:t>Một</a:t>
            </a:r>
            <a:r>
              <a:rPr lang="en-US" dirty="0"/>
              <a:t> </a:t>
            </a:r>
            <a:r>
              <a:rPr lang="en-US" dirty="0" err="1"/>
              <a:t>mẫu</a:t>
            </a:r>
            <a:r>
              <a:rPr lang="en-US" dirty="0"/>
              <a:t> </a:t>
            </a:r>
            <a:r>
              <a:rPr lang="en-US" dirty="0" err="1"/>
              <a:t>ngẫu</a:t>
            </a:r>
            <a:r>
              <a:rPr lang="en-US" dirty="0"/>
              <a:t> </a:t>
            </a:r>
            <a:r>
              <a:rPr lang="en-US" dirty="0" err="1"/>
              <a:t>nhiên</a:t>
            </a:r>
            <a:r>
              <a:rPr lang="en-US" dirty="0"/>
              <a:t> </a:t>
            </a:r>
            <a:r>
              <a:rPr lang="en-US" dirty="0" err="1"/>
              <a:t>gồm</a:t>
            </a:r>
            <a:r>
              <a:rPr lang="en-US" dirty="0"/>
              <a:t> 10 </a:t>
            </a:r>
            <a:r>
              <a:rPr lang="en-US" dirty="0" err="1"/>
              <a:t>vỉ</a:t>
            </a:r>
            <a:r>
              <a:rPr lang="en-US" dirty="0"/>
              <a:t> </a:t>
            </a:r>
            <a:r>
              <a:rPr lang="en-US" dirty="0" err="1"/>
              <a:t>thuốc</a:t>
            </a:r>
            <a:r>
              <a:rPr lang="en-US" dirty="0"/>
              <a:t> </a:t>
            </a:r>
            <a:r>
              <a:rPr lang="en-US" dirty="0" err="1"/>
              <a:t>có</a:t>
            </a:r>
            <a:r>
              <a:rPr lang="en-US" dirty="0"/>
              <a:t> </a:t>
            </a:r>
            <a:r>
              <a:rPr lang="en-US" b="1" i="1" dirty="0" err="1"/>
              <a:t>trọng</a:t>
            </a:r>
            <a:r>
              <a:rPr lang="en-US" b="1" i="1" dirty="0"/>
              <a:t> </a:t>
            </a:r>
            <a:r>
              <a:rPr lang="en-US" b="1" i="1" dirty="0" err="1"/>
              <a:t>lượng</a:t>
            </a:r>
            <a:r>
              <a:rPr lang="en-US" b="1" i="1" dirty="0"/>
              <a:t> </a:t>
            </a:r>
            <a:r>
              <a:rPr lang="en-US" b="1" i="1" dirty="0" err="1"/>
              <a:t>trung</a:t>
            </a:r>
            <a:r>
              <a:rPr lang="en-US" b="1" i="1" dirty="0"/>
              <a:t> </a:t>
            </a:r>
            <a:r>
              <a:rPr lang="en-US" b="1" i="1" dirty="0" err="1"/>
              <a:t>bình</a:t>
            </a:r>
            <a:r>
              <a:rPr lang="en-US" b="1" i="1" dirty="0"/>
              <a:t> </a:t>
            </a:r>
            <a:r>
              <a:rPr lang="en-US" b="1" i="1" dirty="0" err="1"/>
              <a:t>là</a:t>
            </a:r>
            <a:r>
              <a:rPr lang="en-US" b="1" i="1" dirty="0"/>
              <a:t> </a:t>
            </a:r>
            <a:r>
              <a:rPr lang="en-US" b="1" i="1" dirty="0" err="1"/>
              <a:t>4.87mg</a:t>
            </a:r>
            <a:r>
              <a:rPr lang="en-US" dirty="0"/>
              <a:t>. </a:t>
            </a:r>
            <a:r>
              <a:rPr lang="en-US" dirty="0" err="1"/>
              <a:t>Với</a:t>
            </a:r>
            <a:r>
              <a:rPr lang="en-US" dirty="0"/>
              <a:t> </a:t>
            </a:r>
            <a:r>
              <a:rPr lang="en-US" b="1" i="1" dirty="0" err="1">
                <a:solidFill>
                  <a:srgbClr val="C00000"/>
                </a:solidFill>
              </a:rPr>
              <a:t>độ</a:t>
            </a:r>
            <a:r>
              <a:rPr lang="en-US" b="1" i="1" dirty="0">
                <a:solidFill>
                  <a:srgbClr val="C00000"/>
                </a:solidFill>
              </a:rPr>
              <a:t> tin </a:t>
            </a:r>
            <a:r>
              <a:rPr lang="en-US" b="1" i="1" dirty="0" err="1">
                <a:solidFill>
                  <a:srgbClr val="C00000"/>
                </a:solidFill>
              </a:rPr>
              <a:t>cậy</a:t>
            </a:r>
            <a:r>
              <a:rPr lang="en-US" b="1" i="1" dirty="0">
                <a:solidFill>
                  <a:srgbClr val="C00000"/>
                </a:solidFill>
              </a:rPr>
              <a:t> 95%, </a:t>
            </a:r>
            <a:r>
              <a:rPr lang="en-US" dirty="0" err="1"/>
              <a:t>hãy</a:t>
            </a:r>
            <a:r>
              <a:rPr lang="en-US" dirty="0"/>
              <a:t> </a:t>
            </a:r>
            <a:r>
              <a:rPr lang="en-US" dirty="0" err="1"/>
              <a:t>ước</a:t>
            </a:r>
            <a:r>
              <a:rPr lang="en-US" dirty="0"/>
              <a:t> l</a:t>
            </a:r>
            <a:r>
              <a:rPr lang="vi-VN" dirty="0"/>
              <a:t>ư</a:t>
            </a:r>
            <a:r>
              <a:rPr lang="en-US" dirty="0" err="1"/>
              <a:t>ợng</a:t>
            </a:r>
            <a:r>
              <a:rPr lang="en-US" dirty="0"/>
              <a:t>  </a:t>
            </a:r>
            <a:r>
              <a:rPr lang="en-US" dirty="0" err="1">
                <a:solidFill>
                  <a:srgbClr val="7030A0"/>
                </a:solidFill>
              </a:rPr>
              <a:t>trọng</a:t>
            </a:r>
            <a:r>
              <a:rPr lang="en-US" dirty="0">
                <a:solidFill>
                  <a:srgbClr val="7030A0"/>
                </a:solidFill>
              </a:rPr>
              <a:t> </a:t>
            </a:r>
            <a:r>
              <a:rPr lang="en-US" dirty="0" err="1">
                <a:solidFill>
                  <a:srgbClr val="7030A0"/>
                </a:solidFill>
              </a:rPr>
              <a:t>lượng</a:t>
            </a:r>
            <a:r>
              <a:rPr lang="en-US" dirty="0">
                <a:solidFill>
                  <a:srgbClr val="7030A0"/>
                </a:solidFill>
              </a:rPr>
              <a:t> </a:t>
            </a:r>
            <a:r>
              <a:rPr lang="en-US" dirty="0" err="1">
                <a:solidFill>
                  <a:srgbClr val="7030A0"/>
                </a:solidFill>
              </a:rPr>
              <a:t>trung</a:t>
            </a:r>
            <a:r>
              <a:rPr lang="en-US" dirty="0">
                <a:solidFill>
                  <a:srgbClr val="7030A0"/>
                </a:solidFill>
              </a:rPr>
              <a:t> </a:t>
            </a:r>
            <a:r>
              <a:rPr lang="en-US" dirty="0" err="1">
                <a:solidFill>
                  <a:srgbClr val="7030A0"/>
                </a:solidFill>
              </a:rPr>
              <a:t>bình</a:t>
            </a:r>
            <a:r>
              <a:rPr lang="en-US" dirty="0">
                <a:solidFill>
                  <a:srgbClr val="7030A0"/>
                </a:solidFill>
              </a:rPr>
              <a:t> </a:t>
            </a:r>
            <a:r>
              <a:rPr lang="en-US" dirty="0" err="1">
                <a:solidFill>
                  <a:srgbClr val="7030A0"/>
                </a:solidFill>
              </a:rPr>
              <a:t>các</a:t>
            </a:r>
            <a:r>
              <a:rPr lang="en-US" dirty="0">
                <a:solidFill>
                  <a:srgbClr val="7030A0"/>
                </a:solidFill>
              </a:rPr>
              <a:t> </a:t>
            </a:r>
            <a:r>
              <a:rPr lang="en-US" dirty="0" err="1">
                <a:solidFill>
                  <a:srgbClr val="7030A0"/>
                </a:solidFill>
              </a:rPr>
              <a:t>vỉ</a:t>
            </a:r>
            <a:r>
              <a:rPr lang="en-US" dirty="0">
                <a:solidFill>
                  <a:srgbClr val="7030A0"/>
                </a:solidFill>
              </a:rPr>
              <a:t> </a:t>
            </a:r>
            <a:r>
              <a:rPr lang="en-US" dirty="0" err="1">
                <a:solidFill>
                  <a:srgbClr val="7030A0"/>
                </a:solidFill>
              </a:rPr>
              <a:t>thuốc</a:t>
            </a:r>
            <a:r>
              <a:rPr lang="en-US" dirty="0">
                <a:solidFill>
                  <a:srgbClr val="7030A0"/>
                </a:solidFill>
              </a:rPr>
              <a:t> do </a:t>
            </a:r>
            <a:r>
              <a:rPr lang="en-US" dirty="0" err="1">
                <a:solidFill>
                  <a:srgbClr val="7030A0"/>
                </a:solidFill>
              </a:rPr>
              <a:t>công</a:t>
            </a:r>
            <a:r>
              <a:rPr lang="en-US" dirty="0">
                <a:solidFill>
                  <a:srgbClr val="7030A0"/>
                </a:solidFill>
              </a:rPr>
              <a:t> ty </a:t>
            </a:r>
            <a:r>
              <a:rPr lang="en-US" dirty="0" err="1">
                <a:solidFill>
                  <a:srgbClr val="7030A0"/>
                </a:solidFill>
              </a:rPr>
              <a:t>sản</a:t>
            </a:r>
            <a:r>
              <a:rPr lang="en-US" dirty="0">
                <a:solidFill>
                  <a:srgbClr val="7030A0"/>
                </a:solidFill>
              </a:rPr>
              <a:t> </a:t>
            </a:r>
            <a:r>
              <a:rPr lang="en-US" dirty="0" err="1">
                <a:solidFill>
                  <a:srgbClr val="7030A0"/>
                </a:solidFill>
              </a:rPr>
              <a:t>xuất</a:t>
            </a:r>
            <a:r>
              <a:rPr lang="en-US" dirty="0"/>
              <a:t>.</a:t>
            </a:r>
          </a:p>
        </p:txBody>
      </p:sp>
    </p:spTree>
    <p:extLst>
      <p:ext uri="{BB962C8B-B14F-4D97-AF65-F5344CB8AC3E}">
        <p14:creationId xmlns:p14="http://schemas.microsoft.com/office/powerpoint/2010/main" val="1473667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a:t>Ví dụ: mẫu bé, không biết </a:t>
                </a:r>
                <a14:m>
                  <m:oMath xmlns:m="http://schemas.openxmlformats.org/officeDocument/2006/math">
                    <m:r>
                      <a:rPr lang="en-US" b="0" i="1" smtClean="0">
                        <a:latin typeface="Cambria Math" panose="02040503050406030204" pitchFamily="18" charset="0"/>
                      </a:rPr>
                      <m:t>𝜎</m:t>
                    </m:r>
                  </m:oMath>
                </a14:m>
                <a:endParaRPr lang="en-US"/>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3"/>
                <a:stretch>
                  <a:fillRect l="-2250" t="-10714" b="-30357"/>
                </a:stretch>
              </a:blipFill>
            </p:spPr>
            <p:txBody>
              <a:bodyPr/>
              <a:lstStyle/>
              <a:p>
                <a:r>
                  <a:rPr lang="en-US">
                    <a:noFill/>
                  </a:rPr>
                  <a:t> </a:t>
                </a:r>
              </a:p>
            </p:txBody>
          </p:sp>
        </mc:Fallback>
      </mc:AlternateContent>
      <p:sp>
        <p:nvSpPr>
          <p:cNvPr id="3" name="Content Placeholder 2"/>
          <p:cNvSpPr>
            <a:spLocks noGrp="1"/>
          </p:cNvSpPr>
          <p:nvPr>
            <p:ph idx="1"/>
          </p:nvPr>
        </p:nvSpPr>
        <p:spPr/>
        <p:txBody>
          <a:bodyPr/>
          <a:lstStyle/>
          <a:p>
            <a:pPr marL="0" indent="0">
              <a:buNone/>
            </a:pPr>
            <a:r>
              <a:rPr lang="vi-VN">
                <a:solidFill>
                  <a:schemeClr val="tx1"/>
                </a:solidFill>
                <a:latin typeface="Calibri" pitchFamily="34" charset="0"/>
                <a:cs typeface="Calibri" pitchFamily="34" charset="0"/>
              </a:rPr>
              <a:t>Một mẫu gồm </a:t>
            </a:r>
            <a:r>
              <a:rPr lang="vi-VN">
                <a:solidFill>
                  <a:srgbClr val="FF0000"/>
                </a:solidFill>
                <a:latin typeface="Calibri" pitchFamily="34" charset="0"/>
                <a:cs typeface="Calibri" pitchFamily="34" charset="0"/>
              </a:rPr>
              <a:t>10 độ đo đường kính </a:t>
            </a:r>
            <a:r>
              <a:rPr lang="vi-VN">
                <a:solidFill>
                  <a:schemeClr val="tx1"/>
                </a:solidFill>
                <a:latin typeface="Calibri" pitchFamily="34" charset="0"/>
                <a:cs typeface="Calibri" pitchFamily="34" charset="0"/>
              </a:rPr>
              <a:t>của một quả cầu, có </a:t>
            </a:r>
            <a:r>
              <a:rPr lang="vi-VN">
                <a:solidFill>
                  <a:schemeClr val="accent4">
                    <a:lumMod val="75000"/>
                  </a:schemeClr>
                </a:solidFill>
                <a:latin typeface="Calibri" pitchFamily="34" charset="0"/>
                <a:cs typeface="Calibri" pitchFamily="34" charset="0"/>
              </a:rPr>
              <a:t>đường kính trung bình là </a:t>
            </a:r>
            <a:r>
              <a:rPr lang="en-US">
                <a:solidFill>
                  <a:schemeClr val="accent4">
                    <a:lumMod val="75000"/>
                  </a:schemeClr>
                </a:solidFill>
                <a:latin typeface="Calibri" pitchFamily="34" charset="0"/>
                <a:cs typeface="Calibri" pitchFamily="34" charset="0"/>
              </a:rPr>
              <a:t>4,38</a:t>
            </a:r>
            <a:r>
              <a:rPr lang="vi-VN">
                <a:solidFill>
                  <a:schemeClr val="accent4">
                    <a:lumMod val="75000"/>
                  </a:schemeClr>
                </a:solidFill>
                <a:latin typeface="Calibri" pitchFamily="34" charset="0"/>
                <a:cs typeface="Calibri" pitchFamily="34" charset="0"/>
              </a:rPr>
              <a:t> </a:t>
            </a:r>
            <a:r>
              <a:rPr lang="vi-VN">
                <a:solidFill>
                  <a:schemeClr val="tx1"/>
                </a:solidFill>
                <a:latin typeface="Calibri" pitchFamily="34" charset="0"/>
                <a:cs typeface="Calibri" pitchFamily="34" charset="0"/>
              </a:rPr>
              <a:t>cm </a:t>
            </a:r>
            <a:r>
              <a:rPr lang="vi-VN">
                <a:solidFill>
                  <a:schemeClr val="accent6">
                    <a:lumMod val="75000"/>
                  </a:schemeClr>
                </a:solidFill>
                <a:latin typeface="Calibri" pitchFamily="34" charset="0"/>
                <a:cs typeface="Calibri" pitchFamily="34" charset="0"/>
              </a:rPr>
              <a:t>và độ lệch chuẩn </a:t>
            </a:r>
            <a:r>
              <a:rPr lang="en-US">
                <a:solidFill>
                  <a:schemeClr val="accent6">
                    <a:lumMod val="75000"/>
                  </a:schemeClr>
                </a:solidFill>
                <a:latin typeface="Calibri" pitchFamily="34" charset="0"/>
                <a:cs typeface="Calibri" pitchFamily="34" charset="0"/>
              </a:rPr>
              <a:t>mẫu có điều chỉnh là </a:t>
            </a:r>
            <a:r>
              <a:rPr lang="vi-VN">
                <a:solidFill>
                  <a:schemeClr val="accent6">
                    <a:lumMod val="75000"/>
                  </a:schemeClr>
                </a:solidFill>
                <a:latin typeface="Calibri" pitchFamily="34" charset="0"/>
                <a:cs typeface="Calibri" pitchFamily="34" charset="0"/>
              </a:rPr>
              <a:t>0,06 cm</a:t>
            </a:r>
            <a:r>
              <a:rPr lang="vi-VN">
                <a:solidFill>
                  <a:schemeClr val="tx1"/>
                </a:solidFill>
                <a:latin typeface="Calibri" pitchFamily="34" charset="0"/>
                <a:cs typeface="Calibri" pitchFamily="34" charset="0"/>
              </a:rPr>
              <a:t>.</a:t>
            </a:r>
            <a:r>
              <a:rPr lang="en-US">
                <a:solidFill>
                  <a:schemeClr val="tx1"/>
                </a:solidFill>
                <a:latin typeface="Calibri" pitchFamily="34" charset="0"/>
                <a:cs typeface="Calibri" pitchFamily="34" charset="0"/>
              </a:rPr>
              <a:t> Biết rằng </a:t>
            </a:r>
            <a:r>
              <a:rPr lang="vi-VN">
                <a:solidFill>
                  <a:schemeClr val="tx1"/>
                </a:solidFill>
                <a:latin typeface="Calibri" pitchFamily="34" charset="0"/>
                <a:cs typeface="Calibri" pitchFamily="34" charset="0"/>
              </a:rPr>
              <a:t>đường kính của một quả cầu</a:t>
            </a:r>
            <a:r>
              <a:rPr lang="en-US">
                <a:solidFill>
                  <a:schemeClr val="tx1"/>
                </a:solidFill>
                <a:latin typeface="Calibri" pitchFamily="34" charset="0"/>
                <a:cs typeface="Calibri" pitchFamily="34" charset="0"/>
              </a:rPr>
              <a:t> có </a:t>
            </a:r>
            <a:r>
              <a:rPr lang="en-US" i="1">
                <a:solidFill>
                  <a:schemeClr val="tx1"/>
                </a:solidFill>
                <a:latin typeface="Calibri" pitchFamily="34" charset="0"/>
                <a:cs typeface="Calibri" pitchFamily="34" charset="0"/>
              </a:rPr>
              <a:t>phân phối chuẩn</a:t>
            </a:r>
            <a:r>
              <a:rPr lang="en-US">
                <a:solidFill>
                  <a:schemeClr val="tx1"/>
                </a:solidFill>
                <a:latin typeface="Calibri" pitchFamily="34" charset="0"/>
                <a:cs typeface="Calibri" pitchFamily="34" charset="0"/>
              </a:rPr>
              <a:t>, h</a:t>
            </a:r>
            <a:r>
              <a:rPr lang="vi-VN">
                <a:solidFill>
                  <a:schemeClr val="tx1"/>
                </a:solidFill>
                <a:latin typeface="Calibri" pitchFamily="34" charset="0"/>
                <a:cs typeface="Calibri" pitchFamily="34" charset="0"/>
              </a:rPr>
              <a:t>ãy tìm khoảng tin cậy của đường kính </a:t>
            </a:r>
            <a:r>
              <a:rPr lang="en-US">
                <a:solidFill>
                  <a:schemeClr val="tx1"/>
                </a:solidFill>
                <a:latin typeface="Calibri" pitchFamily="34" charset="0"/>
                <a:cs typeface="Calibri" pitchFamily="34" charset="0"/>
              </a:rPr>
              <a:t>tất cả các quả cầu</a:t>
            </a:r>
            <a:r>
              <a:rPr lang="vi-VN">
                <a:solidFill>
                  <a:schemeClr val="tx1"/>
                </a:solidFill>
                <a:latin typeface="Calibri" pitchFamily="34" charset="0"/>
                <a:cs typeface="Calibri" pitchFamily="34" charset="0"/>
              </a:rPr>
              <a:t> với </a:t>
            </a:r>
            <a:r>
              <a:rPr lang="vi-VN">
                <a:solidFill>
                  <a:srgbClr val="7030A0"/>
                </a:solidFill>
                <a:latin typeface="Calibri" pitchFamily="34" charset="0"/>
                <a:cs typeface="Calibri" pitchFamily="34" charset="0"/>
              </a:rPr>
              <a:t>độ tin cậy</a:t>
            </a:r>
            <a:r>
              <a:rPr lang="en-US">
                <a:solidFill>
                  <a:srgbClr val="7030A0"/>
                </a:solidFill>
                <a:latin typeface="Calibri" pitchFamily="34" charset="0"/>
                <a:cs typeface="Calibri" pitchFamily="34" charset="0"/>
              </a:rPr>
              <a:t> </a:t>
            </a:r>
            <a:r>
              <a:rPr lang="vi-VN">
                <a:solidFill>
                  <a:srgbClr val="7030A0"/>
                </a:solidFill>
                <a:latin typeface="Calibri" pitchFamily="34" charset="0"/>
                <a:cs typeface="Calibri" pitchFamily="34" charset="0"/>
              </a:rPr>
              <a:t>95%.</a:t>
            </a:r>
            <a:endParaRPr lang="en-US">
              <a:solidFill>
                <a:srgbClr val="7030A0"/>
              </a:solidFill>
              <a:latin typeface="Calibri" pitchFamily="34" charset="0"/>
              <a:cs typeface="Calibri" pitchFamily="34" charset="0"/>
            </a:endParaRPr>
          </a:p>
        </p:txBody>
      </p:sp>
    </p:spTree>
    <p:extLst>
      <p:ext uri="{BB962C8B-B14F-4D97-AF65-F5344CB8AC3E}">
        <p14:creationId xmlns:p14="http://schemas.microsoft.com/office/powerpoint/2010/main" val="274845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T1.PNG"/>
          <p:cNvPicPr>
            <a:picLocks noChangeAspect="1"/>
          </p:cNvPicPr>
          <p:nvPr/>
        </p:nvPicPr>
        <p:blipFill>
          <a:blip r:embed="rId2"/>
          <a:stretch>
            <a:fillRect/>
          </a:stretch>
        </p:blipFill>
        <p:spPr>
          <a:xfrm>
            <a:off x="-76200" y="1143000"/>
            <a:ext cx="9211235" cy="3429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T2.PNG"/>
          <p:cNvPicPr>
            <a:picLocks noChangeAspect="1"/>
          </p:cNvPicPr>
          <p:nvPr/>
        </p:nvPicPr>
        <p:blipFill>
          <a:blip r:embed="rId2"/>
          <a:stretch>
            <a:fillRect/>
          </a:stretch>
        </p:blipFill>
        <p:spPr>
          <a:xfrm>
            <a:off x="0" y="990600"/>
            <a:ext cx="9062540" cy="5715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38400" y="2077200"/>
            <a:ext cx="7010400" cy="1143000"/>
          </a:xfrm>
        </p:spPr>
        <p:txBody>
          <a:bodyPr>
            <a:noAutofit/>
          </a:bodyPr>
          <a:lstStyle/>
          <a:p>
            <a:r>
              <a:rPr lang="en-US" sz="6000" b="1" dirty="0" err="1">
                <a:solidFill>
                  <a:srgbClr val="0070C0"/>
                </a:solidFill>
              </a:rPr>
              <a:t>Ước</a:t>
            </a:r>
            <a:r>
              <a:rPr lang="en-US" sz="6000" b="1" dirty="0">
                <a:solidFill>
                  <a:srgbClr val="0070C0"/>
                </a:solidFill>
              </a:rPr>
              <a:t> </a:t>
            </a:r>
            <a:r>
              <a:rPr lang="en-US" sz="6000" b="1" dirty="0" err="1">
                <a:solidFill>
                  <a:srgbClr val="0070C0"/>
                </a:solidFill>
              </a:rPr>
              <a:t>lượng</a:t>
            </a:r>
            <a:r>
              <a:rPr lang="en-US" sz="6000" b="1" dirty="0">
                <a:solidFill>
                  <a:srgbClr val="0070C0"/>
                </a:solidFill>
              </a:rPr>
              <a:t> </a:t>
            </a:r>
            <a:r>
              <a:rPr lang="en-US" sz="6000" b="1" dirty="0" err="1">
                <a:solidFill>
                  <a:srgbClr val="0070C0"/>
                </a:solidFill>
              </a:rPr>
              <a:t>tỉ</a:t>
            </a:r>
            <a:r>
              <a:rPr lang="en-US" sz="6000" b="1" dirty="0">
                <a:solidFill>
                  <a:srgbClr val="0070C0"/>
                </a:solidFill>
              </a:rPr>
              <a:t> </a:t>
            </a:r>
            <a:r>
              <a:rPr lang="en-US" sz="6000" b="1" dirty="0" err="1">
                <a:solidFill>
                  <a:srgbClr val="0070C0"/>
                </a:solidFill>
              </a:rPr>
              <a:t>lệ</a:t>
            </a:r>
            <a:endParaRPr lang="en-US" sz="6000" b="1" dirty="0">
              <a:solidFill>
                <a:srgbClr val="0070C0"/>
              </a:solidFill>
            </a:endParaRPr>
          </a:p>
        </p:txBody>
      </p:sp>
    </p:spTree>
    <p:extLst>
      <p:ext uri="{BB962C8B-B14F-4D97-AF65-F5344CB8AC3E}">
        <p14:creationId xmlns:p14="http://schemas.microsoft.com/office/powerpoint/2010/main" val="597184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Ước</a:t>
            </a:r>
            <a:r>
              <a:rPr lang="en-US" dirty="0"/>
              <a:t> </a:t>
            </a:r>
            <a:r>
              <a:rPr lang="en-US" dirty="0" err="1"/>
              <a:t>lượng</a:t>
            </a:r>
            <a:r>
              <a:rPr lang="en-US" dirty="0"/>
              <a:t> </a:t>
            </a:r>
            <a:r>
              <a:rPr lang="en-US" dirty="0" err="1"/>
              <a:t>tỉ</a:t>
            </a:r>
            <a:r>
              <a:rPr lang="en-US" dirty="0"/>
              <a:t> </a:t>
            </a:r>
            <a:r>
              <a:rPr lang="en-US" dirty="0" err="1"/>
              <a:t>lệ</a:t>
            </a:r>
            <a:r>
              <a:rPr lang="en-US" dirty="0"/>
              <a:t> </a:t>
            </a:r>
            <a:r>
              <a:rPr lang="en-US" dirty="0" err="1"/>
              <a:t>tổng</a:t>
            </a:r>
            <a:r>
              <a:rPr lang="en-US" dirty="0"/>
              <a:t> </a:t>
            </a:r>
            <a:r>
              <a:rPr lang="en-US" dirty="0" err="1"/>
              <a:t>thể</a:t>
            </a:r>
            <a:endParaRPr lang="en-US" dirty="0"/>
          </a:p>
        </p:txBody>
      </p:sp>
      <p:sp>
        <p:nvSpPr>
          <p:cNvPr id="5" name="Rectangle 4"/>
          <p:cNvSpPr/>
          <p:nvPr/>
        </p:nvSpPr>
        <p:spPr>
          <a:xfrm>
            <a:off x="304800" y="1003042"/>
            <a:ext cx="9144000" cy="4031873"/>
          </a:xfrm>
          <a:prstGeom prst="rect">
            <a:avLst/>
          </a:prstGeom>
        </p:spPr>
        <p:txBody>
          <a:bodyPr wrap="square">
            <a:spAutoFit/>
          </a:bodyPr>
          <a:lstStyle/>
          <a:p>
            <a:r>
              <a:rPr lang="en-US" sz="3200" dirty="0" err="1"/>
              <a:t>Kí</a:t>
            </a:r>
            <a:r>
              <a:rPr lang="en-US" sz="3200" dirty="0"/>
              <a:t> </a:t>
            </a:r>
            <a:r>
              <a:rPr lang="en-US" sz="3200" dirty="0" err="1"/>
              <a:t>hiệu</a:t>
            </a:r>
            <a:r>
              <a:rPr lang="en-US" sz="3200" dirty="0"/>
              <a:t>:</a:t>
            </a:r>
          </a:p>
          <a:p>
            <a:r>
              <a:rPr lang="en-US" sz="3200" dirty="0"/>
              <a:t>  </a:t>
            </a:r>
            <a:r>
              <a:rPr lang="en-US" sz="3200" dirty="0">
                <a:solidFill>
                  <a:srgbClr val="FF0000"/>
                </a:solidFill>
              </a:rPr>
              <a:t>p:</a:t>
            </a:r>
            <a:r>
              <a:rPr lang="en-US" sz="3200" dirty="0"/>
              <a:t> </a:t>
            </a:r>
            <a:r>
              <a:rPr lang="en-US" sz="3200" dirty="0" err="1">
                <a:solidFill>
                  <a:srgbClr val="FF0000"/>
                </a:solidFill>
              </a:rPr>
              <a:t>tỷ</a:t>
            </a:r>
            <a:r>
              <a:rPr lang="en-US" sz="3200" dirty="0">
                <a:solidFill>
                  <a:srgbClr val="FF0000"/>
                </a:solidFill>
              </a:rPr>
              <a:t> </a:t>
            </a:r>
            <a:r>
              <a:rPr lang="en-US" sz="3200" dirty="0" err="1">
                <a:solidFill>
                  <a:srgbClr val="FF0000"/>
                </a:solidFill>
              </a:rPr>
              <a:t>lệ</a:t>
            </a:r>
            <a:r>
              <a:rPr lang="en-US" sz="3200" dirty="0">
                <a:solidFill>
                  <a:srgbClr val="FF0000"/>
                </a:solidFill>
              </a:rPr>
              <a:t> </a:t>
            </a:r>
            <a:r>
              <a:rPr lang="en-US" sz="3200" dirty="0" err="1"/>
              <a:t>phần</a:t>
            </a:r>
            <a:r>
              <a:rPr lang="en-US" sz="3200" dirty="0"/>
              <a:t> </a:t>
            </a:r>
            <a:r>
              <a:rPr lang="en-US" sz="3200" dirty="0" err="1"/>
              <a:t>tử</a:t>
            </a:r>
            <a:r>
              <a:rPr lang="en-US" sz="3200" dirty="0"/>
              <a:t> </a:t>
            </a:r>
            <a:r>
              <a:rPr lang="en-US" sz="3200" dirty="0" err="1"/>
              <a:t>có</a:t>
            </a:r>
            <a:r>
              <a:rPr lang="en-US" sz="3200" dirty="0"/>
              <a:t> </a:t>
            </a:r>
            <a:r>
              <a:rPr lang="en-US" sz="3200" dirty="0" err="1"/>
              <a:t>tính</a:t>
            </a:r>
            <a:r>
              <a:rPr lang="en-US" sz="3200" dirty="0"/>
              <a:t> </a:t>
            </a:r>
            <a:r>
              <a:rPr lang="en-US" sz="3200" dirty="0" err="1"/>
              <a:t>chất</a:t>
            </a:r>
            <a:r>
              <a:rPr lang="en-US" sz="3200" dirty="0"/>
              <a:t> </a:t>
            </a:r>
            <a:r>
              <a:rPr lang="en-US" sz="3200" dirty="0">
                <a:latin typeface="Blackadder ITC" pitchFamily="82" charset="0"/>
              </a:rPr>
              <a:t>P   </a:t>
            </a:r>
            <a:r>
              <a:rPr lang="en-US" sz="3200" dirty="0" err="1">
                <a:solidFill>
                  <a:srgbClr val="0070C0"/>
                </a:solidFill>
              </a:rPr>
              <a:t>trong</a:t>
            </a:r>
            <a:r>
              <a:rPr lang="en-US" sz="3200" dirty="0">
                <a:solidFill>
                  <a:srgbClr val="0070C0"/>
                </a:solidFill>
              </a:rPr>
              <a:t> </a:t>
            </a:r>
            <a:r>
              <a:rPr lang="en-US" sz="3200" dirty="0" err="1">
                <a:solidFill>
                  <a:srgbClr val="0070C0"/>
                </a:solidFill>
              </a:rPr>
              <a:t>tổng</a:t>
            </a:r>
            <a:r>
              <a:rPr lang="en-US" sz="3200" dirty="0">
                <a:solidFill>
                  <a:srgbClr val="0070C0"/>
                </a:solidFill>
              </a:rPr>
              <a:t> </a:t>
            </a:r>
            <a:r>
              <a:rPr lang="en-US" sz="3200" dirty="0" err="1">
                <a:solidFill>
                  <a:srgbClr val="0070C0"/>
                </a:solidFill>
              </a:rPr>
              <a:t>thể</a:t>
            </a:r>
            <a:r>
              <a:rPr lang="en-US" sz="3200" dirty="0">
                <a:solidFill>
                  <a:srgbClr val="0070C0"/>
                </a:solidFill>
              </a:rPr>
              <a:t>,</a:t>
            </a:r>
          </a:p>
          <a:p>
            <a:r>
              <a:rPr lang="en-US" sz="3200" dirty="0">
                <a:solidFill>
                  <a:srgbClr val="0070C0"/>
                </a:solidFill>
              </a:rPr>
              <a:t> </a:t>
            </a:r>
            <a:r>
              <a:rPr lang="en-US" sz="3200" dirty="0"/>
              <a:t> </a:t>
            </a:r>
            <a:r>
              <a:rPr lang="en-US" sz="3200" dirty="0">
                <a:solidFill>
                  <a:srgbClr val="C00000"/>
                </a:solidFill>
              </a:rPr>
              <a:t>f:</a:t>
            </a:r>
            <a:r>
              <a:rPr lang="en-US" sz="3200" dirty="0"/>
              <a:t> </a:t>
            </a:r>
            <a:r>
              <a:rPr lang="en-US" sz="3200" dirty="0" err="1">
                <a:solidFill>
                  <a:srgbClr val="FF0000"/>
                </a:solidFill>
              </a:rPr>
              <a:t>tỷ</a:t>
            </a:r>
            <a:r>
              <a:rPr lang="en-US" sz="3200" dirty="0">
                <a:solidFill>
                  <a:srgbClr val="FF0000"/>
                </a:solidFill>
              </a:rPr>
              <a:t> </a:t>
            </a:r>
            <a:r>
              <a:rPr lang="en-US" sz="3200" dirty="0" err="1">
                <a:solidFill>
                  <a:srgbClr val="FF0000"/>
                </a:solidFill>
              </a:rPr>
              <a:t>lệ</a:t>
            </a:r>
            <a:r>
              <a:rPr lang="en-US" sz="3200" dirty="0">
                <a:solidFill>
                  <a:srgbClr val="FF0000"/>
                </a:solidFill>
              </a:rPr>
              <a:t> </a:t>
            </a:r>
            <a:r>
              <a:rPr lang="en-US" sz="3200" dirty="0" err="1"/>
              <a:t>phần</a:t>
            </a:r>
            <a:r>
              <a:rPr lang="en-US" sz="3200" dirty="0"/>
              <a:t> </a:t>
            </a:r>
            <a:r>
              <a:rPr lang="en-US" sz="3200" dirty="0" err="1"/>
              <a:t>tử</a:t>
            </a:r>
            <a:r>
              <a:rPr lang="en-US" sz="3200" dirty="0"/>
              <a:t> </a:t>
            </a:r>
            <a:r>
              <a:rPr lang="en-US" sz="3200" dirty="0" err="1"/>
              <a:t>có</a:t>
            </a:r>
            <a:r>
              <a:rPr lang="en-US" sz="3200" dirty="0"/>
              <a:t> </a:t>
            </a:r>
            <a:r>
              <a:rPr lang="en-US" sz="3200" dirty="0" err="1"/>
              <a:t>tính</a:t>
            </a:r>
            <a:r>
              <a:rPr lang="en-US" sz="3200" dirty="0"/>
              <a:t> </a:t>
            </a:r>
            <a:r>
              <a:rPr lang="en-US" sz="3200" dirty="0" err="1"/>
              <a:t>chất</a:t>
            </a:r>
            <a:r>
              <a:rPr lang="en-US" sz="3200" dirty="0"/>
              <a:t> </a:t>
            </a:r>
            <a:r>
              <a:rPr lang="en-US" sz="3200" dirty="0">
                <a:latin typeface="Blackadder ITC" pitchFamily="82" charset="0"/>
              </a:rPr>
              <a:t>P   </a:t>
            </a:r>
            <a:r>
              <a:rPr lang="en-US" sz="3200" dirty="0" err="1">
                <a:solidFill>
                  <a:srgbClr val="0070C0"/>
                </a:solidFill>
              </a:rPr>
              <a:t>trong</a:t>
            </a:r>
            <a:r>
              <a:rPr lang="en-US" sz="3200" dirty="0">
                <a:solidFill>
                  <a:srgbClr val="0070C0"/>
                </a:solidFill>
              </a:rPr>
              <a:t> </a:t>
            </a:r>
            <a:r>
              <a:rPr lang="en-US" sz="3200" dirty="0" err="1">
                <a:solidFill>
                  <a:srgbClr val="0070C0"/>
                </a:solidFill>
              </a:rPr>
              <a:t>mẫu</a:t>
            </a:r>
            <a:r>
              <a:rPr lang="en-US" sz="3200" dirty="0">
                <a:solidFill>
                  <a:srgbClr val="0070C0"/>
                </a:solidFill>
              </a:rPr>
              <a:t>.</a:t>
            </a:r>
          </a:p>
          <a:p>
            <a:endParaRPr lang="en-US" sz="3200" dirty="0">
              <a:solidFill>
                <a:srgbClr val="0070C0"/>
              </a:solidFill>
            </a:endParaRPr>
          </a:p>
          <a:p>
            <a:r>
              <a:rPr lang="en-US" sz="3200" b="1" dirty="0" err="1"/>
              <a:t>Lưu</a:t>
            </a:r>
            <a:r>
              <a:rPr lang="en-US" sz="3200" b="1" dirty="0"/>
              <a:t> ý:</a:t>
            </a:r>
            <a:r>
              <a:rPr lang="en-US" sz="3200" dirty="0"/>
              <a:t> </a:t>
            </a:r>
            <a:r>
              <a:rPr lang="en-US" sz="3200" dirty="0" err="1"/>
              <a:t>bài</a:t>
            </a:r>
            <a:r>
              <a:rPr lang="en-US" sz="3200" dirty="0"/>
              <a:t> </a:t>
            </a:r>
            <a:r>
              <a:rPr lang="en-US" sz="3200" dirty="0" err="1"/>
              <a:t>toán</a:t>
            </a:r>
            <a:r>
              <a:rPr lang="en-US" sz="3200" dirty="0"/>
              <a:t> </a:t>
            </a:r>
            <a:r>
              <a:rPr lang="en-US" sz="3200" dirty="0" err="1"/>
              <a:t>ước</a:t>
            </a:r>
            <a:r>
              <a:rPr lang="en-US" sz="3200" dirty="0"/>
              <a:t> </a:t>
            </a:r>
            <a:r>
              <a:rPr lang="en-US" sz="3200" dirty="0" err="1"/>
              <a:t>lượng</a:t>
            </a:r>
            <a:r>
              <a:rPr lang="en-US" sz="3200" dirty="0"/>
              <a:t> </a:t>
            </a:r>
            <a:r>
              <a:rPr lang="en-US" sz="3200" dirty="0" err="1"/>
              <a:t>tỷ</a:t>
            </a:r>
            <a:r>
              <a:rPr lang="en-US" sz="3200" dirty="0"/>
              <a:t> </a:t>
            </a:r>
            <a:r>
              <a:rPr lang="en-US" sz="3200" dirty="0" err="1"/>
              <a:t>lệ</a:t>
            </a:r>
            <a:r>
              <a:rPr lang="en-US" sz="3200" dirty="0"/>
              <a:t> </a:t>
            </a:r>
            <a:r>
              <a:rPr lang="en-US" sz="3200" dirty="0" err="1"/>
              <a:t>chỉ</a:t>
            </a:r>
            <a:r>
              <a:rPr lang="en-US" sz="3200" dirty="0"/>
              <a:t> </a:t>
            </a:r>
            <a:r>
              <a:rPr lang="en-US" sz="3200" dirty="0" err="1"/>
              <a:t>xét</a:t>
            </a:r>
            <a:r>
              <a:rPr lang="en-US" sz="3200" dirty="0"/>
              <a:t> </a:t>
            </a:r>
            <a:r>
              <a:rPr lang="en-US" sz="3200" dirty="0" err="1"/>
              <a:t>trong</a:t>
            </a:r>
            <a:r>
              <a:rPr lang="en-US" sz="3200" dirty="0"/>
              <a:t> </a:t>
            </a:r>
            <a:r>
              <a:rPr lang="en-US" sz="3200" dirty="0" err="1"/>
              <a:t>trường</a:t>
            </a:r>
            <a:r>
              <a:rPr lang="en-US" sz="3200" dirty="0"/>
              <a:t> </a:t>
            </a:r>
            <a:r>
              <a:rPr lang="en-US" sz="3200" dirty="0" err="1"/>
              <a:t>hợp</a:t>
            </a:r>
            <a:r>
              <a:rPr lang="en-US" sz="3200" dirty="0"/>
              <a:t> </a:t>
            </a:r>
            <a:r>
              <a:rPr lang="en-US" sz="3200" dirty="0" err="1"/>
              <a:t>mẫu</a:t>
            </a:r>
            <a:r>
              <a:rPr lang="en-US" sz="3200" dirty="0"/>
              <a:t> </a:t>
            </a:r>
            <a:r>
              <a:rPr lang="en-US" sz="3200" dirty="0" err="1"/>
              <a:t>lớn</a:t>
            </a:r>
            <a:r>
              <a:rPr lang="en-US" sz="3200" dirty="0"/>
              <a:t>, do </a:t>
            </a:r>
            <a:r>
              <a:rPr lang="en-US" sz="3200" dirty="0" err="1"/>
              <a:t>đó</a:t>
            </a:r>
            <a:r>
              <a:rPr lang="en-US" sz="3200" dirty="0"/>
              <a:t> </a:t>
            </a:r>
            <a:r>
              <a:rPr lang="en-US" sz="3200" dirty="0" err="1"/>
              <a:t>ta</a:t>
            </a:r>
            <a:r>
              <a:rPr lang="en-US" sz="3200" dirty="0"/>
              <a:t> </a:t>
            </a:r>
            <a:r>
              <a:rPr lang="en-US" sz="3200" dirty="0" err="1"/>
              <a:t>dùng</a:t>
            </a:r>
            <a:r>
              <a:rPr lang="en-US" sz="3200" dirty="0"/>
              <a:t> </a:t>
            </a:r>
            <a:r>
              <a:rPr lang="en-US" sz="3200" dirty="0" err="1"/>
              <a:t>phân</a:t>
            </a:r>
            <a:r>
              <a:rPr lang="en-US" sz="3200" dirty="0"/>
              <a:t> </a:t>
            </a:r>
            <a:r>
              <a:rPr lang="en-US" sz="3200" dirty="0" err="1"/>
              <a:t>phối</a:t>
            </a:r>
            <a:r>
              <a:rPr lang="en-US" sz="3200" dirty="0"/>
              <a:t> </a:t>
            </a:r>
            <a:r>
              <a:rPr lang="en-US" sz="3200" dirty="0" err="1"/>
              <a:t>chuẩn</a:t>
            </a:r>
            <a:r>
              <a:rPr lang="en-US" sz="3200" dirty="0"/>
              <a:t>.</a:t>
            </a:r>
          </a:p>
          <a:p>
            <a:endParaRPr lang="en-US" sz="3200" dirty="0"/>
          </a:p>
          <a:p>
            <a:endParaRPr lang="en-US" sz="3200" dirty="0">
              <a:latin typeface="Blackadder ITC" pitchFamily="82" charset="0"/>
            </a:endParaRPr>
          </a:p>
        </p:txBody>
      </p:sp>
    </p:spTree>
    <p:extLst>
      <p:ext uri="{BB962C8B-B14F-4D97-AF65-F5344CB8AC3E}">
        <p14:creationId xmlns:p14="http://schemas.microsoft.com/office/powerpoint/2010/main" val="2430683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2"/>
          <p:cNvGraphicFramePr>
            <a:graphicFrameLocks noChangeAspect="1"/>
          </p:cNvGraphicFramePr>
          <p:nvPr/>
        </p:nvGraphicFramePr>
        <p:xfrm>
          <a:off x="3741737" y="1371600"/>
          <a:ext cx="2506663" cy="609600"/>
        </p:xfrm>
        <a:graphic>
          <a:graphicData uri="http://schemas.openxmlformats.org/presentationml/2006/ole">
            <mc:AlternateContent xmlns:mc="http://schemas.openxmlformats.org/markup-compatibility/2006">
              <mc:Choice xmlns:v="urn:schemas-microsoft-com:vml" Requires="v">
                <p:oleObj name="Equation" r:id="rId2" imgW="939600" imgH="228600" progId="Equation.DSMT4">
                  <p:embed/>
                </p:oleObj>
              </mc:Choice>
              <mc:Fallback>
                <p:oleObj name="Equation" r:id="rId2" imgW="939600" imgH="228600" progId="Equation.DSMT4">
                  <p:embed/>
                  <p:pic>
                    <p:nvPicPr>
                      <p:cNvPr id="717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1737" y="1371600"/>
                        <a:ext cx="2506663"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p:nvPr/>
        </p:nvSpPr>
        <p:spPr>
          <a:xfrm>
            <a:off x="762000" y="1402140"/>
            <a:ext cx="7696200" cy="1569660"/>
          </a:xfrm>
          <a:prstGeom prst="rect">
            <a:avLst/>
          </a:prstGeom>
        </p:spPr>
        <p:txBody>
          <a:bodyPr wrap="square">
            <a:spAutoFit/>
          </a:bodyPr>
          <a:lstStyle/>
          <a:p>
            <a:r>
              <a:rPr lang="en-US" sz="3200" dirty="0" err="1"/>
              <a:t>Khoảng</a:t>
            </a:r>
            <a:r>
              <a:rPr lang="en-US" sz="3200" dirty="0"/>
              <a:t> tin </a:t>
            </a:r>
            <a:r>
              <a:rPr lang="en-US" sz="3200" dirty="0" err="1"/>
              <a:t>cậy</a:t>
            </a:r>
            <a:r>
              <a:rPr lang="en-US" sz="3200" dirty="0"/>
              <a:t>:   </a:t>
            </a:r>
          </a:p>
          <a:p>
            <a:endParaRPr lang="en-US" sz="3200" dirty="0"/>
          </a:p>
          <a:p>
            <a:r>
              <a:rPr lang="en-US" sz="3200" dirty="0" err="1"/>
              <a:t>Độ</a:t>
            </a:r>
            <a:r>
              <a:rPr lang="en-US" sz="3200" dirty="0"/>
              <a:t> </a:t>
            </a:r>
            <a:r>
              <a:rPr lang="en-US" sz="3200" dirty="0" err="1"/>
              <a:t>chính</a:t>
            </a:r>
            <a:r>
              <a:rPr lang="en-US" sz="3200" dirty="0"/>
              <a:t> </a:t>
            </a:r>
            <a:r>
              <a:rPr lang="en-US" sz="3200" dirty="0" err="1"/>
              <a:t>xác</a:t>
            </a:r>
            <a:r>
              <a:rPr lang="en-US" sz="3200" dirty="0"/>
              <a:t> (</a:t>
            </a:r>
            <a:r>
              <a:rPr lang="en-US" sz="3200" dirty="0" err="1"/>
              <a:t>sai</a:t>
            </a:r>
            <a:r>
              <a:rPr lang="en-US" sz="3200" dirty="0"/>
              <a:t> </a:t>
            </a:r>
            <a:r>
              <a:rPr lang="en-US" sz="3200" dirty="0" err="1"/>
              <a:t>số</a:t>
            </a:r>
            <a:r>
              <a:rPr lang="en-US" sz="3200" dirty="0"/>
              <a:t>)</a:t>
            </a:r>
          </a:p>
        </p:txBody>
      </p:sp>
      <p:graphicFrame>
        <p:nvGraphicFramePr>
          <p:cNvPr id="9" name="Object 8"/>
          <p:cNvGraphicFramePr>
            <a:graphicFrameLocks noChangeAspect="1"/>
          </p:cNvGraphicFramePr>
          <p:nvPr/>
        </p:nvGraphicFramePr>
        <p:xfrm>
          <a:off x="2590800" y="3048000"/>
          <a:ext cx="2971800" cy="1143001"/>
        </p:xfrm>
        <a:graphic>
          <a:graphicData uri="http://schemas.openxmlformats.org/presentationml/2006/ole">
            <mc:AlternateContent xmlns:mc="http://schemas.openxmlformats.org/markup-compatibility/2006">
              <mc:Choice xmlns:v="urn:schemas-microsoft-com:vml" Requires="v">
                <p:oleObj name="Equation" r:id="rId4" imgW="1155600" imgH="444240" progId="Equation.DSMT4">
                  <p:embed/>
                </p:oleObj>
              </mc:Choice>
              <mc:Fallback>
                <p:oleObj name="Equation" r:id="rId4" imgW="1155600" imgH="444240" progId="Equation.DSMT4">
                  <p:embed/>
                  <p:pic>
                    <p:nvPicPr>
                      <p:cNvPr id="9"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3048000"/>
                        <a:ext cx="2971800" cy="11430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228600" y="152400"/>
            <a:ext cx="8001000" cy="584775"/>
          </a:xfrm>
          <a:prstGeom prst="rect">
            <a:avLst/>
          </a:prstGeom>
          <a:noFill/>
        </p:spPr>
        <p:txBody>
          <a:bodyPr wrap="square" rtlCol="0">
            <a:spAutoFit/>
          </a:bodyPr>
          <a:lstStyle/>
          <a:p>
            <a:r>
              <a:rPr lang="en-US" sz="3200" b="1" dirty="0" err="1">
                <a:solidFill>
                  <a:srgbClr val="C00000"/>
                </a:solidFill>
              </a:rPr>
              <a:t>Ước</a:t>
            </a:r>
            <a:r>
              <a:rPr lang="en-US" sz="3200" b="1" dirty="0">
                <a:solidFill>
                  <a:srgbClr val="C00000"/>
                </a:solidFill>
              </a:rPr>
              <a:t> </a:t>
            </a:r>
            <a:r>
              <a:rPr lang="en-US" sz="3200" b="1" dirty="0" err="1">
                <a:solidFill>
                  <a:srgbClr val="C00000"/>
                </a:solidFill>
              </a:rPr>
              <a:t>lượng</a:t>
            </a:r>
            <a:r>
              <a:rPr lang="en-US" sz="3200" b="1" dirty="0">
                <a:solidFill>
                  <a:srgbClr val="C00000"/>
                </a:solidFill>
              </a:rPr>
              <a:t> </a:t>
            </a:r>
            <a:r>
              <a:rPr lang="en-US" sz="3200" b="1" dirty="0" err="1">
                <a:solidFill>
                  <a:srgbClr val="C00000"/>
                </a:solidFill>
              </a:rPr>
              <a:t>tỷ</a:t>
            </a:r>
            <a:r>
              <a:rPr lang="en-US" sz="3200" b="1" dirty="0">
                <a:solidFill>
                  <a:srgbClr val="C00000"/>
                </a:solidFill>
              </a:rPr>
              <a:t> </a:t>
            </a:r>
            <a:r>
              <a:rPr lang="en-US" sz="3200" b="1" dirty="0" err="1">
                <a:solidFill>
                  <a:srgbClr val="C00000"/>
                </a:solidFill>
              </a:rPr>
              <a:t>lệ</a:t>
            </a:r>
            <a:r>
              <a:rPr lang="en-US" sz="3200" b="1" dirty="0">
                <a:solidFill>
                  <a:srgbClr val="C00000"/>
                </a:solidFill>
              </a:rPr>
              <a:t> </a:t>
            </a:r>
            <a:r>
              <a:rPr lang="en-US" sz="3200" b="1" dirty="0" err="1">
                <a:solidFill>
                  <a:srgbClr val="C00000"/>
                </a:solidFill>
              </a:rPr>
              <a:t>tổng</a:t>
            </a:r>
            <a:r>
              <a:rPr lang="en-US" sz="3200" b="1" dirty="0">
                <a:solidFill>
                  <a:srgbClr val="C00000"/>
                </a:solidFill>
              </a:rPr>
              <a:t> </a:t>
            </a:r>
            <a:r>
              <a:rPr lang="en-US" sz="3200" b="1" dirty="0" err="1">
                <a:solidFill>
                  <a:srgbClr val="C00000"/>
                </a:solidFill>
              </a:rPr>
              <a:t>thể</a:t>
            </a:r>
            <a:r>
              <a:rPr lang="en-US" sz="3200" b="1" dirty="0">
                <a:solidFill>
                  <a:srgbClr val="C00000"/>
                </a:solidFill>
              </a:rPr>
              <a:t> </a:t>
            </a:r>
            <a:r>
              <a:rPr lang="en-US" sz="3200" b="1" dirty="0">
                <a:solidFill>
                  <a:srgbClr val="0070C0"/>
                </a:solidFill>
              </a:rPr>
              <a:t>p</a:t>
            </a:r>
            <a:r>
              <a:rPr lang="en-US" sz="3200" b="1" dirty="0">
                <a:solidFill>
                  <a:srgbClr val="C00000"/>
                </a:solidFill>
              </a:rPr>
              <a:t> </a:t>
            </a:r>
            <a:r>
              <a:rPr lang="en-US" sz="3200" b="1" dirty="0" err="1">
                <a:solidFill>
                  <a:srgbClr val="C00000"/>
                </a:solidFill>
              </a:rPr>
              <a:t>với</a:t>
            </a:r>
            <a:r>
              <a:rPr lang="en-US" sz="3200" b="1" dirty="0">
                <a:solidFill>
                  <a:srgbClr val="C00000"/>
                </a:solidFill>
              </a:rPr>
              <a:t> </a:t>
            </a:r>
            <a:r>
              <a:rPr lang="en-US" sz="3200" b="1" dirty="0" err="1">
                <a:solidFill>
                  <a:srgbClr val="C00000"/>
                </a:solidFill>
              </a:rPr>
              <a:t>độ</a:t>
            </a:r>
            <a:r>
              <a:rPr lang="en-US" sz="3200" b="1" dirty="0">
                <a:solidFill>
                  <a:srgbClr val="C00000"/>
                </a:solidFill>
              </a:rPr>
              <a:t> tin </a:t>
            </a:r>
            <a:r>
              <a:rPr lang="en-US" sz="3200" b="1" dirty="0" err="1">
                <a:solidFill>
                  <a:srgbClr val="C00000"/>
                </a:solidFill>
              </a:rPr>
              <a:t>cậy</a:t>
            </a:r>
            <a:r>
              <a:rPr lang="en-US" sz="3200" b="1" dirty="0">
                <a:solidFill>
                  <a:srgbClr val="C00000"/>
                </a:solidFill>
              </a:rPr>
              <a:t>  </a:t>
            </a:r>
            <a:r>
              <a:rPr lang="en-US" sz="3200" b="1" dirty="0">
                <a:solidFill>
                  <a:srgbClr val="0070C0"/>
                </a:solidFill>
              </a:rPr>
              <a:t>1- </a:t>
            </a:r>
            <a:r>
              <a:rPr lang="el-GR" sz="3200" b="1" dirty="0">
                <a:solidFill>
                  <a:srgbClr val="0070C0"/>
                </a:solidFill>
              </a:rPr>
              <a:t>α</a:t>
            </a:r>
            <a:endParaRPr lang="en-US" sz="3200" b="1" dirty="0">
              <a:solidFill>
                <a:srgbClr val="0070C0"/>
              </a:solidFill>
            </a:endParaRPr>
          </a:p>
        </p:txBody>
      </p:sp>
      <p:sp>
        <p:nvSpPr>
          <p:cNvPr id="12" name="TextBox 11"/>
          <p:cNvSpPr txBox="1"/>
          <p:nvPr/>
        </p:nvSpPr>
        <p:spPr>
          <a:xfrm>
            <a:off x="838200" y="4419600"/>
            <a:ext cx="7467600" cy="2062103"/>
          </a:xfrm>
          <a:prstGeom prst="rect">
            <a:avLst/>
          </a:prstGeom>
          <a:noFill/>
        </p:spPr>
        <p:txBody>
          <a:bodyPr wrap="square" rtlCol="0">
            <a:spAutoFit/>
          </a:bodyPr>
          <a:lstStyle/>
          <a:p>
            <a:r>
              <a:rPr lang="en-US" sz="3200" dirty="0" err="1"/>
              <a:t>Trong</a:t>
            </a:r>
            <a:r>
              <a:rPr lang="en-US" sz="3200" dirty="0"/>
              <a:t> </a:t>
            </a:r>
            <a:r>
              <a:rPr lang="en-US" sz="3200" dirty="0" err="1"/>
              <a:t>đó</a:t>
            </a:r>
            <a:r>
              <a:rPr lang="en-US" sz="3200" dirty="0"/>
              <a:t> </a:t>
            </a:r>
            <a:r>
              <a:rPr lang="en-US" sz="3200" dirty="0" err="1"/>
              <a:t>z</a:t>
            </a:r>
            <a:r>
              <a:rPr lang="en-US" sz="3200" baseline="-25000" dirty="0" err="1"/>
              <a:t>α</a:t>
            </a:r>
            <a:r>
              <a:rPr lang="en-US" sz="3200" baseline="-25000" dirty="0"/>
              <a:t>/2</a:t>
            </a:r>
            <a:r>
              <a:rPr lang="en-US" sz="3200" dirty="0"/>
              <a:t>  </a:t>
            </a:r>
            <a:r>
              <a:rPr lang="en-US" sz="3200" dirty="0" err="1"/>
              <a:t>thỏa</a:t>
            </a:r>
            <a:endParaRPr lang="en-US" sz="3200" dirty="0"/>
          </a:p>
          <a:p>
            <a:r>
              <a:rPr lang="en-US" sz="3200" dirty="0"/>
              <a:t>               P(</a:t>
            </a:r>
            <a:r>
              <a:rPr lang="en-US" sz="3200" dirty="0">
                <a:solidFill>
                  <a:srgbClr val="C00000"/>
                </a:solidFill>
              </a:rPr>
              <a:t>Z ≤ z</a:t>
            </a:r>
            <a:r>
              <a:rPr lang="el-GR" sz="3200" baseline="-25000" dirty="0">
                <a:solidFill>
                  <a:srgbClr val="C00000"/>
                </a:solidFill>
              </a:rPr>
              <a:t>α</a:t>
            </a:r>
            <a:r>
              <a:rPr lang="en-US" sz="3200" baseline="-25000" dirty="0">
                <a:solidFill>
                  <a:srgbClr val="C00000"/>
                </a:solidFill>
              </a:rPr>
              <a:t>/2</a:t>
            </a:r>
            <a:r>
              <a:rPr lang="en-US" sz="3200" dirty="0">
                <a:solidFill>
                  <a:srgbClr val="C00000"/>
                </a:solidFill>
              </a:rPr>
              <a:t> </a:t>
            </a:r>
            <a:r>
              <a:rPr lang="en-US" sz="3200" dirty="0"/>
              <a:t>) = 1- </a:t>
            </a:r>
            <a:r>
              <a:rPr lang="en-US" sz="3200" dirty="0">
                <a:solidFill>
                  <a:srgbClr val="FF0000"/>
                </a:solidFill>
              </a:rPr>
              <a:t>(</a:t>
            </a:r>
            <a:r>
              <a:rPr lang="el-GR" sz="3200" dirty="0">
                <a:solidFill>
                  <a:srgbClr val="FF0000"/>
                </a:solidFill>
              </a:rPr>
              <a:t>α</a:t>
            </a:r>
            <a:r>
              <a:rPr lang="en-US" sz="3200" dirty="0">
                <a:solidFill>
                  <a:srgbClr val="FF0000"/>
                </a:solidFill>
              </a:rPr>
              <a:t>/2)     </a:t>
            </a:r>
            <a:r>
              <a:rPr lang="en-US" sz="3200" dirty="0"/>
              <a:t>,  Z  ~ N(0,1)</a:t>
            </a:r>
          </a:p>
          <a:p>
            <a:endParaRPr lang="en-US" sz="3200" dirty="0"/>
          </a:p>
          <a:p>
            <a:r>
              <a:rPr lang="en-US" sz="3200" dirty="0"/>
              <a:t>(</a:t>
            </a:r>
            <a:r>
              <a:rPr lang="en-US" sz="3200" dirty="0" err="1"/>
              <a:t>tra</a:t>
            </a:r>
            <a:r>
              <a:rPr lang="en-US" sz="3200" dirty="0"/>
              <a:t> </a:t>
            </a:r>
            <a:r>
              <a:rPr lang="en-US" sz="3200" dirty="0" err="1"/>
              <a:t>bảng</a:t>
            </a:r>
            <a:r>
              <a:rPr lang="en-US" sz="3200" dirty="0"/>
              <a:t> A4 </a:t>
            </a:r>
            <a:r>
              <a:rPr lang="en-US" sz="3200" dirty="0" err="1"/>
              <a:t>để</a:t>
            </a:r>
            <a:r>
              <a:rPr lang="en-US" sz="3200" dirty="0"/>
              <a:t> </a:t>
            </a:r>
            <a:r>
              <a:rPr lang="en-US" sz="3200" dirty="0" err="1"/>
              <a:t>xác</a:t>
            </a:r>
            <a:r>
              <a:rPr lang="en-US" sz="3200" dirty="0"/>
              <a:t> </a:t>
            </a:r>
            <a:r>
              <a:rPr lang="en-US" sz="3200" dirty="0" err="1"/>
              <a:t>định</a:t>
            </a:r>
            <a:r>
              <a:rPr lang="en-US" sz="3200" dirty="0"/>
              <a:t> </a:t>
            </a:r>
            <a:r>
              <a:rPr lang="en-US" sz="3200" dirty="0" err="1"/>
              <a:t>z</a:t>
            </a:r>
            <a:r>
              <a:rPr lang="en-US" sz="3200" baseline="-25000" dirty="0" err="1"/>
              <a:t>α</a:t>
            </a:r>
            <a:r>
              <a:rPr lang="en-US" sz="3200" baseline="-25000" dirty="0"/>
              <a:t>/2</a:t>
            </a:r>
            <a:r>
              <a:rPr lang="en-US" sz="3200" dirty="0"/>
              <a:t>)</a:t>
            </a:r>
          </a:p>
        </p:txBody>
      </p:sp>
    </p:spTree>
    <p:extLst>
      <p:ext uri="{BB962C8B-B14F-4D97-AF65-F5344CB8AC3E}">
        <p14:creationId xmlns:p14="http://schemas.microsoft.com/office/powerpoint/2010/main" val="3147548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toán</a:t>
            </a:r>
            <a:r>
              <a:rPr lang="en-US" dirty="0"/>
              <a:t> </a:t>
            </a:r>
            <a:r>
              <a:rPr lang="en-US" dirty="0" err="1"/>
              <a:t>xác</a:t>
            </a:r>
            <a:r>
              <a:rPr lang="en-US" dirty="0"/>
              <a:t> </a:t>
            </a:r>
            <a:r>
              <a:rPr lang="en-US" dirty="0" err="1"/>
              <a:t>định</a:t>
            </a:r>
            <a:r>
              <a:rPr lang="en-US" dirty="0"/>
              <a:t> </a:t>
            </a:r>
            <a:r>
              <a:rPr lang="en-US" dirty="0" err="1"/>
              <a:t>cỡ</a:t>
            </a:r>
            <a:r>
              <a:rPr lang="en-US" dirty="0"/>
              <a:t> </a:t>
            </a:r>
            <a:r>
              <a:rPr lang="en-US" dirty="0" err="1"/>
              <a:t>mẫu</a:t>
            </a:r>
            <a:endParaRPr lang="en-US" dirty="0"/>
          </a:p>
        </p:txBody>
      </p:sp>
      <p:sp>
        <p:nvSpPr>
          <p:cNvPr id="4" name="TextBox 3"/>
          <p:cNvSpPr txBox="1"/>
          <p:nvPr/>
        </p:nvSpPr>
        <p:spPr>
          <a:xfrm>
            <a:off x="533400" y="1295400"/>
            <a:ext cx="8229600" cy="1569660"/>
          </a:xfrm>
          <a:prstGeom prst="rect">
            <a:avLst/>
          </a:prstGeom>
          <a:noFill/>
        </p:spPr>
        <p:txBody>
          <a:bodyPr wrap="square" rtlCol="0">
            <a:spAutoFit/>
          </a:bodyPr>
          <a:lstStyle/>
          <a:p>
            <a:r>
              <a:rPr lang="en-US" sz="3200" b="1" dirty="0" err="1"/>
              <a:t>Bài</a:t>
            </a:r>
            <a:r>
              <a:rPr lang="en-US" sz="3200" b="1" dirty="0"/>
              <a:t> </a:t>
            </a:r>
            <a:r>
              <a:rPr lang="en-US" sz="3200" b="1" dirty="0" err="1"/>
              <a:t>toán</a:t>
            </a:r>
            <a:r>
              <a:rPr lang="en-US" sz="3200" b="1" dirty="0"/>
              <a:t>: </a:t>
            </a:r>
            <a:r>
              <a:rPr lang="en-US" sz="3200" dirty="0" err="1"/>
              <a:t>Xác</a:t>
            </a:r>
            <a:r>
              <a:rPr lang="en-US" sz="3200" dirty="0"/>
              <a:t> </a:t>
            </a:r>
            <a:r>
              <a:rPr lang="en-US" sz="3200" dirty="0" err="1"/>
              <a:t>định</a:t>
            </a:r>
            <a:r>
              <a:rPr lang="en-US" sz="3200" dirty="0"/>
              <a:t> </a:t>
            </a:r>
            <a:r>
              <a:rPr lang="en-US" sz="3200" dirty="0" err="1"/>
              <a:t>cỡ</a:t>
            </a:r>
            <a:r>
              <a:rPr lang="en-US" sz="3200" dirty="0"/>
              <a:t> </a:t>
            </a:r>
            <a:r>
              <a:rPr lang="en-US" sz="3200" dirty="0" err="1"/>
              <a:t>mẫu</a:t>
            </a:r>
            <a:r>
              <a:rPr lang="en-US" sz="3200" dirty="0"/>
              <a:t> </a:t>
            </a:r>
            <a:r>
              <a:rPr lang="en-US" sz="3200" dirty="0" err="1"/>
              <a:t>cần</a:t>
            </a:r>
            <a:r>
              <a:rPr lang="en-US" sz="3200" dirty="0"/>
              <a:t> </a:t>
            </a:r>
            <a:r>
              <a:rPr lang="en-US" sz="3200" dirty="0" err="1"/>
              <a:t>khảo</a:t>
            </a:r>
            <a:r>
              <a:rPr lang="en-US" sz="3200" dirty="0"/>
              <a:t> </a:t>
            </a:r>
            <a:r>
              <a:rPr lang="en-US" sz="3200" dirty="0" err="1"/>
              <a:t>sát</a:t>
            </a:r>
            <a:r>
              <a:rPr lang="en-US" sz="3200" dirty="0"/>
              <a:t> </a:t>
            </a:r>
            <a:r>
              <a:rPr lang="en-US" sz="3200" dirty="0" err="1"/>
              <a:t>để</a:t>
            </a:r>
            <a:r>
              <a:rPr lang="en-US" sz="3200" dirty="0"/>
              <a:t> </a:t>
            </a:r>
            <a:r>
              <a:rPr lang="en-US" sz="3200" dirty="0" err="1"/>
              <a:t>đạt</a:t>
            </a:r>
            <a:r>
              <a:rPr lang="en-US" sz="3200" dirty="0"/>
              <a:t> </a:t>
            </a:r>
            <a:r>
              <a:rPr lang="en-US" sz="3200" dirty="0" err="1"/>
              <a:t>được</a:t>
            </a:r>
            <a:r>
              <a:rPr lang="en-US" sz="3200" dirty="0"/>
              <a:t> </a:t>
            </a:r>
            <a:r>
              <a:rPr lang="en-US" sz="3200" dirty="0" err="1"/>
              <a:t>ước</a:t>
            </a:r>
            <a:r>
              <a:rPr lang="en-US" sz="3200" dirty="0"/>
              <a:t> </a:t>
            </a:r>
            <a:r>
              <a:rPr lang="en-US" sz="3200" dirty="0" err="1"/>
              <a:t>lượng</a:t>
            </a:r>
            <a:r>
              <a:rPr lang="en-US" sz="3200" dirty="0"/>
              <a:t> </a:t>
            </a:r>
            <a:r>
              <a:rPr lang="en-US" sz="3200" dirty="0" err="1"/>
              <a:t>cho</a:t>
            </a:r>
            <a:r>
              <a:rPr lang="en-US" sz="3200" dirty="0"/>
              <a:t> </a:t>
            </a:r>
            <a:r>
              <a:rPr lang="en-US" sz="3200" dirty="0" err="1"/>
              <a:t>tỷ</a:t>
            </a:r>
            <a:r>
              <a:rPr lang="en-US" sz="3200" dirty="0"/>
              <a:t> </a:t>
            </a:r>
            <a:r>
              <a:rPr lang="en-US" sz="3200" dirty="0" err="1"/>
              <a:t>lệ</a:t>
            </a:r>
            <a:r>
              <a:rPr lang="en-US" sz="3200" dirty="0"/>
              <a:t> </a:t>
            </a:r>
            <a:r>
              <a:rPr lang="en-US" sz="3200" dirty="0" err="1"/>
              <a:t>tổng</a:t>
            </a:r>
            <a:r>
              <a:rPr lang="en-US" sz="3200" dirty="0"/>
              <a:t> </a:t>
            </a:r>
            <a:r>
              <a:rPr lang="en-US" sz="3200" dirty="0" err="1"/>
              <a:t>thể</a:t>
            </a:r>
            <a:r>
              <a:rPr lang="en-US" sz="3200" dirty="0"/>
              <a:t> </a:t>
            </a:r>
            <a:r>
              <a:rPr lang="en-US" sz="3200" dirty="0" err="1"/>
              <a:t>với</a:t>
            </a:r>
            <a:r>
              <a:rPr lang="en-US" sz="3200" dirty="0"/>
              <a:t> </a:t>
            </a:r>
            <a:r>
              <a:rPr lang="en-US" sz="3200" dirty="0" err="1">
                <a:solidFill>
                  <a:srgbClr val="FF0000"/>
                </a:solidFill>
              </a:rPr>
              <a:t>độ</a:t>
            </a:r>
            <a:r>
              <a:rPr lang="en-US" sz="3200" dirty="0">
                <a:solidFill>
                  <a:srgbClr val="FF0000"/>
                </a:solidFill>
              </a:rPr>
              <a:t> tin </a:t>
            </a:r>
            <a:r>
              <a:rPr lang="en-US" sz="3200" dirty="0" err="1">
                <a:solidFill>
                  <a:srgbClr val="FF0000"/>
                </a:solidFill>
              </a:rPr>
              <a:t>cậy</a:t>
            </a:r>
            <a:r>
              <a:rPr lang="en-US" sz="3200" dirty="0">
                <a:solidFill>
                  <a:srgbClr val="FF0000"/>
                </a:solidFill>
              </a:rPr>
              <a:t> </a:t>
            </a:r>
            <a:r>
              <a:rPr lang="en-US" sz="3200" dirty="0" err="1">
                <a:solidFill>
                  <a:srgbClr val="FF0000"/>
                </a:solidFill>
              </a:rPr>
              <a:t>và</a:t>
            </a:r>
            <a:r>
              <a:rPr lang="en-US" sz="3200" dirty="0">
                <a:solidFill>
                  <a:srgbClr val="FF0000"/>
                </a:solidFill>
              </a:rPr>
              <a:t> </a:t>
            </a:r>
            <a:r>
              <a:rPr lang="en-US" sz="3200" dirty="0" err="1">
                <a:solidFill>
                  <a:srgbClr val="FF0000"/>
                </a:solidFill>
              </a:rPr>
              <a:t>độ</a:t>
            </a:r>
            <a:r>
              <a:rPr lang="en-US" sz="3200" dirty="0">
                <a:solidFill>
                  <a:srgbClr val="FF0000"/>
                </a:solidFill>
              </a:rPr>
              <a:t> </a:t>
            </a:r>
            <a:r>
              <a:rPr lang="en-US" sz="3200" dirty="0" err="1">
                <a:solidFill>
                  <a:srgbClr val="FF0000"/>
                </a:solidFill>
              </a:rPr>
              <a:t>sai</a:t>
            </a:r>
            <a:r>
              <a:rPr lang="en-US" sz="3200" dirty="0">
                <a:solidFill>
                  <a:srgbClr val="FF0000"/>
                </a:solidFill>
              </a:rPr>
              <a:t> </a:t>
            </a:r>
            <a:r>
              <a:rPr lang="en-US" sz="3200" dirty="0" err="1">
                <a:solidFill>
                  <a:srgbClr val="FF0000"/>
                </a:solidFill>
              </a:rPr>
              <a:t>số</a:t>
            </a:r>
            <a:r>
              <a:rPr lang="en-US" sz="3200" dirty="0">
                <a:solidFill>
                  <a:srgbClr val="FF0000"/>
                </a:solidFill>
              </a:rPr>
              <a:t> </a:t>
            </a:r>
            <a:r>
              <a:rPr lang="en-US" sz="3200" dirty="0" err="1">
                <a:solidFill>
                  <a:srgbClr val="FF0000"/>
                </a:solidFill>
              </a:rPr>
              <a:t>cho</a:t>
            </a:r>
            <a:r>
              <a:rPr lang="en-US" sz="3200" dirty="0">
                <a:solidFill>
                  <a:srgbClr val="FF0000"/>
                </a:solidFill>
              </a:rPr>
              <a:t> </a:t>
            </a:r>
            <a:r>
              <a:rPr lang="en-US" sz="3200" dirty="0" err="1">
                <a:solidFill>
                  <a:srgbClr val="FF0000"/>
                </a:solidFill>
              </a:rPr>
              <a:t>trước</a:t>
            </a:r>
            <a:r>
              <a:rPr lang="en-US" sz="3200" dirty="0">
                <a:solidFill>
                  <a:srgbClr val="FF0000"/>
                </a:solidFill>
              </a:rPr>
              <a:t>. </a:t>
            </a:r>
          </a:p>
        </p:txBody>
      </p:sp>
      <p:graphicFrame>
        <p:nvGraphicFramePr>
          <p:cNvPr id="8194" name="Object 2"/>
          <p:cNvGraphicFramePr>
            <a:graphicFrameLocks noChangeAspect="1"/>
          </p:cNvGraphicFramePr>
          <p:nvPr/>
        </p:nvGraphicFramePr>
        <p:xfrm>
          <a:off x="1033463" y="3352800"/>
          <a:ext cx="7416800" cy="2611438"/>
        </p:xfrm>
        <a:graphic>
          <a:graphicData uri="http://schemas.openxmlformats.org/presentationml/2006/ole">
            <mc:AlternateContent xmlns:mc="http://schemas.openxmlformats.org/markup-compatibility/2006">
              <mc:Choice xmlns:v="urn:schemas-microsoft-com:vml" Requires="v">
                <p:oleObj name="Equation" r:id="rId2" imgW="2882880" imgH="1015920" progId="Equation.DSMT4">
                  <p:embed/>
                </p:oleObj>
              </mc:Choice>
              <mc:Fallback>
                <p:oleObj name="Equation" r:id="rId2" imgW="2882880" imgH="1015920" progId="Equation.DSMT4">
                  <p:embed/>
                  <p:pic>
                    <p:nvPicPr>
                      <p:cNvPr id="819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463" y="3352800"/>
                        <a:ext cx="7416800" cy="2611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p>
        </p:txBody>
      </p:sp>
      <p:sp>
        <p:nvSpPr>
          <p:cNvPr id="3" name="Content Placeholder 2"/>
          <p:cNvSpPr>
            <a:spLocks noGrp="1"/>
          </p:cNvSpPr>
          <p:nvPr>
            <p:ph idx="1"/>
          </p:nvPr>
        </p:nvSpPr>
        <p:spPr>
          <a:xfrm>
            <a:off x="228600" y="990600"/>
            <a:ext cx="8686800" cy="2590800"/>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pt-BR">
                <a:solidFill>
                  <a:schemeClr val="tx1"/>
                </a:solidFill>
              </a:rPr>
              <a:t>Thăm dò ý kiến của </a:t>
            </a:r>
            <a:r>
              <a:rPr lang="pt-BR">
                <a:solidFill>
                  <a:srgbClr val="FF0000"/>
                </a:solidFill>
              </a:rPr>
              <a:t>100 cử tri </a:t>
            </a:r>
            <a:r>
              <a:rPr lang="pt-BR">
                <a:solidFill>
                  <a:schemeClr val="tx1"/>
                </a:solidFill>
              </a:rPr>
              <a:t>được chọn ngẫu nhiên tại một địa phương cho thấy có </a:t>
            </a:r>
            <a:r>
              <a:rPr lang="pt-BR">
                <a:solidFill>
                  <a:srgbClr val="7030A0"/>
                </a:solidFill>
              </a:rPr>
              <a:t>80% trong số này </a:t>
            </a:r>
            <a:r>
              <a:rPr lang="pt-BR">
                <a:solidFill>
                  <a:schemeClr val="tx1"/>
                </a:solidFill>
              </a:rPr>
              <a:t>ủng hộ ứng cử viên A. </a:t>
            </a:r>
            <a:br>
              <a:rPr lang="pt-BR">
                <a:solidFill>
                  <a:schemeClr val="tx1"/>
                </a:solidFill>
              </a:rPr>
            </a:br>
            <a:r>
              <a:rPr lang="pt-BR">
                <a:solidFill>
                  <a:schemeClr val="tx1"/>
                </a:solidFill>
              </a:rPr>
              <a:t>Với </a:t>
            </a:r>
            <a:r>
              <a:rPr lang="pt-BR">
                <a:solidFill>
                  <a:srgbClr val="0070C0"/>
                </a:solidFill>
              </a:rPr>
              <a:t>độ tin cậy </a:t>
            </a:r>
            <a:r>
              <a:rPr lang="vi-VN">
                <a:solidFill>
                  <a:srgbClr val="0070C0"/>
                </a:solidFill>
              </a:rPr>
              <a:t>9</a:t>
            </a:r>
            <a:r>
              <a:rPr lang="en-US">
                <a:solidFill>
                  <a:srgbClr val="0070C0"/>
                </a:solidFill>
              </a:rPr>
              <a:t>8</a:t>
            </a:r>
            <a:r>
              <a:rPr lang="vi-VN">
                <a:solidFill>
                  <a:srgbClr val="0070C0"/>
                </a:solidFill>
              </a:rPr>
              <a:t>%</a:t>
            </a:r>
            <a:r>
              <a:rPr lang="en-US">
                <a:solidFill>
                  <a:schemeClr val="tx1"/>
                </a:solidFill>
              </a:rPr>
              <a:t>, h</a:t>
            </a:r>
            <a:r>
              <a:rPr lang="pt-BR">
                <a:solidFill>
                  <a:schemeClr val="tx1"/>
                </a:solidFill>
              </a:rPr>
              <a:t>ãy ước lượng tỷ lệ của tất cả các cử tri tại địa phương này ủng hộ ứng cử viên A</a:t>
            </a:r>
            <a:r>
              <a:rPr lang="vi-VN">
                <a:solidFill>
                  <a:schemeClr val="tx1"/>
                </a:solidFill>
              </a:rPr>
              <a:t>.</a:t>
            </a:r>
            <a:endParaRPr lang="en-US">
              <a:solidFill>
                <a:schemeClr val="tx1"/>
              </a:solidFill>
            </a:endParaRPr>
          </a:p>
        </p:txBody>
      </p:sp>
      <p:sp>
        <p:nvSpPr>
          <p:cNvPr id="4" name="Content Placeholder 2"/>
          <p:cNvSpPr txBox="1">
            <a:spLocks/>
          </p:cNvSpPr>
          <p:nvPr/>
        </p:nvSpPr>
        <p:spPr>
          <a:xfrm>
            <a:off x="228600" y="3657600"/>
            <a:ext cx="8686800" cy="2819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b="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b="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b="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800">
              <a:solidFill>
                <a:schemeClr val="tx1"/>
              </a:solidFill>
            </a:endParaRPr>
          </a:p>
        </p:txBody>
      </p:sp>
    </p:spTree>
    <p:extLst>
      <p:ext uri="{BB962C8B-B14F-4D97-AF65-F5344CB8AC3E}">
        <p14:creationId xmlns:p14="http://schemas.microsoft.com/office/powerpoint/2010/main" val="793198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Nhận xét về khoảng tin cậy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t>Tung một đồng xu 1000 lần, thấy có 536 lần xuất hiện mặt ngửa.</a:t>
                </a:r>
              </a:p>
              <a:p>
                <a:r>
                  <a:rPr lang="en-US"/>
                  <a:t>Với độ tin cậy 95% ta tìm được khoảng tin cậy</a:t>
                </a: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a:rPr>
                        <m:t>50.5%</m:t>
                      </m:r>
                      <m:r>
                        <a:rPr lang="en-US" b="0" i="1" smtClean="0">
                          <a:latin typeface="Cambria Math"/>
                        </a:rPr>
                        <m:t>&lt;</m:t>
                      </m:r>
                      <m:r>
                        <a:rPr lang="en-US" b="0" i="1" smtClean="0">
                          <a:solidFill>
                            <a:srgbClr val="FF0000"/>
                          </a:solidFill>
                          <a:latin typeface="Cambria Math"/>
                        </a:rPr>
                        <m:t>𝑝</m:t>
                      </m:r>
                      <m:r>
                        <a:rPr lang="en-US" b="0" i="1" smtClean="0">
                          <a:latin typeface="Cambria Math"/>
                        </a:rPr>
                        <m:t>&lt;56.7%</m:t>
                      </m:r>
                    </m:oMath>
                  </m:oMathPara>
                </a14:m>
                <a:endParaRPr lang="en-US"/>
              </a:p>
              <a:p>
                <a:pPr>
                  <a:buFont typeface="Arial" charset="0"/>
                  <a:buChar char="•"/>
                </a:pPr>
                <a:r>
                  <a:rPr lang="en-US"/>
                  <a:t>Nhận xét: </a:t>
                </a:r>
                <a:r>
                  <a:rPr lang="en-US" b="1">
                    <a:solidFill>
                      <a:srgbClr val="7030A0"/>
                    </a:solidFill>
                  </a:rPr>
                  <a:t>có đến 95% khả năng</a:t>
                </a:r>
                <a:r>
                  <a:rPr lang="en-US">
                    <a:solidFill>
                      <a:srgbClr val="FF0000"/>
                    </a:solidFill>
                  </a:rPr>
                  <a:t>tỉ lệ tổng thể </a:t>
                </a:r>
                <a14:m>
                  <m:oMath xmlns:m="http://schemas.openxmlformats.org/officeDocument/2006/math">
                    <m:r>
                      <a:rPr lang="en-US" b="0" i="1" smtClean="0">
                        <a:solidFill>
                          <a:srgbClr val="FF0000"/>
                        </a:solidFill>
                        <a:latin typeface="Cambria Math"/>
                      </a:rPr>
                      <m:t>𝑝</m:t>
                    </m:r>
                  </m:oMath>
                </a14:m>
                <a:r>
                  <a:rPr lang="en-US"/>
                  <a:t> nằm trong khoảng từ 50.5% đến 56.7%</a:t>
                </a:r>
              </a:p>
              <a:p>
                <a:pPr>
                  <a:buFont typeface="Arial" charset="0"/>
                  <a:buChar char="•"/>
                </a:pPr>
                <a:r>
                  <a:rPr lang="en-US"/>
                  <a:t>Do đó </a:t>
                </a:r>
                <a:r>
                  <a:rPr lang="en-US" b="1">
                    <a:solidFill>
                      <a:srgbClr val="7030A0"/>
                    </a:solidFill>
                  </a:rPr>
                  <a:t>nhiều khả năng</a:t>
                </a:r>
                <a:r>
                  <a:rPr lang="en-US"/>
                  <a:t>, đây là một đồng xu không công bằng.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553"/>
                </a:stretch>
              </a:blipFill>
            </p:spPr>
            <p:txBody>
              <a:bodyPr/>
              <a:lstStyle/>
              <a:p>
                <a:r>
                  <a:rPr lang="en-US">
                    <a:noFill/>
                  </a:rPr>
                  <a:t> </a:t>
                </a:r>
              </a:p>
            </p:txBody>
          </p:sp>
        </mc:Fallback>
      </mc:AlternateContent>
    </p:spTree>
    <p:extLst>
      <p:ext uri="{BB962C8B-B14F-4D97-AF65-F5344CB8AC3E}">
        <p14:creationId xmlns:p14="http://schemas.microsoft.com/office/powerpoint/2010/main" val="2172729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Dùng khoảng tin cậy của p để ước lượng 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2971800"/>
                <a:ext cx="8229600" cy="3276600"/>
              </a:xfrm>
            </p:spPr>
            <p:txBody>
              <a:bodyPr>
                <a:normAutofit/>
              </a:bodyPr>
              <a:lstStyle/>
              <a:p>
                <a14:m>
                  <m:oMath xmlns:m="http://schemas.openxmlformats.org/officeDocument/2006/math">
                    <m:r>
                      <a:rPr lang="en-US" i="1" smtClean="0">
                        <a:latin typeface="Cambria Math" panose="02040503050406030204" pitchFamily="18" charset="0"/>
                      </a:rPr>
                      <m:t>𝑝</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𝑀</m:t>
                        </m:r>
                      </m:num>
                      <m:den>
                        <m:r>
                          <a:rPr lang="en-US" i="1">
                            <a:latin typeface="Cambria Math" panose="02040503050406030204" pitchFamily="18" charset="0"/>
                          </a:rPr>
                          <m:t>𝑁</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300</m:t>
                        </m:r>
                      </m:num>
                      <m:den>
                        <m:r>
                          <a:rPr lang="en-US" i="1">
                            <a:latin typeface="Cambria Math" panose="02040503050406030204" pitchFamily="18" charset="0"/>
                          </a:rPr>
                          <m:t>𝑁</m:t>
                        </m:r>
                      </m:den>
                    </m:f>
                  </m:oMath>
                </a14:m>
                <a:r>
                  <a:rPr lang="en-US"/>
                  <a:t> tỷ lệ cá </a:t>
                </a:r>
                <a:r>
                  <a:rPr lang="en-US" b="1" i="1"/>
                  <a:t>được đánh dấu</a:t>
                </a:r>
                <a:r>
                  <a:rPr lang="en-US"/>
                  <a:t> trong hồ.</a:t>
                </a:r>
              </a:p>
              <a:p>
                <a14:m>
                  <m:oMath xmlns:m="http://schemas.openxmlformats.org/officeDocument/2006/math">
                    <m:r>
                      <a:rPr lang="en-US" i="1" smtClean="0">
                        <a:latin typeface="Cambria Math" panose="02040503050406030204" pitchFamily="18" charset="0"/>
                      </a:rPr>
                      <m:t>𝑓</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rPr>
                          <m:t>𝑛</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60</m:t>
                        </m:r>
                      </m:num>
                      <m:den>
                        <m:r>
                          <a:rPr lang="en-US" b="0" i="1" smtClean="0">
                            <a:latin typeface="Cambria Math" panose="02040503050406030204" pitchFamily="18" charset="0"/>
                          </a:rPr>
                          <m:t>400</m:t>
                        </m:r>
                      </m:den>
                    </m:f>
                    <m:r>
                      <a:rPr lang="en-US" b="0" i="1" smtClean="0">
                        <a:latin typeface="Cambria Math" panose="02040503050406030204" pitchFamily="18" charset="0"/>
                      </a:rPr>
                      <m:t>=15%</m:t>
                    </m:r>
                  </m:oMath>
                </a14:m>
                <a:r>
                  <a:rPr lang="en-US"/>
                  <a:t>: tỷ lệ cá được đánh dấu trong mẫu ngẫu nhiên gồm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=400</m:t>
                    </m:r>
                  </m:oMath>
                </a14:m>
                <a:r>
                  <a:rPr lang="en-US"/>
                  <a:t>con cá.</a:t>
                </a:r>
              </a:p>
              <a:p>
                <a:r>
                  <a:rPr lang="en-US"/>
                  <a:t>Với độ tin cậy 95%, sử dụng phân phối chuẩn để ước lượng p, sau đó ước lượng 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2971800"/>
                <a:ext cx="8229600" cy="3276600"/>
              </a:xfrm>
              <a:blipFill rotWithShape="0">
                <a:blip r:embed="rId2"/>
                <a:stretch>
                  <a:fillRect l="-1704" r="-889" b="-2980"/>
                </a:stretch>
              </a:blipFill>
            </p:spPr>
            <p:txBody>
              <a:bodyPr/>
              <a:lstStyle/>
              <a:p>
                <a:r>
                  <a:rPr lang="en-US">
                    <a:noFill/>
                  </a:rPr>
                  <a:t> </a:t>
                </a:r>
              </a:p>
            </p:txBody>
          </p:sp>
        </mc:Fallback>
      </mc:AlternateContent>
      <p:sp>
        <p:nvSpPr>
          <p:cNvPr id="5" name="TextBox 4"/>
          <p:cNvSpPr txBox="1"/>
          <p:nvPr/>
        </p:nvSpPr>
        <p:spPr>
          <a:xfrm>
            <a:off x="228600" y="1079718"/>
            <a:ext cx="8686800" cy="1815882"/>
          </a:xfrm>
          <a:prstGeom prst="rect">
            <a:avLst/>
          </a:prstGeom>
          <a:noFill/>
        </p:spPr>
        <p:txBody>
          <a:bodyPr wrap="square" rtlCol="0">
            <a:spAutoFit/>
          </a:bodyPr>
          <a:lstStyle/>
          <a:p>
            <a:r>
              <a:rPr lang="en-US" sz="2800" dirty="0" err="1"/>
              <a:t>Để</a:t>
            </a:r>
            <a:r>
              <a:rPr lang="en-US" sz="2800" dirty="0"/>
              <a:t> </a:t>
            </a:r>
            <a:r>
              <a:rPr lang="en-US" sz="2800" dirty="0" err="1"/>
              <a:t>điều</a:t>
            </a:r>
            <a:r>
              <a:rPr lang="en-US" sz="2800" dirty="0"/>
              <a:t> </a:t>
            </a:r>
            <a:r>
              <a:rPr lang="en-US" sz="2800" dirty="0" err="1"/>
              <a:t>tra</a:t>
            </a:r>
            <a:r>
              <a:rPr lang="en-US" sz="2800" dirty="0"/>
              <a:t> </a:t>
            </a:r>
            <a:r>
              <a:rPr lang="en-US" sz="2800" dirty="0" err="1"/>
              <a:t>số</a:t>
            </a:r>
            <a:r>
              <a:rPr lang="en-US" sz="2800" dirty="0"/>
              <a:t> </a:t>
            </a:r>
            <a:r>
              <a:rPr lang="en-US" sz="2800" dirty="0" err="1"/>
              <a:t>cá</a:t>
            </a:r>
            <a:r>
              <a:rPr lang="en-US" sz="2800" dirty="0"/>
              <a:t> </a:t>
            </a:r>
            <a:r>
              <a:rPr lang="en-US" sz="2800" dirty="0" err="1"/>
              <a:t>trong</a:t>
            </a:r>
            <a:r>
              <a:rPr lang="en-US" sz="2800" dirty="0"/>
              <a:t> </a:t>
            </a:r>
            <a:r>
              <a:rPr lang="en-US" sz="2800" dirty="0" err="1"/>
              <a:t>hồ</a:t>
            </a:r>
            <a:r>
              <a:rPr lang="en-US" sz="2800" dirty="0"/>
              <a:t>, </a:t>
            </a:r>
            <a:r>
              <a:rPr lang="en-US" sz="2800" dirty="0" err="1"/>
              <a:t>cơ</a:t>
            </a:r>
            <a:r>
              <a:rPr lang="en-US" sz="2800" dirty="0"/>
              <a:t> </a:t>
            </a:r>
            <a:r>
              <a:rPr lang="en-US" sz="2800" dirty="0" err="1"/>
              <a:t>quan</a:t>
            </a:r>
            <a:r>
              <a:rPr lang="en-US" sz="2800" dirty="0"/>
              <a:t> </a:t>
            </a:r>
            <a:r>
              <a:rPr lang="en-US" sz="2800" dirty="0" err="1"/>
              <a:t>quản</a:t>
            </a:r>
            <a:r>
              <a:rPr lang="en-US" sz="2800" dirty="0"/>
              <a:t> </a:t>
            </a:r>
            <a:r>
              <a:rPr lang="en-US" sz="2800" dirty="0" err="1"/>
              <a:t>lý</a:t>
            </a:r>
            <a:r>
              <a:rPr lang="en-US" sz="2800" dirty="0"/>
              <a:t> </a:t>
            </a:r>
            <a:r>
              <a:rPr lang="en-US" sz="2800" dirty="0" err="1"/>
              <a:t>đánh</a:t>
            </a:r>
            <a:r>
              <a:rPr lang="en-US" sz="2800" dirty="0"/>
              <a:t> </a:t>
            </a:r>
            <a:r>
              <a:rPr lang="en-US" sz="2800" dirty="0" err="1"/>
              <a:t>bắt</a:t>
            </a:r>
            <a:r>
              <a:rPr lang="en-US" sz="2800" dirty="0"/>
              <a:t> 300 con, </a:t>
            </a:r>
            <a:r>
              <a:rPr lang="en-US" sz="2800" dirty="0" err="1"/>
              <a:t>làm</a:t>
            </a:r>
            <a:r>
              <a:rPr lang="en-US" sz="2800" dirty="0"/>
              <a:t> </a:t>
            </a:r>
            <a:r>
              <a:rPr lang="en-US" sz="2800" dirty="0" err="1"/>
              <a:t>dấu</a:t>
            </a:r>
            <a:r>
              <a:rPr lang="en-US" sz="2800" dirty="0"/>
              <a:t> </a:t>
            </a:r>
            <a:r>
              <a:rPr lang="en-US" sz="2800" dirty="0" err="1"/>
              <a:t>rồi</a:t>
            </a:r>
            <a:r>
              <a:rPr lang="en-US" sz="2800" dirty="0"/>
              <a:t> </a:t>
            </a:r>
            <a:r>
              <a:rPr lang="en-US" sz="2800" dirty="0" err="1"/>
              <a:t>thả</a:t>
            </a:r>
            <a:r>
              <a:rPr lang="en-US" sz="2800" dirty="0"/>
              <a:t> </a:t>
            </a:r>
            <a:r>
              <a:rPr lang="en-US" sz="2800" dirty="0" err="1"/>
              <a:t>xuống</a:t>
            </a:r>
            <a:r>
              <a:rPr lang="en-US" sz="2800" dirty="0"/>
              <a:t> </a:t>
            </a:r>
            <a:r>
              <a:rPr lang="en-US" sz="2800" dirty="0" err="1"/>
              <a:t>hồ</a:t>
            </a:r>
            <a:r>
              <a:rPr lang="en-US" sz="2800" dirty="0"/>
              <a:t>. </a:t>
            </a:r>
            <a:r>
              <a:rPr lang="en-US" sz="2800" dirty="0" err="1"/>
              <a:t>Lần</a:t>
            </a:r>
            <a:r>
              <a:rPr lang="en-US" sz="2800" dirty="0"/>
              <a:t> </a:t>
            </a:r>
            <a:r>
              <a:rPr lang="en-US" sz="2800" dirty="0" err="1"/>
              <a:t>hai</a:t>
            </a:r>
            <a:r>
              <a:rPr lang="en-US" sz="2800" dirty="0"/>
              <a:t> </a:t>
            </a:r>
            <a:r>
              <a:rPr lang="en-US" sz="2800" dirty="0" err="1"/>
              <a:t>bắt</a:t>
            </a:r>
            <a:r>
              <a:rPr lang="en-US" sz="2800" dirty="0"/>
              <a:t> </a:t>
            </a:r>
            <a:r>
              <a:rPr lang="en-US" sz="2800" dirty="0" err="1"/>
              <a:t>ngẫu</a:t>
            </a:r>
            <a:r>
              <a:rPr lang="en-US" sz="2800" dirty="0"/>
              <a:t> </a:t>
            </a:r>
            <a:r>
              <a:rPr lang="en-US" sz="2800" dirty="0" err="1"/>
              <a:t>nhiên</a:t>
            </a:r>
            <a:r>
              <a:rPr lang="en-US" sz="2800" dirty="0"/>
              <a:t> 400 con </a:t>
            </a:r>
            <a:r>
              <a:rPr lang="en-US" sz="2800" dirty="0" err="1"/>
              <a:t>thấy</a:t>
            </a:r>
            <a:r>
              <a:rPr lang="en-US" sz="2800" dirty="0"/>
              <a:t> </a:t>
            </a:r>
            <a:r>
              <a:rPr lang="en-US" sz="2800" dirty="0" err="1"/>
              <a:t>có</a:t>
            </a:r>
            <a:r>
              <a:rPr lang="en-US" sz="2800" dirty="0"/>
              <a:t> 60 con </a:t>
            </a:r>
            <a:r>
              <a:rPr lang="en-US" sz="2800" dirty="0" err="1"/>
              <a:t>được</a:t>
            </a:r>
            <a:r>
              <a:rPr lang="en-US" sz="2800" dirty="0"/>
              <a:t> </a:t>
            </a:r>
            <a:r>
              <a:rPr lang="en-US" sz="2800" dirty="0" err="1"/>
              <a:t>đánh</a:t>
            </a:r>
            <a:r>
              <a:rPr lang="en-US" sz="2800" dirty="0"/>
              <a:t> </a:t>
            </a:r>
            <a:r>
              <a:rPr lang="en-US" sz="2800" dirty="0" err="1"/>
              <a:t>dấu</a:t>
            </a:r>
            <a:r>
              <a:rPr lang="en-US" sz="2800" dirty="0"/>
              <a:t>. </a:t>
            </a:r>
            <a:r>
              <a:rPr lang="en-US" sz="2800" dirty="0" err="1"/>
              <a:t>Hãy</a:t>
            </a:r>
            <a:r>
              <a:rPr lang="en-US" sz="2800" dirty="0"/>
              <a:t> </a:t>
            </a:r>
            <a:r>
              <a:rPr lang="en-US" sz="2800" dirty="0" err="1"/>
              <a:t>xác</a:t>
            </a:r>
            <a:r>
              <a:rPr lang="en-US" sz="2800" dirty="0"/>
              <a:t> </a:t>
            </a:r>
            <a:r>
              <a:rPr lang="en-US" sz="2800" dirty="0" err="1"/>
              <a:t>định</a:t>
            </a:r>
            <a:r>
              <a:rPr lang="en-US" sz="2800" dirty="0"/>
              <a:t> </a:t>
            </a:r>
            <a:r>
              <a:rPr lang="en-US" sz="2800" dirty="0" err="1"/>
              <a:t>số</a:t>
            </a:r>
            <a:r>
              <a:rPr lang="en-US" sz="2800" dirty="0"/>
              <a:t> </a:t>
            </a:r>
            <a:r>
              <a:rPr lang="en-US" sz="2800" dirty="0" err="1"/>
              <a:t>cá</a:t>
            </a:r>
            <a:r>
              <a:rPr lang="en-US" sz="2800" dirty="0"/>
              <a:t> </a:t>
            </a:r>
            <a:r>
              <a:rPr lang="en-US" sz="2800" dirty="0" err="1"/>
              <a:t>trong</a:t>
            </a:r>
            <a:r>
              <a:rPr lang="en-US" sz="2800" dirty="0"/>
              <a:t> </a:t>
            </a:r>
            <a:r>
              <a:rPr lang="en-US" sz="2800" dirty="0" err="1"/>
              <a:t>hồ</a:t>
            </a:r>
            <a:r>
              <a:rPr lang="en-US" sz="2800" dirty="0"/>
              <a:t> </a:t>
            </a:r>
            <a:r>
              <a:rPr lang="en-US" sz="2800" dirty="0" err="1"/>
              <a:t>với</a:t>
            </a:r>
            <a:r>
              <a:rPr lang="en-US" sz="2800" dirty="0"/>
              <a:t> </a:t>
            </a:r>
            <a:r>
              <a:rPr lang="en-US" sz="2800" dirty="0" err="1"/>
              <a:t>độ</a:t>
            </a:r>
            <a:r>
              <a:rPr lang="en-US" sz="2800" dirty="0"/>
              <a:t> tin </a:t>
            </a:r>
            <a:r>
              <a:rPr lang="en-US" sz="2800" dirty="0" err="1"/>
              <a:t>cậy</a:t>
            </a:r>
            <a:r>
              <a:rPr lang="en-US" sz="2800" dirty="0"/>
              <a:t> 95%.</a:t>
            </a:r>
          </a:p>
        </p:txBody>
      </p:sp>
    </p:spTree>
    <p:extLst>
      <p:ext uri="{BB962C8B-B14F-4D97-AF65-F5344CB8AC3E}">
        <p14:creationId xmlns:p14="http://schemas.microsoft.com/office/powerpoint/2010/main" val="3229375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tương tự</a:t>
            </a:r>
          </a:p>
        </p:txBody>
      </p:sp>
      <p:sp>
        <p:nvSpPr>
          <p:cNvPr id="3" name="Content Placeholder 2"/>
          <p:cNvSpPr>
            <a:spLocks noGrp="1"/>
          </p:cNvSpPr>
          <p:nvPr>
            <p:ph idx="1"/>
          </p:nvPr>
        </p:nvSpPr>
        <p:spPr>
          <a:xfrm>
            <a:off x="457200" y="1219200"/>
            <a:ext cx="8229600" cy="4800600"/>
          </a:xfrm>
        </p:spPr>
        <p:txBody>
          <a:bodyPr>
            <a:noAutofit/>
          </a:bodyPr>
          <a:lstStyle/>
          <a:p>
            <a:r>
              <a:rPr lang="en-US" sz="2800" dirty="0" err="1"/>
              <a:t>Một</a:t>
            </a:r>
            <a:r>
              <a:rPr lang="en-US" sz="2800" dirty="0"/>
              <a:t> </a:t>
            </a:r>
            <a:r>
              <a:rPr lang="en-US" sz="2800" dirty="0" err="1"/>
              <a:t>nhà</a:t>
            </a:r>
            <a:r>
              <a:rPr lang="en-US" sz="2800" dirty="0"/>
              <a:t> </a:t>
            </a:r>
            <a:r>
              <a:rPr lang="en-US" sz="2800" dirty="0" err="1"/>
              <a:t>sản</a:t>
            </a:r>
            <a:r>
              <a:rPr lang="en-US" sz="2800" dirty="0"/>
              <a:t> </a:t>
            </a:r>
            <a:r>
              <a:rPr lang="en-US" sz="2800" dirty="0" err="1"/>
              <a:t>xuất</a:t>
            </a:r>
            <a:r>
              <a:rPr lang="en-US" sz="2800" dirty="0"/>
              <a:t> </a:t>
            </a:r>
            <a:r>
              <a:rPr lang="en-US" sz="2800" dirty="0" err="1"/>
              <a:t>que</a:t>
            </a:r>
            <a:r>
              <a:rPr lang="en-US" sz="2800" dirty="0"/>
              <a:t> </a:t>
            </a:r>
            <a:r>
              <a:rPr lang="en-US" sz="2800" dirty="0" err="1"/>
              <a:t>diêm</a:t>
            </a:r>
            <a:r>
              <a:rPr lang="en-US" sz="2800" dirty="0"/>
              <a:t> </a:t>
            </a:r>
            <a:r>
              <a:rPr lang="en-US" sz="2800" dirty="0" err="1"/>
              <a:t>tuyên</a:t>
            </a:r>
            <a:r>
              <a:rPr lang="en-US" sz="2800" dirty="0"/>
              <a:t> </a:t>
            </a:r>
            <a:r>
              <a:rPr lang="en-US" sz="2800" dirty="0" err="1"/>
              <a:t>bố</a:t>
            </a:r>
            <a:r>
              <a:rPr lang="en-US" sz="2800" dirty="0"/>
              <a:t> </a:t>
            </a:r>
            <a:r>
              <a:rPr lang="en-US" sz="2800" dirty="0" err="1"/>
              <a:t>rằng</a:t>
            </a:r>
            <a:r>
              <a:rPr lang="en-US" sz="2800" dirty="0"/>
              <a:t> 80% </a:t>
            </a:r>
            <a:r>
              <a:rPr lang="en-US" sz="2800" dirty="0" err="1"/>
              <a:t>những</a:t>
            </a:r>
            <a:r>
              <a:rPr lang="en-US" sz="2800" dirty="0"/>
              <a:t> </a:t>
            </a:r>
            <a:r>
              <a:rPr lang="en-US" sz="2800" dirty="0" err="1"/>
              <a:t>hộp</a:t>
            </a:r>
            <a:r>
              <a:rPr lang="en-US" sz="2800" dirty="0"/>
              <a:t> </a:t>
            </a:r>
            <a:r>
              <a:rPr lang="en-US" sz="2800" dirty="0" err="1"/>
              <a:t>diêm</a:t>
            </a:r>
            <a:r>
              <a:rPr lang="en-US" sz="2800" dirty="0"/>
              <a:t> do </a:t>
            </a:r>
            <a:r>
              <a:rPr lang="en-US" sz="2800" dirty="0" err="1"/>
              <a:t>họ</a:t>
            </a:r>
            <a:r>
              <a:rPr lang="en-US" sz="2800" dirty="0"/>
              <a:t> </a:t>
            </a:r>
            <a:r>
              <a:rPr lang="en-US" sz="2800" dirty="0" err="1"/>
              <a:t>sản</a:t>
            </a:r>
            <a:r>
              <a:rPr lang="en-US" sz="2800" dirty="0"/>
              <a:t> </a:t>
            </a:r>
            <a:r>
              <a:rPr lang="en-US" sz="2800" dirty="0" err="1"/>
              <a:t>xuất</a:t>
            </a:r>
            <a:r>
              <a:rPr lang="en-US" sz="2800" dirty="0"/>
              <a:t> </a:t>
            </a:r>
            <a:r>
              <a:rPr lang="en-US" sz="2800" dirty="0" err="1"/>
              <a:t>có</a:t>
            </a:r>
            <a:r>
              <a:rPr lang="en-US" sz="2800" dirty="0"/>
              <a:t> </a:t>
            </a:r>
            <a:r>
              <a:rPr lang="en-US" sz="2800" dirty="0" err="1">
                <a:solidFill>
                  <a:srgbClr val="7030A0"/>
                </a:solidFill>
              </a:rPr>
              <a:t>không</a:t>
            </a:r>
            <a:r>
              <a:rPr lang="en-US" sz="2800" dirty="0">
                <a:solidFill>
                  <a:srgbClr val="7030A0"/>
                </a:solidFill>
              </a:rPr>
              <a:t> </a:t>
            </a:r>
            <a:r>
              <a:rPr lang="en-US" sz="2800" dirty="0" err="1">
                <a:solidFill>
                  <a:srgbClr val="7030A0"/>
                </a:solidFill>
              </a:rPr>
              <a:t>ít</a:t>
            </a:r>
            <a:r>
              <a:rPr lang="en-US" sz="2800" dirty="0">
                <a:solidFill>
                  <a:srgbClr val="7030A0"/>
                </a:solidFill>
              </a:rPr>
              <a:t> </a:t>
            </a:r>
            <a:r>
              <a:rPr lang="en-US" sz="2800" dirty="0" err="1">
                <a:solidFill>
                  <a:srgbClr val="7030A0"/>
                </a:solidFill>
              </a:rPr>
              <a:t>hơn</a:t>
            </a:r>
            <a:r>
              <a:rPr lang="en-US" sz="2800" dirty="0">
                <a:solidFill>
                  <a:srgbClr val="7030A0"/>
                </a:solidFill>
              </a:rPr>
              <a:t> 50 </a:t>
            </a:r>
            <a:r>
              <a:rPr lang="en-US" sz="2800" dirty="0" err="1">
                <a:solidFill>
                  <a:srgbClr val="7030A0"/>
                </a:solidFill>
              </a:rPr>
              <a:t>que</a:t>
            </a:r>
            <a:r>
              <a:rPr lang="en-US" sz="2800" dirty="0">
                <a:solidFill>
                  <a:srgbClr val="7030A0"/>
                </a:solidFill>
              </a:rPr>
              <a:t> </a:t>
            </a:r>
            <a:r>
              <a:rPr lang="en-US" sz="2800" dirty="0" err="1">
                <a:solidFill>
                  <a:srgbClr val="7030A0"/>
                </a:solidFill>
              </a:rPr>
              <a:t>diêm</a:t>
            </a:r>
            <a:r>
              <a:rPr lang="en-US" sz="2800" dirty="0"/>
              <a:t>.</a:t>
            </a:r>
          </a:p>
          <a:p>
            <a:r>
              <a:rPr lang="en-US" sz="2800" dirty="0" err="1"/>
              <a:t>Để</a:t>
            </a:r>
            <a:r>
              <a:rPr lang="en-US" sz="2800" dirty="0"/>
              <a:t> </a:t>
            </a:r>
            <a:r>
              <a:rPr lang="en-US" sz="2800" dirty="0" err="1"/>
              <a:t>kiểm</a:t>
            </a:r>
            <a:r>
              <a:rPr lang="en-US" sz="2800" dirty="0"/>
              <a:t> </a:t>
            </a:r>
            <a:r>
              <a:rPr lang="en-US" sz="2800" dirty="0" err="1"/>
              <a:t>chứng</a:t>
            </a:r>
            <a:r>
              <a:rPr lang="en-US" sz="2800" dirty="0"/>
              <a:t> </a:t>
            </a:r>
            <a:r>
              <a:rPr lang="en-US" sz="2800" dirty="0" err="1"/>
              <a:t>điều</a:t>
            </a:r>
            <a:r>
              <a:rPr lang="en-US" sz="2800" dirty="0"/>
              <a:t> </a:t>
            </a:r>
            <a:r>
              <a:rPr lang="en-US" sz="2800" dirty="0" err="1"/>
              <a:t>này</a:t>
            </a:r>
            <a:r>
              <a:rPr lang="en-US" sz="2800" dirty="0"/>
              <a:t> </a:t>
            </a:r>
            <a:r>
              <a:rPr lang="en-US" sz="2800" dirty="0" err="1"/>
              <a:t>một</a:t>
            </a:r>
            <a:r>
              <a:rPr lang="en-US" sz="2800" dirty="0"/>
              <a:t> </a:t>
            </a:r>
            <a:r>
              <a:rPr lang="en-US" sz="2800" dirty="0" err="1"/>
              <a:t>khác</a:t>
            </a:r>
            <a:r>
              <a:rPr lang="en-US" sz="2800" dirty="0"/>
              <a:t> </a:t>
            </a:r>
            <a:r>
              <a:rPr lang="en-US" sz="2800" dirty="0" err="1"/>
              <a:t>hàng</a:t>
            </a:r>
            <a:r>
              <a:rPr lang="en-US" sz="2800" dirty="0"/>
              <a:t> </a:t>
            </a:r>
            <a:r>
              <a:rPr lang="en-US" sz="2800" dirty="0" err="1">
                <a:solidFill>
                  <a:srgbClr val="0070C0"/>
                </a:solidFill>
              </a:rPr>
              <a:t>chọn</a:t>
            </a:r>
            <a:r>
              <a:rPr lang="en-US" sz="2800" dirty="0">
                <a:solidFill>
                  <a:srgbClr val="0070C0"/>
                </a:solidFill>
              </a:rPr>
              <a:t> </a:t>
            </a:r>
            <a:r>
              <a:rPr lang="en-US" sz="2800" dirty="0" err="1">
                <a:solidFill>
                  <a:srgbClr val="0070C0"/>
                </a:solidFill>
              </a:rPr>
              <a:t>ngẫu</a:t>
            </a:r>
            <a:r>
              <a:rPr lang="en-US" sz="2800" dirty="0">
                <a:solidFill>
                  <a:srgbClr val="0070C0"/>
                </a:solidFill>
              </a:rPr>
              <a:t> </a:t>
            </a:r>
            <a:r>
              <a:rPr lang="en-US" sz="2800" dirty="0" err="1">
                <a:solidFill>
                  <a:srgbClr val="0070C0"/>
                </a:solidFill>
              </a:rPr>
              <a:t>nhiên</a:t>
            </a:r>
            <a:r>
              <a:rPr lang="en-US" sz="2800" dirty="0">
                <a:solidFill>
                  <a:srgbClr val="0070C0"/>
                </a:solidFill>
              </a:rPr>
              <a:t> 250 </a:t>
            </a:r>
            <a:r>
              <a:rPr lang="en-US" sz="2800" dirty="0" err="1">
                <a:solidFill>
                  <a:srgbClr val="0070C0"/>
                </a:solidFill>
              </a:rPr>
              <a:t>hộp</a:t>
            </a:r>
            <a:r>
              <a:rPr lang="en-US" sz="2800" dirty="0">
                <a:solidFill>
                  <a:srgbClr val="0070C0"/>
                </a:solidFill>
              </a:rPr>
              <a:t> </a:t>
            </a:r>
            <a:r>
              <a:rPr lang="en-US" sz="2800" dirty="0" err="1">
                <a:solidFill>
                  <a:srgbClr val="0070C0"/>
                </a:solidFill>
              </a:rPr>
              <a:t>diêm</a:t>
            </a:r>
            <a:r>
              <a:rPr lang="en-US" sz="2800" dirty="0"/>
              <a:t> </a:t>
            </a:r>
            <a:r>
              <a:rPr lang="en-US" sz="2800" dirty="0" err="1"/>
              <a:t>và</a:t>
            </a:r>
            <a:r>
              <a:rPr lang="en-US" sz="2800" dirty="0"/>
              <a:t> </a:t>
            </a:r>
            <a:r>
              <a:rPr lang="en-US" sz="2800" dirty="0" err="1"/>
              <a:t>thấy</a:t>
            </a:r>
            <a:r>
              <a:rPr lang="en-US" sz="2800" dirty="0"/>
              <a:t> </a:t>
            </a:r>
            <a:r>
              <a:rPr lang="en-US" sz="2800" dirty="0" err="1"/>
              <a:t>rằng</a:t>
            </a:r>
            <a:r>
              <a:rPr lang="en-US" sz="2800" dirty="0"/>
              <a:t> </a:t>
            </a:r>
            <a:r>
              <a:rPr lang="en-US" sz="2800" dirty="0" err="1">
                <a:solidFill>
                  <a:srgbClr val="7030A0"/>
                </a:solidFill>
              </a:rPr>
              <a:t>chỉ</a:t>
            </a:r>
            <a:r>
              <a:rPr lang="en-US" sz="2800" dirty="0">
                <a:solidFill>
                  <a:srgbClr val="7030A0"/>
                </a:solidFill>
              </a:rPr>
              <a:t> </a:t>
            </a:r>
            <a:r>
              <a:rPr lang="en-US" sz="2800" dirty="0" err="1">
                <a:solidFill>
                  <a:srgbClr val="7030A0"/>
                </a:solidFill>
              </a:rPr>
              <a:t>có</a:t>
            </a:r>
            <a:r>
              <a:rPr lang="en-US" sz="2800" dirty="0">
                <a:solidFill>
                  <a:srgbClr val="7030A0"/>
                </a:solidFill>
              </a:rPr>
              <a:t> 183 </a:t>
            </a:r>
            <a:r>
              <a:rPr lang="en-US" sz="2800" dirty="0" err="1">
                <a:solidFill>
                  <a:srgbClr val="7030A0"/>
                </a:solidFill>
              </a:rPr>
              <a:t>hộp</a:t>
            </a:r>
            <a:r>
              <a:rPr lang="en-US" sz="2800" dirty="0">
                <a:solidFill>
                  <a:srgbClr val="7030A0"/>
                </a:solidFill>
              </a:rPr>
              <a:t> </a:t>
            </a:r>
            <a:r>
              <a:rPr lang="en-US" sz="2800" dirty="0" err="1">
                <a:solidFill>
                  <a:srgbClr val="7030A0"/>
                </a:solidFill>
              </a:rPr>
              <a:t>có</a:t>
            </a:r>
            <a:r>
              <a:rPr lang="en-US" sz="2800" dirty="0">
                <a:solidFill>
                  <a:srgbClr val="7030A0"/>
                </a:solidFill>
              </a:rPr>
              <a:t> </a:t>
            </a:r>
            <a:r>
              <a:rPr lang="en-US" sz="2800" dirty="0" err="1">
                <a:solidFill>
                  <a:srgbClr val="7030A0"/>
                </a:solidFill>
              </a:rPr>
              <a:t>từ</a:t>
            </a:r>
            <a:r>
              <a:rPr lang="en-US" sz="2800" dirty="0">
                <a:solidFill>
                  <a:srgbClr val="7030A0"/>
                </a:solidFill>
              </a:rPr>
              <a:t> 50 </a:t>
            </a:r>
            <a:r>
              <a:rPr lang="en-US" sz="2800" dirty="0" err="1">
                <a:solidFill>
                  <a:srgbClr val="7030A0"/>
                </a:solidFill>
              </a:rPr>
              <a:t>que</a:t>
            </a:r>
            <a:r>
              <a:rPr lang="en-US" sz="2800" dirty="0">
                <a:solidFill>
                  <a:srgbClr val="7030A0"/>
                </a:solidFill>
              </a:rPr>
              <a:t> </a:t>
            </a:r>
            <a:r>
              <a:rPr lang="en-US" sz="2800" dirty="0" err="1">
                <a:solidFill>
                  <a:srgbClr val="7030A0"/>
                </a:solidFill>
              </a:rPr>
              <a:t>diêm</a:t>
            </a:r>
            <a:r>
              <a:rPr lang="en-US" sz="2800" dirty="0">
                <a:solidFill>
                  <a:srgbClr val="7030A0"/>
                </a:solidFill>
              </a:rPr>
              <a:t> </a:t>
            </a:r>
            <a:r>
              <a:rPr lang="en-US" sz="2800" dirty="0" err="1">
                <a:solidFill>
                  <a:srgbClr val="7030A0"/>
                </a:solidFill>
              </a:rPr>
              <a:t>trở</a:t>
            </a:r>
            <a:r>
              <a:rPr lang="en-US" sz="2800" dirty="0">
                <a:solidFill>
                  <a:srgbClr val="7030A0"/>
                </a:solidFill>
              </a:rPr>
              <a:t> </a:t>
            </a:r>
            <a:r>
              <a:rPr lang="en-US" sz="2800" dirty="0" err="1">
                <a:solidFill>
                  <a:srgbClr val="7030A0"/>
                </a:solidFill>
              </a:rPr>
              <a:t>lên</a:t>
            </a:r>
            <a:r>
              <a:rPr lang="en-US" sz="2800" dirty="0">
                <a:solidFill>
                  <a:srgbClr val="7030A0"/>
                </a:solidFill>
              </a:rPr>
              <a:t>.</a:t>
            </a:r>
          </a:p>
          <a:p>
            <a:pPr marL="514350" indent="-514350">
              <a:buAutoNum type="alphaLcParenR"/>
            </a:pPr>
            <a:r>
              <a:rPr lang="en-US" sz="2800" dirty="0" err="1"/>
              <a:t>Tìm</a:t>
            </a:r>
            <a:r>
              <a:rPr lang="en-US" sz="2800" dirty="0"/>
              <a:t> </a:t>
            </a:r>
            <a:r>
              <a:rPr lang="en-US" sz="2800" dirty="0" err="1">
                <a:solidFill>
                  <a:srgbClr val="C00000"/>
                </a:solidFill>
              </a:rPr>
              <a:t>khoảng</a:t>
            </a:r>
            <a:r>
              <a:rPr lang="en-US" sz="2800" dirty="0">
                <a:solidFill>
                  <a:srgbClr val="C00000"/>
                </a:solidFill>
              </a:rPr>
              <a:t> tin </a:t>
            </a:r>
            <a:r>
              <a:rPr lang="en-US" sz="2800" dirty="0" err="1">
                <a:solidFill>
                  <a:srgbClr val="C00000"/>
                </a:solidFill>
              </a:rPr>
              <a:t>cậy</a:t>
            </a:r>
            <a:r>
              <a:rPr lang="en-US" sz="2800" dirty="0">
                <a:solidFill>
                  <a:srgbClr val="C00000"/>
                </a:solidFill>
              </a:rPr>
              <a:t> </a:t>
            </a:r>
            <a:r>
              <a:rPr lang="en-US" sz="2800" dirty="0" err="1">
                <a:solidFill>
                  <a:srgbClr val="C00000"/>
                </a:solidFill>
              </a:rPr>
              <a:t>của</a:t>
            </a:r>
            <a:r>
              <a:rPr lang="en-US" sz="2800" dirty="0">
                <a:solidFill>
                  <a:srgbClr val="C00000"/>
                </a:solidFill>
              </a:rPr>
              <a:t> </a:t>
            </a:r>
            <a:r>
              <a:rPr lang="en-US" sz="2800" dirty="0" err="1">
                <a:solidFill>
                  <a:srgbClr val="C00000"/>
                </a:solidFill>
              </a:rPr>
              <a:t>tỷ</a:t>
            </a:r>
            <a:r>
              <a:rPr lang="en-US" sz="2800" dirty="0">
                <a:solidFill>
                  <a:srgbClr val="C00000"/>
                </a:solidFill>
              </a:rPr>
              <a:t> </a:t>
            </a:r>
            <a:r>
              <a:rPr lang="en-US" sz="2800" dirty="0" err="1">
                <a:solidFill>
                  <a:srgbClr val="C00000"/>
                </a:solidFill>
              </a:rPr>
              <a:t>lệ</a:t>
            </a:r>
            <a:r>
              <a:rPr lang="en-US" sz="2800" dirty="0">
                <a:solidFill>
                  <a:srgbClr val="C00000"/>
                </a:solidFill>
              </a:rPr>
              <a:t> </a:t>
            </a:r>
            <a:r>
              <a:rPr lang="en-US" sz="2800" dirty="0" err="1">
                <a:solidFill>
                  <a:srgbClr val="C00000"/>
                </a:solidFill>
              </a:rPr>
              <a:t>những</a:t>
            </a:r>
            <a:r>
              <a:rPr lang="en-US" sz="2800" dirty="0">
                <a:solidFill>
                  <a:srgbClr val="C00000"/>
                </a:solidFill>
              </a:rPr>
              <a:t> </a:t>
            </a:r>
            <a:r>
              <a:rPr lang="en-US" sz="2800" dirty="0" err="1">
                <a:solidFill>
                  <a:srgbClr val="C00000"/>
                </a:solidFill>
              </a:rPr>
              <a:t>hộp</a:t>
            </a:r>
            <a:r>
              <a:rPr lang="en-US" sz="2800" dirty="0">
                <a:solidFill>
                  <a:srgbClr val="C00000"/>
                </a:solidFill>
              </a:rPr>
              <a:t> </a:t>
            </a:r>
            <a:r>
              <a:rPr lang="en-US" sz="2800" dirty="0" err="1">
                <a:solidFill>
                  <a:srgbClr val="C00000"/>
                </a:solidFill>
              </a:rPr>
              <a:t>đạt</a:t>
            </a:r>
            <a:r>
              <a:rPr lang="en-US" sz="2800" dirty="0">
                <a:solidFill>
                  <a:srgbClr val="C00000"/>
                </a:solidFill>
              </a:rPr>
              <a:t> </a:t>
            </a:r>
            <a:r>
              <a:rPr lang="en-US" sz="2800" dirty="0" err="1">
                <a:solidFill>
                  <a:srgbClr val="C00000"/>
                </a:solidFill>
              </a:rPr>
              <a:t>tiêu</a:t>
            </a:r>
            <a:r>
              <a:rPr lang="en-US" sz="2800" dirty="0">
                <a:solidFill>
                  <a:srgbClr val="C00000"/>
                </a:solidFill>
              </a:rPr>
              <a:t> </a:t>
            </a:r>
            <a:r>
              <a:rPr lang="en-US" sz="2800" dirty="0" err="1">
                <a:solidFill>
                  <a:srgbClr val="C00000"/>
                </a:solidFill>
              </a:rPr>
              <a:t>chuẩn</a:t>
            </a:r>
            <a:r>
              <a:rPr lang="en-US" sz="2800" dirty="0">
                <a:solidFill>
                  <a:srgbClr val="C00000"/>
                </a:solidFill>
              </a:rPr>
              <a:t> </a:t>
            </a:r>
            <a:r>
              <a:rPr lang="en-US" sz="2800" dirty="0" err="1"/>
              <a:t>mà</a:t>
            </a:r>
            <a:r>
              <a:rPr lang="en-US" sz="2800" dirty="0"/>
              <a:t> NSX </a:t>
            </a:r>
            <a:r>
              <a:rPr lang="en-US" sz="2800" dirty="0" err="1"/>
              <a:t>tuyên</a:t>
            </a:r>
            <a:r>
              <a:rPr lang="en-US" sz="2800" dirty="0"/>
              <a:t> </a:t>
            </a:r>
            <a:r>
              <a:rPr lang="en-US" sz="2800" dirty="0" err="1"/>
              <a:t>bố</a:t>
            </a:r>
            <a:r>
              <a:rPr lang="en-US" sz="2800" dirty="0"/>
              <a:t> </a:t>
            </a:r>
            <a:r>
              <a:rPr lang="en-US" sz="2800" dirty="0" err="1"/>
              <a:t>với</a:t>
            </a:r>
            <a:r>
              <a:rPr lang="en-US" sz="2800" dirty="0"/>
              <a:t> </a:t>
            </a:r>
            <a:r>
              <a:rPr lang="en-US" sz="2800" dirty="0" err="1">
                <a:solidFill>
                  <a:srgbClr val="00B050"/>
                </a:solidFill>
              </a:rPr>
              <a:t>độ</a:t>
            </a:r>
            <a:r>
              <a:rPr lang="en-US" sz="2800" dirty="0">
                <a:solidFill>
                  <a:srgbClr val="00B050"/>
                </a:solidFill>
              </a:rPr>
              <a:t> tin </a:t>
            </a:r>
            <a:r>
              <a:rPr lang="en-US" sz="2800" dirty="0" err="1">
                <a:solidFill>
                  <a:srgbClr val="00B050"/>
                </a:solidFill>
              </a:rPr>
              <a:t>cậy</a:t>
            </a:r>
            <a:r>
              <a:rPr lang="en-US" sz="2800" dirty="0">
                <a:solidFill>
                  <a:srgbClr val="00B050"/>
                </a:solidFill>
              </a:rPr>
              <a:t> 98%.</a:t>
            </a:r>
          </a:p>
          <a:p>
            <a:pPr marL="514350" indent="-514350">
              <a:buAutoNum type="alphaLcParenR"/>
            </a:pPr>
            <a:r>
              <a:rPr lang="en-US" sz="2800" dirty="0" err="1"/>
              <a:t>Với</a:t>
            </a:r>
            <a:r>
              <a:rPr lang="en-US" sz="2800" dirty="0"/>
              <a:t> </a:t>
            </a:r>
            <a:r>
              <a:rPr lang="en-US" sz="2800" dirty="0" err="1"/>
              <a:t>số</a:t>
            </a:r>
            <a:r>
              <a:rPr lang="en-US" sz="2800" dirty="0"/>
              <a:t> </a:t>
            </a:r>
            <a:r>
              <a:rPr lang="en-US" sz="2800" dirty="0" err="1"/>
              <a:t>liệu</a:t>
            </a:r>
            <a:r>
              <a:rPr lang="en-US" sz="2800" dirty="0"/>
              <a:t> </a:t>
            </a:r>
            <a:r>
              <a:rPr lang="en-US" sz="2800" dirty="0" err="1"/>
              <a:t>trên</a:t>
            </a:r>
            <a:r>
              <a:rPr lang="en-US" sz="2800" dirty="0"/>
              <a:t>, </a:t>
            </a:r>
            <a:r>
              <a:rPr lang="en-US" sz="2800" dirty="0" err="1"/>
              <a:t>bạn</a:t>
            </a:r>
            <a:r>
              <a:rPr lang="en-US" sz="2800" dirty="0"/>
              <a:t> </a:t>
            </a:r>
            <a:r>
              <a:rPr lang="en-US" sz="2800" dirty="0" err="1"/>
              <a:t>nhận</a:t>
            </a:r>
            <a:r>
              <a:rPr lang="en-US" sz="2800" dirty="0"/>
              <a:t> </a:t>
            </a:r>
            <a:r>
              <a:rPr lang="en-US" sz="2800" dirty="0" err="1"/>
              <a:t>xét</a:t>
            </a:r>
            <a:r>
              <a:rPr lang="en-US" sz="2800" dirty="0"/>
              <a:t> </a:t>
            </a:r>
            <a:r>
              <a:rPr lang="en-US" sz="2800" dirty="0" err="1"/>
              <a:t>gì</a:t>
            </a:r>
            <a:r>
              <a:rPr lang="en-US" sz="2800" dirty="0"/>
              <a:t> </a:t>
            </a:r>
            <a:r>
              <a:rPr lang="en-US" sz="2800" dirty="0" err="1"/>
              <a:t>về</a:t>
            </a:r>
            <a:r>
              <a:rPr lang="en-US" sz="2800" dirty="0"/>
              <a:t> </a:t>
            </a:r>
            <a:r>
              <a:rPr lang="en-US" sz="2800" dirty="0" err="1"/>
              <a:t>lời</a:t>
            </a:r>
            <a:r>
              <a:rPr lang="en-US" sz="2800" dirty="0"/>
              <a:t> </a:t>
            </a:r>
            <a:r>
              <a:rPr lang="en-US" sz="2800" dirty="0" err="1"/>
              <a:t>tuyên</a:t>
            </a:r>
            <a:r>
              <a:rPr lang="en-US" sz="2800" dirty="0"/>
              <a:t> </a:t>
            </a:r>
            <a:r>
              <a:rPr lang="en-US" sz="2800" dirty="0" err="1"/>
              <a:t>bố</a:t>
            </a:r>
            <a:r>
              <a:rPr lang="en-US" sz="2800" dirty="0"/>
              <a:t> </a:t>
            </a:r>
            <a:r>
              <a:rPr lang="en-US" sz="2800" dirty="0" err="1"/>
              <a:t>của</a:t>
            </a:r>
            <a:r>
              <a:rPr lang="en-US" sz="2800" dirty="0"/>
              <a:t> </a:t>
            </a:r>
            <a:r>
              <a:rPr lang="en-US" sz="2800" dirty="0" err="1"/>
              <a:t>nhà</a:t>
            </a:r>
            <a:r>
              <a:rPr lang="en-US" sz="2800" dirty="0"/>
              <a:t> </a:t>
            </a:r>
            <a:r>
              <a:rPr lang="en-US" sz="2800" dirty="0" err="1"/>
              <a:t>sản</a:t>
            </a:r>
            <a:r>
              <a:rPr lang="en-US" sz="2800" dirty="0"/>
              <a:t> </a:t>
            </a:r>
            <a:r>
              <a:rPr lang="en-US" sz="2800" dirty="0" err="1"/>
              <a:t>xuất</a:t>
            </a:r>
            <a:r>
              <a:rPr lang="en-US" sz="2800"/>
              <a:t> ?</a:t>
            </a:r>
            <a:endParaRPr lang="en-US" sz="2800" dirty="0"/>
          </a:p>
        </p:txBody>
      </p:sp>
    </p:spTree>
    <p:extLst>
      <p:ext uri="{BB962C8B-B14F-4D97-AF65-F5344CB8AC3E}">
        <p14:creationId xmlns:p14="http://schemas.microsoft.com/office/powerpoint/2010/main" val="223661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36180" y="76200"/>
            <a:ext cx="8403020" cy="685800"/>
          </a:xfrm>
        </p:spPr>
        <p:txBody>
          <a:bodyPr/>
          <a:lstStyle/>
          <a:p>
            <a:r>
              <a:rPr lang="en-US" dirty="0" err="1"/>
              <a:t>Đánh</a:t>
            </a:r>
            <a:r>
              <a:rPr lang="en-US" dirty="0"/>
              <a:t> </a:t>
            </a:r>
            <a:r>
              <a:rPr lang="en-US" dirty="0" err="1"/>
              <a:t>giá</a:t>
            </a:r>
            <a:r>
              <a:rPr lang="en-US" dirty="0"/>
              <a:t> </a:t>
            </a:r>
            <a:r>
              <a:rPr lang="en-US" dirty="0" err="1"/>
              <a:t>sai</a:t>
            </a:r>
            <a:r>
              <a:rPr lang="en-US" dirty="0"/>
              <a:t> </a:t>
            </a:r>
            <a:r>
              <a:rPr lang="en-US" dirty="0" err="1"/>
              <a:t>số</a:t>
            </a:r>
            <a:r>
              <a:rPr lang="en-US" dirty="0"/>
              <a:t> </a:t>
            </a:r>
            <a:r>
              <a:rPr lang="en-US" dirty="0" err="1"/>
              <a:t>của</a:t>
            </a:r>
            <a:r>
              <a:rPr lang="en-US" dirty="0"/>
              <a:t> </a:t>
            </a:r>
            <a:r>
              <a:rPr lang="en-US" dirty="0" err="1"/>
              <a:t>bài</a:t>
            </a:r>
            <a:r>
              <a:rPr lang="en-US" dirty="0"/>
              <a:t> </a:t>
            </a:r>
            <a:r>
              <a:rPr lang="en-US" dirty="0" err="1"/>
              <a:t>toán</a:t>
            </a:r>
            <a:r>
              <a:rPr lang="en-US" dirty="0"/>
              <a:t> </a:t>
            </a:r>
            <a:r>
              <a:rPr lang="en-US" dirty="0" err="1"/>
              <a:t>ước</a:t>
            </a:r>
            <a:r>
              <a:rPr lang="en-US" dirty="0"/>
              <a:t> </a:t>
            </a:r>
            <a:r>
              <a:rPr lang="en-US" dirty="0" err="1"/>
              <a:t>lượng</a:t>
            </a:r>
            <a:r>
              <a:rPr lang="en-US" dirty="0"/>
              <a:t> </a:t>
            </a:r>
            <a:r>
              <a:rPr lang="en-US" dirty="0" err="1"/>
              <a:t>tỉ</a:t>
            </a:r>
            <a:r>
              <a:rPr lang="en-US" dirty="0"/>
              <a:t> </a:t>
            </a:r>
            <a:r>
              <a:rPr lang="en-US" dirty="0" err="1"/>
              <a:t>lệ</a:t>
            </a:r>
            <a:endParaRPr lang="en-US" dirty="0"/>
          </a:p>
        </p:txBody>
      </p:sp>
      <p:graphicFrame>
        <p:nvGraphicFramePr>
          <p:cNvPr id="5" name="Object 4"/>
          <p:cNvGraphicFramePr>
            <a:graphicFrameLocks noChangeAspect="1"/>
          </p:cNvGraphicFramePr>
          <p:nvPr/>
        </p:nvGraphicFramePr>
        <p:xfrm>
          <a:off x="2057400" y="1179513"/>
          <a:ext cx="4794777" cy="1106487"/>
        </p:xfrm>
        <a:graphic>
          <a:graphicData uri="http://schemas.openxmlformats.org/presentationml/2006/ole">
            <mc:AlternateContent xmlns:mc="http://schemas.openxmlformats.org/markup-compatibility/2006">
              <mc:Choice xmlns:v="urn:schemas-microsoft-com:vml" Requires="v">
                <p:oleObj name="Equation" r:id="rId2" imgW="1981080" imgH="457200" progId="Equation.DSMT4">
                  <p:embed/>
                </p:oleObj>
              </mc:Choice>
              <mc:Fallback>
                <p:oleObj name="Equation" r:id="rId2" imgW="1981080" imgH="457200" progId="Equation.DSMT4">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179513"/>
                        <a:ext cx="4794777" cy="1106487"/>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609600" y="3137118"/>
            <a:ext cx="8153400" cy="1815882"/>
          </a:xfrm>
          <a:prstGeom prst="rect">
            <a:avLst/>
          </a:prstGeom>
          <a:noFill/>
        </p:spPr>
        <p:txBody>
          <a:bodyPr wrap="square" rtlCol="0">
            <a:spAutoFit/>
          </a:bodyPr>
          <a:lstStyle/>
          <a:p>
            <a:r>
              <a:rPr lang="en-US" dirty="0"/>
              <a:t>  </a:t>
            </a:r>
            <a:r>
              <a:rPr lang="en-US" sz="2800" dirty="0" err="1"/>
              <a:t>Vì</a:t>
            </a:r>
            <a:r>
              <a:rPr lang="en-US" sz="2800" dirty="0"/>
              <a:t> </a:t>
            </a:r>
            <a:r>
              <a:rPr lang="en-US" sz="2800" dirty="0" err="1"/>
              <a:t>lí</a:t>
            </a:r>
            <a:r>
              <a:rPr lang="en-US" sz="2800" dirty="0"/>
              <a:t> do </a:t>
            </a:r>
            <a:r>
              <a:rPr lang="en-US" sz="2800" dirty="0" err="1"/>
              <a:t>tài</a:t>
            </a:r>
            <a:r>
              <a:rPr lang="en-US" sz="2800" dirty="0"/>
              <a:t> </a:t>
            </a:r>
            <a:r>
              <a:rPr lang="en-US" sz="2800" dirty="0" err="1"/>
              <a:t>chính</a:t>
            </a:r>
            <a:r>
              <a:rPr lang="en-US" sz="2800" dirty="0"/>
              <a:t>, </a:t>
            </a:r>
            <a:r>
              <a:rPr lang="en-US" sz="2800" dirty="0" err="1"/>
              <a:t>một</a:t>
            </a:r>
            <a:r>
              <a:rPr lang="en-US" sz="2800" dirty="0"/>
              <a:t> </a:t>
            </a:r>
            <a:r>
              <a:rPr lang="en-US" sz="2800" dirty="0" err="1"/>
              <a:t>tờ</a:t>
            </a:r>
            <a:r>
              <a:rPr lang="en-US" sz="2800" dirty="0"/>
              <a:t> </a:t>
            </a:r>
            <a:r>
              <a:rPr lang="en-US" sz="2800" dirty="0" err="1"/>
              <a:t>báo</a:t>
            </a:r>
            <a:r>
              <a:rPr lang="en-US" sz="2800" dirty="0"/>
              <a:t> </a:t>
            </a:r>
            <a:r>
              <a:rPr lang="en-US" sz="2800" dirty="0" err="1"/>
              <a:t>quyết</a:t>
            </a:r>
            <a:r>
              <a:rPr lang="en-US" sz="2800" dirty="0"/>
              <a:t> </a:t>
            </a:r>
            <a:r>
              <a:rPr lang="en-US" sz="2800" dirty="0" err="1"/>
              <a:t>định</a:t>
            </a:r>
            <a:r>
              <a:rPr lang="en-US" sz="2800" dirty="0"/>
              <a:t> </a:t>
            </a:r>
            <a:r>
              <a:rPr lang="en-US" sz="2800" dirty="0" err="1"/>
              <a:t>chỉ</a:t>
            </a:r>
            <a:r>
              <a:rPr lang="en-US" sz="2800" dirty="0"/>
              <a:t> </a:t>
            </a:r>
            <a:r>
              <a:rPr lang="en-US" sz="2800" dirty="0" err="1"/>
              <a:t>khảo</a:t>
            </a:r>
            <a:r>
              <a:rPr lang="en-US" sz="2800" dirty="0"/>
              <a:t> </a:t>
            </a:r>
            <a:r>
              <a:rPr lang="en-US" sz="2800" dirty="0" err="1"/>
              <a:t>sát</a:t>
            </a:r>
            <a:r>
              <a:rPr lang="en-US" sz="2800" dirty="0"/>
              <a:t> 2000 </a:t>
            </a:r>
            <a:r>
              <a:rPr lang="en-US" sz="2800" dirty="0" err="1"/>
              <a:t>cử</a:t>
            </a:r>
            <a:r>
              <a:rPr lang="en-US" sz="2800" dirty="0"/>
              <a:t> tri </a:t>
            </a:r>
            <a:r>
              <a:rPr lang="en-US" sz="2800" dirty="0" err="1"/>
              <a:t>về</a:t>
            </a:r>
            <a:r>
              <a:rPr lang="en-US" sz="2800" dirty="0"/>
              <a:t> </a:t>
            </a:r>
            <a:r>
              <a:rPr lang="en-US" sz="2800" dirty="0" err="1"/>
              <a:t>dự</a:t>
            </a:r>
            <a:r>
              <a:rPr lang="en-US" sz="2800" dirty="0"/>
              <a:t> </a:t>
            </a:r>
            <a:r>
              <a:rPr lang="en-US" sz="2800" dirty="0" err="1"/>
              <a:t>định</a:t>
            </a:r>
            <a:r>
              <a:rPr lang="en-US" sz="2800" dirty="0"/>
              <a:t> </a:t>
            </a:r>
            <a:r>
              <a:rPr lang="en-US" sz="2800" dirty="0" err="1"/>
              <a:t>của</a:t>
            </a:r>
            <a:r>
              <a:rPr lang="en-US" sz="2800" dirty="0"/>
              <a:t> </a:t>
            </a:r>
            <a:r>
              <a:rPr lang="en-US" sz="2800" dirty="0" err="1"/>
              <a:t>họ</a:t>
            </a:r>
            <a:r>
              <a:rPr lang="en-US" sz="2800" dirty="0"/>
              <a:t> </a:t>
            </a:r>
            <a:r>
              <a:rPr lang="en-US" sz="2800" dirty="0" err="1"/>
              <a:t>trong</a:t>
            </a:r>
            <a:r>
              <a:rPr lang="en-US" sz="2800" dirty="0"/>
              <a:t> </a:t>
            </a:r>
            <a:r>
              <a:rPr lang="en-US" sz="2800" dirty="0" err="1"/>
              <a:t>cuộc</a:t>
            </a:r>
            <a:r>
              <a:rPr lang="en-US" sz="2800" dirty="0"/>
              <a:t> </a:t>
            </a:r>
            <a:r>
              <a:rPr lang="en-US" sz="2800" dirty="0" err="1"/>
              <a:t>bầu</a:t>
            </a:r>
            <a:r>
              <a:rPr lang="en-US" sz="2800" dirty="0"/>
              <a:t> </a:t>
            </a:r>
            <a:r>
              <a:rPr lang="en-US" sz="2800" dirty="0" err="1"/>
              <a:t>cử</a:t>
            </a:r>
            <a:r>
              <a:rPr lang="en-US" sz="2800" dirty="0"/>
              <a:t> </a:t>
            </a:r>
            <a:r>
              <a:rPr lang="en-US" sz="2800" dirty="0" err="1"/>
              <a:t>sắp</a:t>
            </a:r>
            <a:r>
              <a:rPr lang="en-US" sz="2800" dirty="0"/>
              <a:t> </a:t>
            </a:r>
            <a:r>
              <a:rPr lang="en-US" sz="2800" dirty="0" err="1"/>
              <a:t>tới</a:t>
            </a:r>
            <a:r>
              <a:rPr lang="en-US" sz="2800" dirty="0"/>
              <a:t>. </a:t>
            </a:r>
            <a:r>
              <a:rPr lang="en-US" sz="2800" dirty="0" err="1"/>
              <a:t>Với</a:t>
            </a:r>
            <a:r>
              <a:rPr lang="en-US" sz="2800" dirty="0"/>
              <a:t> </a:t>
            </a:r>
            <a:r>
              <a:rPr lang="en-US" sz="2800" dirty="0" err="1"/>
              <a:t>độ</a:t>
            </a:r>
            <a:r>
              <a:rPr lang="en-US" sz="2800" dirty="0"/>
              <a:t> tin </a:t>
            </a:r>
            <a:r>
              <a:rPr lang="en-US" sz="2800" dirty="0" err="1"/>
              <a:t>cậy</a:t>
            </a:r>
            <a:r>
              <a:rPr lang="en-US" sz="2800" dirty="0"/>
              <a:t> 95%, </a:t>
            </a:r>
            <a:r>
              <a:rPr lang="en-US" sz="2800" dirty="0" err="1"/>
              <a:t>sai</a:t>
            </a:r>
            <a:r>
              <a:rPr lang="en-US" sz="2800" dirty="0"/>
              <a:t> </a:t>
            </a:r>
            <a:r>
              <a:rPr lang="en-US" sz="2800" dirty="0" err="1"/>
              <a:t>số</a:t>
            </a:r>
            <a:r>
              <a:rPr lang="en-US" sz="2800" dirty="0"/>
              <a:t> </a:t>
            </a:r>
            <a:r>
              <a:rPr lang="en-US" sz="2800" dirty="0" err="1"/>
              <a:t>tối</a:t>
            </a:r>
            <a:r>
              <a:rPr lang="en-US" sz="2800" dirty="0"/>
              <a:t> </a:t>
            </a:r>
            <a:r>
              <a:rPr lang="en-US" sz="2800" dirty="0" err="1"/>
              <a:t>đa</a:t>
            </a:r>
            <a:r>
              <a:rPr lang="en-US" sz="2800" dirty="0"/>
              <a:t> </a:t>
            </a:r>
            <a:r>
              <a:rPr lang="en-US" sz="2800" dirty="0" err="1"/>
              <a:t>khi</a:t>
            </a:r>
            <a:r>
              <a:rPr lang="en-US" sz="2800" dirty="0"/>
              <a:t> </a:t>
            </a:r>
            <a:r>
              <a:rPr lang="en-US" sz="2800" dirty="0" err="1"/>
              <a:t>ước</a:t>
            </a:r>
            <a:r>
              <a:rPr lang="en-US" sz="2800" dirty="0"/>
              <a:t> </a:t>
            </a:r>
            <a:r>
              <a:rPr lang="en-US" sz="2800" dirty="0" err="1"/>
              <a:t>lượng</a:t>
            </a:r>
            <a:r>
              <a:rPr lang="en-US" sz="2800" dirty="0"/>
              <a:t> </a:t>
            </a:r>
            <a:r>
              <a:rPr lang="en-US" sz="2800" dirty="0" err="1"/>
              <a:t>tỷ</a:t>
            </a:r>
            <a:r>
              <a:rPr lang="en-US" sz="2800" dirty="0"/>
              <a:t> </a:t>
            </a:r>
            <a:r>
              <a:rPr lang="en-US" sz="2800" dirty="0" err="1"/>
              <a:t>lệ</a:t>
            </a:r>
            <a:r>
              <a:rPr lang="en-US" sz="2800" dirty="0"/>
              <a:t> </a:t>
            </a:r>
            <a:r>
              <a:rPr lang="en-US" sz="2800" dirty="0" err="1"/>
              <a:t>cử</a:t>
            </a:r>
            <a:r>
              <a:rPr lang="en-US" sz="2800" dirty="0"/>
              <a:t> tri </a:t>
            </a:r>
            <a:r>
              <a:rPr lang="en-US" sz="2800" dirty="0" err="1"/>
              <a:t>bầu</a:t>
            </a:r>
            <a:r>
              <a:rPr lang="en-US" sz="2800" dirty="0"/>
              <a:t> </a:t>
            </a:r>
            <a:r>
              <a:rPr lang="en-US" sz="2800" dirty="0" err="1"/>
              <a:t>cho</a:t>
            </a:r>
            <a:r>
              <a:rPr lang="en-US" sz="2800" dirty="0"/>
              <a:t> </a:t>
            </a:r>
            <a:r>
              <a:rPr lang="en-US" sz="2800" dirty="0" err="1"/>
              <a:t>ứng</a:t>
            </a:r>
            <a:r>
              <a:rPr lang="en-US" sz="2800" dirty="0"/>
              <a:t> </a:t>
            </a:r>
            <a:r>
              <a:rPr lang="en-US" sz="2800" dirty="0" err="1"/>
              <a:t>viên</a:t>
            </a:r>
            <a:r>
              <a:rPr lang="en-US" sz="2800" dirty="0"/>
              <a:t> X </a:t>
            </a:r>
            <a:r>
              <a:rPr lang="en-US" sz="2800" dirty="0" err="1"/>
              <a:t>là</a:t>
            </a:r>
            <a:r>
              <a:rPr lang="en-US" sz="2800" dirty="0"/>
              <a:t> </a:t>
            </a:r>
            <a:r>
              <a:rPr lang="en-US" sz="2800" dirty="0" err="1"/>
              <a:t>bao</a:t>
            </a:r>
            <a:r>
              <a:rPr lang="en-US" sz="2800" dirty="0"/>
              <a:t> </a:t>
            </a:r>
            <a:r>
              <a:rPr lang="en-US" sz="2800" dirty="0" err="1"/>
              <a:t>nhiêu</a:t>
            </a:r>
            <a:r>
              <a:rPr lang="en-US" sz="2800" dirty="0"/>
              <a:t> ?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tương tự</a:t>
            </a:r>
          </a:p>
        </p:txBody>
      </p:sp>
      <p:sp>
        <p:nvSpPr>
          <p:cNvPr id="3" name="Content Placeholder 2"/>
          <p:cNvSpPr>
            <a:spLocks noGrp="1"/>
          </p:cNvSpPr>
          <p:nvPr>
            <p:ph idx="1"/>
          </p:nvPr>
        </p:nvSpPr>
        <p:spPr>
          <a:xfrm>
            <a:off x="457200" y="3352800"/>
            <a:ext cx="8229600" cy="2133600"/>
          </a:xfrm>
        </p:spPr>
        <p:txBody>
          <a:bodyPr>
            <a:normAutofit/>
          </a:bodyPr>
          <a:lstStyle/>
          <a:p>
            <a:pPr marL="0" indent="0">
              <a:buNone/>
            </a:pPr>
            <a:r>
              <a:rPr lang="en-US" sz="2800" dirty="0" err="1"/>
              <a:t>Một</a:t>
            </a:r>
            <a:r>
              <a:rPr lang="en-US" sz="2800" dirty="0"/>
              <a:t> </a:t>
            </a:r>
            <a:r>
              <a:rPr lang="en-US" sz="2800" dirty="0" err="1"/>
              <a:t>nhà</a:t>
            </a:r>
            <a:r>
              <a:rPr lang="en-US" sz="2800" dirty="0"/>
              <a:t> </a:t>
            </a:r>
            <a:r>
              <a:rPr lang="en-US" sz="2800" dirty="0" err="1"/>
              <a:t>nghiên</a:t>
            </a:r>
            <a:r>
              <a:rPr lang="en-US" sz="2800" dirty="0"/>
              <a:t> </a:t>
            </a:r>
            <a:r>
              <a:rPr lang="en-US" sz="2800" dirty="0" err="1"/>
              <a:t>cứu</a:t>
            </a:r>
            <a:r>
              <a:rPr lang="en-US" sz="2800" dirty="0"/>
              <a:t> </a:t>
            </a:r>
            <a:r>
              <a:rPr lang="en-US" sz="2800" dirty="0" err="1"/>
              <a:t>muốn</a:t>
            </a:r>
            <a:r>
              <a:rPr lang="en-US" sz="2800" dirty="0"/>
              <a:t> </a:t>
            </a:r>
            <a:r>
              <a:rPr lang="en-US" sz="2800" dirty="0" err="1"/>
              <a:t>ước</a:t>
            </a:r>
            <a:r>
              <a:rPr lang="en-US" sz="2800" dirty="0"/>
              <a:t> </a:t>
            </a:r>
            <a:r>
              <a:rPr lang="en-US" sz="2800" dirty="0" err="1"/>
              <a:t>lượng</a:t>
            </a:r>
            <a:r>
              <a:rPr lang="en-US" sz="2800" dirty="0"/>
              <a:t> </a:t>
            </a:r>
            <a:r>
              <a:rPr lang="en-US" sz="2800" dirty="0" err="1"/>
              <a:t>tỷ</a:t>
            </a:r>
            <a:r>
              <a:rPr lang="en-US" sz="2800" dirty="0"/>
              <a:t> </a:t>
            </a:r>
            <a:r>
              <a:rPr lang="en-US" sz="2800" dirty="0" err="1"/>
              <a:t>lệ</a:t>
            </a:r>
            <a:r>
              <a:rPr lang="en-US" sz="2800" dirty="0"/>
              <a:t> </a:t>
            </a:r>
            <a:r>
              <a:rPr lang="en-US" sz="2800" dirty="0" err="1"/>
              <a:t>những</a:t>
            </a:r>
            <a:r>
              <a:rPr lang="en-US" sz="2800" dirty="0"/>
              <a:t> con </a:t>
            </a:r>
            <a:r>
              <a:rPr lang="en-US" sz="2800" dirty="0" err="1"/>
              <a:t>muỗi</a:t>
            </a:r>
            <a:r>
              <a:rPr lang="en-US" sz="2800" dirty="0"/>
              <a:t> </a:t>
            </a:r>
            <a:r>
              <a:rPr lang="en-US" sz="2800" dirty="0" err="1"/>
              <a:t>mang</a:t>
            </a:r>
            <a:r>
              <a:rPr lang="en-US" sz="2800" dirty="0"/>
              <a:t> virus </a:t>
            </a:r>
            <a:r>
              <a:rPr lang="en-US" sz="2800" dirty="0" err="1"/>
              <a:t>sốt</a:t>
            </a:r>
            <a:r>
              <a:rPr lang="en-US" sz="2800" dirty="0"/>
              <a:t> </a:t>
            </a:r>
            <a:r>
              <a:rPr lang="en-US" sz="2800" dirty="0" err="1"/>
              <a:t>huyết</a:t>
            </a:r>
            <a:r>
              <a:rPr lang="en-US" sz="2800" dirty="0"/>
              <a:t> </a:t>
            </a:r>
            <a:r>
              <a:rPr lang="en-US" sz="2800" dirty="0" err="1"/>
              <a:t>với</a:t>
            </a:r>
            <a:r>
              <a:rPr lang="en-US" sz="2800" dirty="0"/>
              <a:t> </a:t>
            </a:r>
            <a:r>
              <a:rPr lang="en-US" sz="2800" b="1" i="1" dirty="0" err="1"/>
              <a:t>sai</a:t>
            </a:r>
            <a:r>
              <a:rPr lang="en-US" sz="2800" b="1" i="1" dirty="0"/>
              <a:t> </a:t>
            </a:r>
            <a:r>
              <a:rPr lang="en-US" sz="2800" b="1" i="1" dirty="0" err="1"/>
              <a:t>số</a:t>
            </a:r>
            <a:r>
              <a:rPr lang="en-US" sz="2800" b="1" i="1" dirty="0"/>
              <a:t> </a:t>
            </a:r>
            <a:r>
              <a:rPr lang="en-US" sz="2800" b="1" i="1" dirty="0" err="1"/>
              <a:t>tối</a:t>
            </a:r>
            <a:r>
              <a:rPr lang="en-US" sz="2800" b="1" i="1" dirty="0"/>
              <a:t> </a:t>
            </a:r>
            <a:r>
              <a:rPr lang="en-US" sz="2800" b="1" i="1" dirty="0" err="1"/>
              <a:t>đa</a:t>
            </a:r>
            <a:r>
              <a:rPr lang="en-US" sz="2800" dirty="0"/>
              <a:t> </a:t>
            </a:r>
            <a:r>
              <a:rPr lang="en-US" sz="2800" dirty="0" err="1"/>
              <a:t>là</a:t>
            </a:r>
            <a:r>
              <a:rPr lang="en-US" sz="2800" dirty="0"/>
              <a:t> 3% </a:t>
            </a:r>
            <a:r>
              <a:rPr lang="en-US" sz="2800" dirty="0" err="1"/>
              <a:t>và</a:t>
            </a:r>
            <a:r>
              <a:rPr lang="en-US" sz="2800" dirty="0"/>
              <a:t> </a:t>
            </a:r>
            <a:r>
              <a:rPr lang="en-US" sz="2800" dirty="0" err="1"/>
              <a:t>độ</a:t>
            </a:r>
            <a:r>
              <a:rPr lang="en-US" sz="2800" dirty="0"/>
              <a:t> tin </a:t>
            </a:r>
            <a:r>
              <a:rPr lang="en-US" sz="2800" dirty="0" err="1"/>
              <a:t>cậy</a:t>
            </a:r>
            <a:r>
              <a:rPr lang="en-US" sz="2800" dirty="0"/>
              <a:t> 95%. </a:t>
            </a:r>
            <a:r>
              <a:rPr lang="en-US" sz="2800" dirty="0" err="1"/>
              <a:t>Hỏi</a:t>
            </a:r>
            <a:r>
              <a:rPr lang="en-US" sz="2800" dirty="0"/>
              <a:t> </a:t>
            </a:r>
            <a:r>
              <a:rPr lang="en-US" sz="2800" dirty="0" err="1"/>
              <a:t>cần</a:t>
            </a:r>
            <a:r>
              <a:rPr lang="en-US" sz="2800" dirty="0"/>
              <a:t> </a:t>
            </a:r>
            <a:r>
              <a:rPr lang="en-US" sz="2800" dirty="0" err="1"/>
              <a:t>khảo</a:t>
            </a:r>
            <a:r>
              <a:rPr lang="en-US" sz="2800" dirty="0"/>
              <a:t> </a:t>
            </a:r>
            <a:r>
              <a:rPr lang="en-US" sz="2800" dirty="0" err="1"/>
              <a:t>sát</a:t>
            </a:r>
            <a:r>
              <a:rPr lang="en-US" sz="2800" dirty="0"/>
              <a:t> </a:t>
            </a:r>
            <a:r>
              <a:rPr lang="en-US" sz="2800" dirty="0" err="1"/>
              <a:t>mẫu</a:t>
            </a:r>
            <a:r>
              <a:rPr lang="en-US" sz="2800" dirty="0"/>
              <a:t> </a:t>
            </a:r>
            <a:r>
              <a:rPr lang="en-US" sz="2800" dirty="0" err="1"/>
              <a:t>có</a:t>
            </a:r>
            <a:r>
              <a:rPr lang="en-US" sz="2800" dirty="0"/>
              <a:t> </a:t>
            </a:r>
            <a:r>
              <a:rPr lang="en-US" sz="2800" dirty="0" err="1"/>
              <a:t>kích</a:t>
            </a:r>
            <a:r>
              <a:rPr lang="en-US" sz="2800" dirty="0"/>
              <a:t> </a:t>
            </a:r>
            <a:r>
              <a:rPr lang="en-US" sz="2800" dirty="0" err="1"/>
              <a:t>thước</a:t>
            </a:r>
            <a:r>
              <a:rPr lang="en-US" sz="2800" dirty="0"/>
              <a:t> </a:t>
            </a:r>
            <a:r>
              <a:rPr lang="en-US" sz="2800" b="1" dirty="0" err="1"/>
              <a:t>nhỏ</a:t>
            </a:r>
            <a:r>
              <a:rPr lang="en-US" sz="2800" b="1" dirty="0"/>
              <a:t> </a:t>
            </a:r>
            <a:r>
              <a:rPr lang="en-US" sz="2800" b="1" dirty="0" err="1"/>
              <a:t>nhất</a:t>
            </a:r>
            <a:r>
              <a:rPr lang="en-US" sz="2800" dirty="0"/>
              <a:t> </a:t>
            </a:r>
            <a:r>
              <a:rPr lang="en-US" sz="2800" dirty="0" err="1"/>
              <a:t>là</a:t>
            </a:r>
            <a:r>
              <a:rPr lang="en-US" sz="2800" dirty="0"/>
              <a:t> </a:t>
            </a:r>
            <a:r>
              <a:rPr lang="en-US" sz="2800" dirty="0" err="1"/>
              <a:t>bao</a:t>
            </a:r>
            <a:r>
              <a:rPr lang="en-US" sz="2800" dirty="0"/>
              <a:t> </a:t>
            </a:r>
            <a:r>
              <a:rPr lang="en-US" sz="2800" dirty="0" err="1"/>
              <a:t>nhiêu</a:t>
            </a:r>
            <a:r>
              <a:rPr lang="en-US" sz="2800" dirty="0"/>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981200"/>
            <a:ext cx="8915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7131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Ôn tập 1</a:t>
            </a:r>
          </a:p>
        </p:txBody>
      </p:sp>
      <p:sp>
        <p:nvSpPr>
          <p:cNvPr id="3" name="Content Placeholder 2"/>
          <p:cNvSpPr>
            <a:spLocks noGrp="1"/>
          </p:cNvSpPr>
          <p:nvPr>
            <p:ph idx="1"/>
          </p:nvPr>
        </p:nvSpPr>
        <p:spPr>
          <a:xfrm>
            <a:off x="457200" y="1219200"/>
            <a:ext cx="4953000" cy="5334000"/>
          </a:xfrm>
        </p:spPr>
        <p:txBody>
          <a:bodyPr>
            <a:normAutofit fontScale="92500" lnSpcReduction="10000"/>
          </a:bodyPr>
          <a:lstStyle/>
          <a:p>
            <a:pPr marL="0" indent="0">
              <a:buNone/>
            </a:pPr>
            <a:r>
              <a:rPr lang="vi-VN" sz="2200" dirty="0">
                <a:solidFill>
                  <a:schemeClr val="tx1"/>
                </a:solidFill>
                <a:latin typeface="Calibri" pitchFamily="34" charset="0"/>
                <a:cs typeface="Calibri" pitchFamily="34" charset="0"/>
              </a:rPr>
              <a:t>Khảo sát doanh số bán của một siêu thị trong một số ngày được chọn ngẫu nhiên, ta thu được số liệu </a:t>
            </a:r>
            <a:r>
              <a:rPr lang="en-US" sz="2200" dirty="0" err="1">
                <a:solidFill>
                  <a:schemeClr val="tx1"/>
                </a:solidFill>
                <a:latin typeface="Calibri" pitchFamily="34" charset="0"/>
                <a:cs typeface="Calibri" pitchFamily="34" charset="0"/>
              </a:rPr>
              <a:t>như</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bảng</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kế</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bên</a:t>
            </a:r>
            <a:r>
              <a:rPr lang="vi-VN" sz="2200" dirty="0">
                <a:solidFill>
                  <a:schemeClr val="tx1"/>
                </a:solidFill>
                <a:latin typeface="Calibri" pitchFamily="34" charset="0"/>
                <a:cs typeface="Calibri" pitchFamily="34" charset="0"/>
              </a:rPr>
              <a:t>:</a:t>
            </a:r>
            <a:endParaRPr lang="en-US" sz="2200" dirty="0">
              <a:solidFill>
                <a:schemeClr val="tx1"/>
              </a:solidFill>
              <a:latin typeface="Calibri" pitchFamily="34" charset="0"/>
              <a:cs typeface="Calibri" pitchFamily="34" charset="0"/>
            </a:endParaRPr>
          </a:p>
          <a:p>
            <a:pPr marL="609600" indent="-609600">
              <a:lnSpc>
                <a:spcPct val="80000"/>
              </a:lnSpc>
              <a:buFontTx/>
              <a:buAutoNum type="arabicPeriod"/>
            </a:pPr>
            <a:r>
              <a:rPr lang="vi-VN" sz="2200" dirty="0">
                <a:solidFill>
                  <a:schemeClr val="tx1"/>
                </a:solidFill>
                <a:latin typeface="Calibri" pitchFamily="34" charset="0"/>
                <a:cs typeface="Calibri" pitchFamily="34" charset="0"/>
              </a:rPr>
              <a:t>Hãy ước lượng doanh số bán trung bình của siêu thị trong một ngày với độ tin cậy 95%.</a:t>
            </a:r>
            <a:endParaRPr lang="en-US" sz="2200" dirty="0">
              <a:solidFill>
                <a:schemeClr val="tx1"/>
              </a:solidFill>
              <a:latin typeface="Calibri" pitchFamily="34" charset="0"/>
              <a:cs typeface="Calibri" pitchFamily="34" charset="0"/>
            </a:endParaRPr>
          </a:p>
          <a:p>
            <a:pPr marL="609600" indent="-609600">
              <a:lnSpc>
                <a:spcPct val="80000"/>
              </a:lnSpc>
              <a:buFontTx/>
              <a:buAutoNum type="arabicPeriod"/>
            </a:pPr>
            <a:r>
              <a:rPr lang="en-US" sz="2200" dirty="0" err="1">
                <a:solidFill>
                  <a:schemeClr val="tx1"/>
                </a:solidFill>
                <a:latin typeface="Calibri" pitchFamily="34" charset="0"/>
                <a:cs typeface="Calibri" pitchFamily="34" charset="0"/>
              </a:rPr>
              <a:t>Nếu</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muốn</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sai</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số</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ước</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lượng</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doanh</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số</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trung</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bình</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trong</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ngày</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có</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sai</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số</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không</a:t>
            </a:r>
            <a:r>
              <a:rPr lang="en-US" sz="2200" dirty="0">
                <a:solidFill>
                  <a:schemeClr val="tx1"/>
                </a:solidFill>
                <a:latin typeface="Calibri" pitchFamily="34" charset="0"/>
                <a:cs typeface="Calibri" pitchFamily="34" charset="0"/>
              </a:rPr>
              <a:t> quá2 </a:t>
            </a:r>
            <a:r>
              <a:rPr lang="en-US" sz="2200" dirty="0" err="1">
                <a:solidFill>
                  <a:schemeClr val="tx1"/>
                </a:solidFill>
                <a:latin typeface="Calibri" pitchFamily="34" charset="0"/>
                <a:cs typeface="Calibri" pitchFamily="34" charset="0"/>
              </a:rPr>
              <a:t>triệu</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đồng</a:t>
            </a:r>
            <a:r>
              <a:rPr lang="en-US" sz="2200" dirty="0">
                <a:solidFill>
                  <a:schemeClr val="tx1"/>
                </a:solidFill>
                <a:latin typeface="Calibri" pitchFamily="34" charset="0"/>
                <a:cs typeface="Calibri" pitchFamily="34" charset="0"/>
              </a:rPr>
              <a:t>/</a:t>
            </a:r>
            <a:r>
              <a:rPr lang="en-US" sz="2200" dirty="0" err="1">
                <a:solidFill>
                  <a:schemeClr val="tx1"/>
                </a:solidFill>
                <a:latin typeface="Calibri" pitchFamily="34" charset="0"/>
                <a:cs typeface="Calibri" pitchFamily="34" charset="0"/>
              </a:rPr>
              <a:t>ngày</a:t>
            </a:r>
            <a:r>
              <a:rPr lang="en-US" sz="2200" dirty="0">
                <a:solidFill>
                  <a:schemeClr val="tx1"/>
                </a:solidFill>
                <a:latin typeface="Calibri" pitchFamily="34" charset="0"/>
                <a:cs typeface="Calibri" pitchFamily="34" charset="0"/>
              </a:rPr>
              <a:t> ở </a:t>
            </a:r>
            <a:r>
              <a:rPr lang="en-US" sz="2200" dirty="0" err="1">
                <a:solidFill>
                  <a:schemeClr val="tx1"/>
                </a:solidFill>
                <a:latin typeface="Calibri" pitchFamily="34" charset="0"/>
                <a:cs typeface="Calibri" pitchFamily="34" charset="0"/>
              </a:rPr>
              <a:t>độ</a:t>
            </a:r>
            <a:r>
              <a:rPr lang="en-US" sz="2200" dirty="0">
                <a:solidFill>
                  <a:schemeClr val="tx1"/>
                </a:solidFill>
                <a:latin typeface="Calibri" pitchFamily="34" charset="0"/>
                <a:cs typeface="Calibri" pitchFamily="34" charset="0"/>
              </a:rPr>
              <a:t> tin </a:t>
            </a:r>
            <a:r>
              <a:rPr lang="en-US" sz="2200" dirty="0" err="1">
                <a:solidFill>
                  <a:schemeClr val="tx1"/>
                </a:solidFill>
                <a:latin typeface="Calibri" pitchFamily="34" charset="0"/>
                <a:cs typeface="Calibri" pitchFamily="34" charset="0"/>
              </a:rPr>
              <a:t>cậy</a:t>
            </a:r>
            <a:r>
              <a:rPr lang="en-US" sz="2200" dirty="0">
                <a:solidFill>
                  <a:schemeClr val="tx1"/>
                </a:solidFill>
                <a:latin typeface="Calibri" pitchFamily="34" charset="0"/>
                <a:cs typeface="Calibri" pitchFamily="34" charset="0"/>
              </a:rPr>
              <a:t> 99% </a:t>
            </a:r>
            <a:r>
              <a:rPr lang="en-US" sz="2200" dirty="0" err="1">
                <a:solidFill>
                  <a:schemeClr val="tx1"/>
                </a:solidFill>
                <a:latin typeface="Calibri" pitchFamily="34" charset="0"/>
                <a:cs typeface="Calibri" pitchFamily="34" charset="0"/>
              </a:rPr>
              <a:t>thì</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có</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cần</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thêm</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ngày</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quan</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sát</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không</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Nếu</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có</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thì</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cần</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quan</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sát</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thêm</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ít</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nhất</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bao</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nhiêu</a:t>
            </a:r>
            <a:r>
              <a:rPr lang="en-US" sz="2200" dirty="0">
                <a:solidFill>
                  <a:schemeClr val="tx1"/>
                </a:solidFill>
                <a:latin typeface="Calibri" pitchFamily="34" charset="0"/>
                <a:cs typeface="Calibri" pitchFamily="34" charset="0"/>
              </a:rPr>
              <a:t> </a:t>
            </a:r>
            <a:r>
              <a:rPr lang="en-US" sz="2200" dirty="0" err="1">
                <a:solidFill>
                  <a:schemeClr val="tx1"/>
                </a:solidFill>
                <a:latin typeface="Calibri" pitchFamily="34" charset="0"/>
                <a:cs typeface="Calibri" pitchFamily="34" charset="0"/>
              </a:rPr>
              <a:t>ngày</a:t>
            </a:r>
            <a:r>
              <a:rPr lang="en-US" sz="2200" dirty="0">
                <a:solidFill>
                  <a:schemeClr val="tx1"/>
                </a:solidFill>
                <a:latin typeface="Calibri" pitchFamily="34" charset="0"/>
                <a:cs typeface="Calibri" pitchFamily="34" charset="0"/>
              </a:rPr>
              <a:t> ?</a:t>
            </a:r>
            <a:endParaRPr lang="vi-VN" sz="2200" dirty="0">
              <a:solidFill>
                <a:schemeClr val="tx1"/>
              </a:solidFill>
              <a:latin typeface="Calibri" pitchFamily="34" charset="0"/>
              <a:cs typeface="Calibri" pitchFamily="34" charset="0"/>
            </a:endParaRPr>
          </a:p>
          <a:p>
            <a:pPr marL="609600" indent="-609600">
              <a:lnSpc>
                <a:spcPct val="80000"/>
              </a:lnSpc>
              <a:buFontTx/>
              <a:buAutoNum type="arabicPeriod"/>
            </a:pPr>
            <a:r>
              <a:rPr lang="vi-VN" sz="2200" dirty="0">
                <a:solidFill>
                  <a:schemeClr val="tx1"/>
                </a:solidFill>
                <a:latin typeface="Calibri" pitchFamily="34" charset="0"/>
                <a:cs typeface="Calibri" pitchFamily="34" charset="0"/>
              </a:rPr>
              <a:t>Những ngày có doanh số bán trên 130 triệu đồng được gọi là ngày đắt hàng. Hãy ước lượng tỷ lệ những ngày đắt hàng của siêu thị với độ tin cậy 9</a:t>
            </a:r>
            <a:r>
              <a:rPr lang="en-US" sz="2200" dirty="0">
                <a:solidFill>
                  <a:schemeClr val="tx1"/>
                </a:solidFill>
                <a:latin typeface="Calibri" pitchFamily="34" charset="0"/>
                <a:cs typeface="Calibri" pitchFamily="34" charset="0"/>
              </a:rPr>
              <a:t>0</a:t>
            </a:r>
            <a:r>
              <a:rPr lang="vi-VN" sz="2200" dirty="0">
                <a:solidFill>
                  <a:schemeClr val="tx1"/>
                </a:solidFill>
                <a:latin typeface="Calibri" pitchFamily="34" charset="0"/>
                <a:cs typeface="Calibri" pitchFamily="34" charset="0"/>
              </a:rPr>
              <a:t>%.</a:t>
            </a:r>
          </a:p>
          <a:p>
            <a:pPr marL="609600" indent="-609600">
              <a:lnSpc>
                <a:spcPct val="80000"/>
              </a:lnSpc>
              <a:buFontTx/>
              <a:buAutoNum type="arabicPeriod"/>
            </a:pPr>
            <a:r>
              <a:rPr lang="vi-VN" sz="2200" dirty="0">
                <a:solidFill>
                  <a:schemeClr val="tx1"/>
                </a:solidFill>
                <a:latin typeface="Calibri" pitchFamily="34" charset="0"/>
                <a:cs typeface="Calibri" pitchFamily="34" charset="0"/>
              </a:rPr>
              <a:t>Hãy ước lượng doanh số trung bình của một ngày đắt hàng với độ tin cậy 96%. Cho biết doanh s</a:t>
            </a:r>
            <a:r>
              <a:rPr lang="en-US" sz="2200" dirty="0">
                <a:solidFill>
                  <a:schemeClr val="tx1"/>
                </a:solidFill>
                <a:latin typeface="Calibri" pitchFamily="34" charset="0"/>
                <a:cs typeface="Calibri" pitchFamily="34" charset="0"/>
              </a:rPr>
              <a:t>ố</a:t>
            </a:r>
            <a:r>
              <a:rPr lang="vi-VN" sz="2200" dirty="0">
                <a:solidFill>
                  <a:schemeClr val="tx1"/>
                </a:solidFill>
                <a:latin typeface="Calibri" pitchFamily="34" charset="0"/>
                <a:cs typeface="Calibri" pitchFamily="34" charset="0"/>
              </a:rPr>
              <a:t> bán hàng có phân phối chuẩn.</a:t>
            </a:r>
            <a:endParaRPr lang="en-US" sz="2200" dirty="0">
              <a:solidFill>
                <a:schemeClr val="tx1"/>
              </a:solidFill>
              <a:latin typeface="Calibri" pitchFamily="34" charset="0"/>
              <a:cs typeface="Calibri" pitchFamily="34" charset="0"/>
            </a:endParaRPr>
          </a:p>
          <a:p>
            <a:pPr marL="609600" indent="-609600">
              <a:lnSpc>
                <a:spcPct val="80000"/>
              </a:lnSpc>
              <a:buNone/>
            </a:pPr>
            <a:endParaRPr lang="en-US" sz="2200" dirty="0">
              <a:solidFill>
                <a:schemeClr val="tx1"/>
              </a:solidFill>
              <a:latin typeface="Calibri" pitchFamily="34" charset="0"/>
              <a:cs typeface="Calibri" pitchFamily="34" charset="0"/>
            </a:endParaRPr>
          </a:p>
        </p:txBody>
      </p:sp>
      <p:graphicFrame>
        <p:nvGraphicFramePr>
          <p:cNvPr id="4" name="Group 109"/>
          <p:cNvGraphicFramePr>
            <a:graphicFrameLocks/>
          </p:cNvGraphicFramePr>
          <p:nvPr>
            <p:extLst>
              <p:ext uri="{D42A27DB-BD31-4B8C-83A1-F6EECF244321}">
                <p14:modId xmlns:p14="http://schemas.microsoft.com/office/powerpoint/2010/main" val="1887860702"/>
              </p:ext>
            </p:extLst>
          </p:nvPr>
        </p:nvGraphicFramePr>
        <p:xfrm>
          <a:off x="5638800" y="1143000"/>
          <a:ext cx="3200400" cy="4191003"/>
        </p:xfrm>
        <a:graphic>
          <a:graphicData uri="http://schemas.openxmlformats.org/drawingml/2006/table">
            <a:tbl>
              <a:tblPr/>
              <a:tblGrid>
                <a:gridCol w="2090057">
                  <a:extLst>
                    <a:ext uri="{9D8B030D-6E8A-4147-A177-3AD203B41FA5}">
                      <a16:colId xmlns:a16="http://schemas.microsoft.com/office/drawing/2014/main" val="20000"/>
                    </a:ext>
                  </a:extLst>
                </a:gridCol>
                <a:gridCol w="1110343">
                  <a:extLst>
                    <a:ext uri="{9D8B030D-6E8A-4147-A177-3AD203B41FA5}">
                      <a16:colId xmlns:a16="http://schemas.microsoft.com/office/drawing/2014/main" val="20001"/>
                    </a:ext>
                  </a:extLst>
                </a:gridCol>
              </a:tblGrid>
              <a:tr h="96281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dirty="0">
                          <a:ln>
                            <a:noFill/>
                          </a:ln>
                          <a:solidFill>
                            <a:schemeClr val="tx1"/>
                          </a:solidFill>
                          <a:effectLst/>
                          <a:latin typeface="Times New Roman" pitchFamily="18" charset="0"/>
                          <a:cs typeface="Times New Roman" pitchFamily="18" charset="0"/>
                        </a:rPr>
                        <a:t>Doanh số</a:t>
                      </a: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dirty="0">
                          <a:ln>
                            <a:noFill/>
                          </a:ln>
                          <a:solidFill>
                            <a:schemeClr val="tx1"/>
                          </a:solidFill>
                          <a:effectLst/>
                          <a:latin typeface="Times New Roman" pitchFamily="18" charset="0"/>
                          <a:cs typeface="Times New Roman" pitchFamily="18" charset="0"/>
                        </a:rPr>
                        <a:t>(triệu đồng)</a:t>
                      </a:r>
                      <a:endParaRPr kumimoji="0" lang="vi-VN" sz="2200" b="0" i="0" u="none" strike="noStrike" cap="none" normalizeH="0" baseline="0" dirty="0">
                        <a:ln>
                          <a:noFill/>
                        </a:ln>
                        <a:solidFill>
                          <a:schemeClr val="tx1"/>
                        </a:solidFill>
                        <a:effectLst/>
                        <a:latin typeface="Times New Roman" pitchFamily="18"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Times New Roman" pitchFamily="18" charset="0"/>
                          <a:cs typeface="Times New Roman" pitchFamily="18" charset="0"/>
                        </a:rPr>
                        <a:t>Số</a:t>
                      </a:r>
                      <a:endParaRPr kumimoji="0" lang="en-US" sz="2200" b="0" i="0" u="none" strike="noStrike" cap="none" normalizeH="0" baseline="0">
                        <a:ln>
                          <a:noFill/>
                        </a:ln>
                        <a:solidFill>
                          <a:schemeClr val="tx1"/>
                        </a:solidFill>
                        <a:effectLst/>
                        <a:latin typeface="Times New Roman" pitchFamily="18" charset="0"/>
                        <a:cs typeface="Times New Roman"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Times New Roman" pitchFamily="18" charset="0"/>
                          <a:cs typeface="Times New Roman" pitchFamily="18" charset="0"/>
                        </a:rPr>
                        <a:t>ngày</a:t>
                      </a:r>
                      <a:endParaRPr kumimoji="0" lang="vi-VN" sz="2200" b="0" i="0" u="none" strike="noStrike" cap="none" normalizeH="0" baseline="0">
                        <a:ln>
                          <a:noFill/>
                        </a:ln>
                        <a:solidFill>
                          <a:schemeClr val="tx1"/>
                        </a:solidFill>
                        <a:effectLst/>
                        <a:latin typeface="Times New Roman" pitchFamily="18"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53779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50 - 70</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6</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779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70 - 90</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dirty="0">
                          <a:ln>
                            <a:noFill/>
                          </a:ln>
                          <a:solidFill>
                            <a:schemeClr val="tx1"/>
                          </a:solidFill>
                          <a:effectLst/>
                          <a:latin typeface="Arial" charset="0"/>
                          <a:cs typeface="Times New Roman" pitchFamily="18" charset="0"/>
                        </a:rPr>
                        <a:t>30</a:t>
                      </a:r>
                      <a:endParaRPr kumimoji="0" lang="vi-VN" sz="22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779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90 - 110</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40</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9236">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110 - 130</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25</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779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130 - 150</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15</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779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a:ln>
                            <a:noFill/>
                          </a:ln>
                          <a:solidFill>
                            <a:schemeClr val="tx1"/>
                          </a:solidFill>
                          <a:effectLst/>
                          <a:latin typeface="Arial" charset="0"/>
                          <a:cs typeface="Times New Roman" pitchFamily="18" charset="0"/>
                        </a:rPr>
                        <a:t>150 – 200</a:t>
                      </a:r>
                      <a:endParaRPr kumimoji="0" lang="vi-VN" sz="22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vi-VN" sz="2200" b="0" i="0" u="none" strike="noStrike" cap="none" normalizeH="0" baseline="0" dirty="0">
                          <a:ln>
                            <a:noFill/>
                          </a:ln>
                          <a:solidFill>
                            <a:schemeClr val="tx1"/>
                          </a:solidFill>
                          <a:effectLst/>
                          <a:latin typeface="Arial" charset="0"/>
                          <a:cs typeface="Times New Roman" pitchFamily="18" charset="0"/>
                        </a:rPr>
                        <a:t>5</a:t>
                      </a:r>
                      <a:endParaRPr kumimoji="0" lang="vi-VN" sz="22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3395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Ôn tập 2</a:t>
            </a:r>
          </a:p>
        </p:txBody>
      </p:sp>
      <p:sp>
        <p:nvSpPr>
          <p:cNvPr id="3" name="Content Placeholder 2"/>
          <p:cNvSpPr>
            <a:spLocks noGrp="1"/>
          </p:cNvSpPr>
          <p:nvPr>
            <p:ph idx="1"/>
          </p:nvPr>
        </p:nvSpPr>
        <p:spPr/>
        <p:txBody>
          <a:bodyPr>
            <a:normAutofit/>
          </a:bodyPr>
          <a:lstStyle/>
          <a:p>
            <a:pPr marL="533400" indent="-533400">
              <a:lnSpc>
                <a:spcPct val="90000"/>
              </a:lnSpc>
              <a:buNone/>
            </a:pPr>
            <a:r>
              <a:rPr lang="en-US" sz="2800" dirty="0">
                <a:solidFill>
                  <a:schemeClr val="tx1"/>
                </a:solidFill>
              </a:rPr>
              <a:t>       </a:t>
            </a:r>
            <a:r>
              <a:rPr lang="en-US" sz="2800" dirty="0" err="1">
                <a:solidFill>
                  <a:schemeClr val="tx1"/>
                </a:solidFill>
              </a:rPr>
              <a:t>Giả</a:t>
            </a:r>
            <a:r>
              <a:rPr lang="en-US" sz="2800" dirty="0">
                <a:solidFill>
                  <a:schemeClr val="tx1"/>
                </a:solidFill>
              </a:rPr>
              <a:t> </a:t>
            </a:r>
            <a:r>
              <a:rPr lang="en-US" sz="2800" dirty="0" err="1">
                <a:solidFill>
                  <a:schemeClr val="tx1"/>
                </a:solidFill>
              </a:rPr>
              <a:t>sử</a:t>
            </a:r>
            <a:r>
              <a:rPr lang="en-US" sz="2800" dirty="0">
                <a:solidFill>
                  <a:schemeClr val="tx1"/>
                </a:solidFill>
              </a:rPr>
              <a:t> </a:t>
            </a:r>
            <a:r>
              <a:rPr lang="en-US" sz="2800" dirty="0" err="1">
                <a:solidFill>
                  <a:schemeClr val="tx1"/>
                </a:solidFill>
              </a:rPr>
              <a:t>tại</a:t>
            </a:r>
            <a:r>
              <a:rPr lang="en-US" sz="2800" dirty="0">
                <a:solidFill>
                  <a:schemeClr val="tx1"/>
                </a:solidFill>
              </a:rPr>
              <a:t> </a:t>
            </a:r>
            <a:r>
              <a:rPr lang="en-US" sz="2800" dirty="0" err="1">
                <a:solidFill>
                  <a:schemeClr val="tx1"/>
                </a:solidFill>
              </a:rPr>
              <a:t>tp</a:t>
            </a:r>
            <a:r>
              <a:rPr lang="en-US" sz="2800" dirty="0">
                <a:solidFill>
                  <a:schemeClr val="tx1"/>
                </a:solidFill>
              </a:rPr>
              <a:t> HCM, </a:t>
            </a:r>
            <a:r>
              <a:rPr lang="en-US" sz="2800" dirty="0" err="1">
                <a:solidFill>
                  <a:schemeClr val="tx1"/>
                </a:solidFill>
              </a:rPr>
              <a:t>thăm</a:t>
            </a:r>
            <a:r>
              <a:rPr lang="en-US" sz="2800" dirty="0">
                <a:solidFill>
                  <a:schemeClr val="tx1"/>
                </a:solidFill>
              </a:rPr>
              <a:t> </a:t>
            </a:r>
            <a:r>
              <a:rPr lang="en-US" sz="2800" dirty="0" err="1">
                <a:solidFill>
                  <a:schemeClr val="tx1"/>
                </a:solidFill>
              </a:rPr>
              <a:t>dò</a:t>
            </a:r>
            <a:r>
              <a:rPr lang="en-US" sz="2800" dirty="0">
                <a:solidFill>
                  <a:schemeClr val="tx1"/>
                </a:solidFill>
              </a:rPr>
              <a:t> </a:t>
            </a:r>
            <a:r>
              <a:rPr lang="en-US" sz="2800" dirty="0">
                <a:solidFill>
                  <a:srgbClr val="FF0000"/>
                </a:solidFill>
              </a:rPr>
              <a:t>500 </a:t>
            </a:r>
            <a:r>
              <a:rPr lang="en-US" sz="2800" dirty="0" err="1">
                <a:solidFill>
                  <a:srgbClr val="FF0000"/>
                </a:solidFill>
              </a:rPr>
              <a:t>người</a:t>
            </a:r>
            <a:r>
              <a:rPr lang="en-US" sz="2800" dirty="0">
                <a:solidFill>
                  <a:srgbClr val="FF0000"/>
                </a:solidFill>
              </a:rPr>
              <a:t> </a:t>
            </a:r>
            <a:r>
              <a:rPr lang="en-US" sz="2800" dirty="0" err="1">
                <a:solidFill>
                  <a:srgbClr val="FF0000"/>
                </a:solidFill>
              </a:rPr>
              <a:t>dân</a:t>
            </a:r>
            <a:r>
              <a:rPr lang="en-US" sz="2800" dirty="0">
                <a:solidFill>
                  <a:srgbClr val="FF0000"/>
                </a:solidFill>
              </a:rPr>
              <a:t> </a:t>
            </a:r>
            <a:r>
              <a:rPr lang="en-US" sz="2800" dirty="0" err="1">
                <a:solidFill>
                  <a:schemeClr val="tx1"/>
                </a:solidFill>
              </a:rPr>
              <a:t>về</a:t>
            </a:r>
            <a:r>
              <a:rPr lang="en-US" sz="2800" dirty="0">
                <a:solidFill>
                  <a:schemeClr val="tx1"/>
                </a:solidFill>
              </a:rPr>
              <a:t> </a:t>
            </a:r>
            <a:r>
              <a:rPr lang="en-US" sz="2800" dirty="0" err="1">
                <a:solidFill>
                  <a:schemeClr val="tx1"/>
                </a:solidFill>
              </a:rPr>
              <a:t>việc</a:t>
            </a:r>
            <a:r>
              <a:rPr lang="en-US" sz="2800" dirty="0">
                <a:solidFill>
                  <a:schemeClr val="tx1"/>
                </a:solidFill>
              </a:rPr>
              <a:t> </a:t>
            </a:r>
            <a:r>
              <a:rPr lang="en-US" sz="2800" dirty="0" err="1">
                <a:solidFill>
                  <a:schemeClr val="tx1"/>
                </a:solidFill>
              </a:rPr>
              <a:t>đập</a:t>
            </a:r>
            <a:r>
              <a:rPr lang="en-US" sz="2800" dirty="0">
                <a:solidFill>
                  <a:schemeClr val="tx1"/>
                </a:solidFill>
              </a:rPr>
              <a:t> </a:t>
            </a:r>
            <a:r>
              <a:rPr lang="en-US" sz="2800" dirty="0" err="1">
                <a:solidFill>
                  <a:schemeClr val="tx1"/>
                </a:solidFill>
              </a:rPr>
              <a:t>bỏ</a:t>
            </a:r>
            <a:r>
              <a:rPr lang="en-US" sz="2800" dirty="0">
                <a:solidFill>
                  <a:schemeClr val="tx1"/>
                </a:solidFill>
              </a:rPr>
              <a:t> </a:t>
            </a:r>
            <a:r>
              <a:rPr lang="en-US" sz="2800" dirty="0" err="1">
                <a:solidFill>
                  <a:schemeClr val="tx1"/>
                </a:solidFill>
              </a:rPr>
              <a:t>Dinh</a:t>
            </a:r>
            <a:r>
              <a:rPr lang="en-US" sz="2800" dirty="0">
                <a:solidFill>
                  <a:schemeClr val="tx1"/>
                </a:solidFill>
              </a:rPr>
              <a:t> </a:t>
            </a:r>
            <a:r>
              <a:rPr lang="en-US" sz="2800" dirty="0" err="1">
                <a:solidFill>
                  <a:schemeClr val="tx1"/>
                </a:solidFill>
              </a:rPr>
              <a:t>Thượng</a:t>
            </a:r>
            <a:r>
              <a:rPr lang="en-US" sz="2800" dirty="0">
                <a:solidFill>
                  <a:schemeClr val="tx1"/>
                </a:solidFill>
              </a:rPr>
              <a:t> </a:t>
            </a:r>
            <a:r>
              <a:rPr lang="en-US" sz="2800" dirty="0" err="1">
                <a:solidFill>
                  <a:schemeClr val="tx1"/>
                </a:solidFill>
              </a:rPr>
              <a:t>Thư</a:t>
            </a:r>
            <a:r>
              <a:rPr lang="en-US" sz="2800" dirty="0">
                <a:solidFill>
                  <a:schemeClr val="tx1"/>
                </a:solidFill>
              </a:rPr>
              <a:t>, </a:t>
            </a:r>
            <a:r>
              <a:rPr lang="en-US" sz="2800" dirty="0" err="1">
                <a:solidFill>
                  <a:schemeClr val="tx1"/>
                </a:solidFill>
              </a:rPr>
              <a:t>có</a:t>
            </a:r>
            <a:r>
              <a:rPr lang="en-US" sz="2800" dirty="0">
                <a:solidFill>
                  <a:schemeClr val="tx1"/>
                </a:solidFill>
              </a:rPr>
              <a:t> </a:t>
            </a:r>
            <a:r>
              <a:rPr lang="en-US" sz="2800" dirty="0">
                <a:solidFill>
                  <a:schemeClr val="accent6">
                    <a:lumMod val="75000"/>
                  </a:schemeClr>
                </a:solidFill>
              </a:rPr>
              <a:t>380 </a:t>
            </a:r>
            <a:r>
              <a:rPr lang="en-US" sz="2800" dirty="0" err="1">
                <a:solidFill>
                  <a:schemeClr val="accent6">
                    <a:lumMod val="75000"/>
                  </a:schemeClr>
                </a:solidFill>
              </a:rPr>
              <a:t>người</a:t>
            </a:r>
            <a:r>
              <a:rPr lang="en-US" sz="2800" dirty="0">
                <a:solidFill>
                  <a:schemeClr val="accent6">
                    <a:lumMod val="75000"/>
                  </a:schemeClr>
                </a:solidFill>
              </a:rPr>
              <a:t> </a:t>
            </a:r>
            <a:r>
              <a:rPr lang="en-US" sz="2800" dirty="0" err="1">
                <a:solidFill>
                  <a:schemeClr val="accent6">
                    <a:lumMod val="75000"/>
                  </a:schemeClr>
                </a:solidFill>
              </a:rPr>
              <a:t>không</a:t>
            </a:r>
            <a:r>
              <a:rPr lang="en-US" sz="2800" dirty="0">
                <a:solidFill>
                  <a:schemeClr val="accent6">
                    <a:lumMod val="75000"/>
                  </a:schemeClr>
                </a:solidFill>
              </a:rPr>
              <a:t> </a:t>
            </a:r>
            <a:r>
              <a:rPr lang="en-US" sz="2800" dirty="0" err="1">
                <a:solidFill>
                  <a:schemeClr val="accent6">
                    <a:lumMod val="75000"/>
                  </a:schemeClr>
                </a:solidFill>
              </a:rPr>
              <a:t>đồng</a:t>
            </a:r>
            <a:r>
              <a:rPr lang="en-US" sz="2800" dirty="0">
                <a:solidFill>
                  <a:schemeClr val="accent6">
                    <a:lumMod val="75000"/>
                  </a:schemeClr>
                </a:solidFill>
              </a:rPr>
              <a:t> ý</a:t>
            </a:r>
            <a:r>
              <a:rPr lang="en-US" sz="2800" dirty="0">
                <a:solidFill>
                  <a:schemeClr val="tx1"/>
                </a:solidFill>
              </a:rPr>
              <a:t>. </a:t>
            </a:r>
          </a:p>
          <a:p>
            <a:pPr marL="533400" indent="-533400">
              <a:lnSpc>
                <a:spcPct val="90000"/>
              </a:lnSpc>
              <a:buFontTx/>
              <a:buAutoNum type="arabicPeriod"/>
            </a:pPr>
            <a:r>
              <a:rPr lang="en-US" sz="2800" dirty="0" err="1">
                <a:solidFill>
                  <a:schemeClr val="tx1"/>
                </a:solidFill>
              </a:rPr>
              <a:t>Với</a:t>
            </a:r>
            <a:r>
              <a:rPr lang="en-US" sz="2800" dirty="0">
                <a:solidFill>
                  <a:schemeClr val="tx1"/>
                </a:solidFill>
              </a:rPr>
              <a:t> </a:t>
            </a:r>
            <a:r>
              <a:rPr lang="en-US" sz="2800" dirty="0" err="1">
                <a:solidFill>
                  <a:schemeClr val="tx1"/>
                </a:solidFill>
              </a:rPr>
              <a:t>độ</a:t>
            </a:r>
            <a:r>
              <a:rPr lang="en-US" sz="2800" dirty="0">
                <a:solidFill>
                  <a:schemeClr val="tx1"/>
                </a:solidFill>
              </a:rPr>
              <a:t> tin </a:t>
            </a:r>
            <a:r>
              <a:rPr lang="en-US" sz="2800" dirty="0" err="1">
                <a:solidFill>
                  <a:schemeClr val="tx1"/>
                </a:solidFill>
              </a:rPr>
              <a:t>cậy</a:t>
            </a:r>
            <a:r>
              <a:rPr lang="en-US" sz="2800" dirty="0">
                <a:solidFill>
                  <a:schemeClr val="tx1"/>
                </a:solidFill>
              </a:rPr>
              <a:t> 95%, </a:t>
            </a:r>
            <a:r>
              <a:rPr lang="en-US" sz="2800" dirty="0" err="1">
                <a:solidFill>
                  <a:schemeClr val="tx1"/>
                </a:solidFill>
              </a:rPr>
              <a:t>hãy</a:t>
            </a:r>
            <a:r>
              <a:rPr lang="en-US" sz="2800" dirty="0">
                <a:solidFill>
                  <a:schemeClr val="tx1"/>
                </a:solidFill>
              </a:rPr>
              <a:t> </a:t>
            </a:r>
            <a:r>
              <a:rPr lang="en-US" sz="2800" dirty="0" err="1">
                <a:solidFill>
                  <a:srgbClr val="7030A0"/>
                </a:solidFill>
              </a:rPr>
              <a:t>ước</a:t>
            </a:r>
            <a:r>
              <a:rPr lang="en-US" sz="2800" dirty="0">
                <a:solidFill>
                  <a:srgbClr val="7030A0"/>
                </a:solidFill>
              </a:rPr>
              <a:t> </a:t>
            </a:r>
            <a:r>
              <a:rPr lang="en-US" sz="2800" dirty="0" err="1">
                <a:solidFill>
                  <a:srgbClr val="7030A0"/>
                </a:solidFill>
              </a:rPr>
              <a:t>lượng</a:t>
            </a:r>
            <a:r>
              <a:rPr lang="en-US" sz="2800" dirty="0">
                <a:solidFill>
                  <a:srgbClr val="7030A0"/>
                </a:solidFill>
              </a:rPr>
              <a:t> </a:t>
            </a:r>
            <a:r>
              <a:rPr lang="en-US" sz="2800" dirty="0" err="1">
                <a:solidFill>
                  <a:srgbClr val="7030A0"/>
                </a:solidFill>
              </a:rPr>
              <a:t>tỷ</a:t>
            </a:r>
            <a:r>
              <a:rPr lang="en-US" sz="2800" dirty="0">
                <a:solidFill>
                  <a:srgbClr val="7030A0"/>
                </a:solidFill>
              </a:rPr>
              <a:t> </a:t>
            </a:r>
            <a:r>
              <a:rPr lang="en-US" sz="2800" dirty="0" err="1">
                <a:solidFill>
                  <a:srgbClr val="7030A0"/>
                </a:solidFill>
              </a:rPr>
              <a:t>lệ</a:t>
            </a:r>
            <a:r>
              <a:rPr lang="en-US" sz="2800" dirty="0">
                <a:solidFill>
                  <a:srgbClr val="7030A0"/>
                </a:solidFill>
              </a:rPr>
              <a:t> </a:t>
            </a:r>
            <a:r>
              <a:rPr lang="en-US" sz="2800" dirty="0" err="1">
                <a:solidFill>
                  <a:srgbClr val="7030A0"/>
                </a:solidFill>
              </a:rPr>
              <a:t>người</a:t>
            </a:r>
            <a:r>
              <a:rPr lang="en-US" sz="2800" dirty="0">
                <a:solidFill>
                  <a:srgbClr val="7030A0"/>
                </a:solidFill>
              </a:rPr>
              <a:t> </a:t>
            </a:r>
            <a:r>
              <a:rPr lang="en-US" sz="2800" dirty="0" err="1">
                <a:solidFill>
                  <a:srgbClr val="7030A0"/>
                </a:solidFill>
              </a:rPr>
              <a:t>dân</a:t>
            </a:r>
            <a:r>
              <a:rPr lang="en-US" sz="2800" dirty="0">
                <a:solidFill>
                  <a:srgbClr val="7030A0"/>
                </a:solidFill>
              </a:rPr>
              <a:t> </a:t>
            </a:r>
            <a:r>
              <a:rPr lang="en-US" sz="2800" dirty="0" err="1">
                <a:solidFill>
                  <a:srgbClr val="7030A0"/>
                </a:solidFill>
              </a:rPr>
              <a:t>tp</a:t>
            </a:r>
            <a:r>
              <a:rPr lang="en-US" sz="2800" dirty="0">
                <a:solidFill>
                  <a:srgbClr val="7030A0"/>
                </a:solidFill>
              </a:rPr>
              <a:t> HCM </a:t>
            </a:r>
            <a:r>
              <a:rPr lang="en-US" sz="2800" dirty="0" err="1">
                <a:solidFill>
                  <a:srgbClr val="7030A0"/>
                </a:solidFill>
              </a:rPr>
              <a:t>không</a:t>
            </a:r>
            <a:r>
              <a:rPr lang="en-US" sz="2800" dirty="0">
                <a:solidFill>
                  <a:srgbClr val="7030A0"/>
                </a:solidFill>
              </a:rPr>
              <a:t> </a:t>
            </a:r>
            <a:r>
              <a:rPr lang="en-US" sz="2800" dirty="0" err="1">
                <a:solidFill>
                  <a:srgbClr val="7030A0"/>
                </a:solidFill>
              </a:rPr>
              <a:t>đồng</a:t>
            </a:r>
            <a:r>
              <a:rPr lang="en-US" sz="2800" dirty="0">
                <a:solidFill>
                  <a:srgbClr val="7030A0"/>
                </a:solidFill>
              </a:rPr>
              <a:t> ý </a:t>
            </a:r>
            <a:r>
              <a:rPr lang="en-US" sz="2800" dirty="0" err="1">
                <a:solidFill>
                  <a:schemeClr val="tx1"/>
                </a:solidFill>
              </a:rPr>
              <a:t>việc</a:t>
            </a:r>
            <a:r>
              <a:rPr lang="en-US" sz="2800" dirty="0">
                <a:solidFill>
                  <a:schemeClr val="tx1"/>
                </a:solidFill>
              </a:rPr>
              <a:t> </a:t>
            </a:r>
            <a:r>
              <a:rPr lang="en-US" sz="2800" dirty="0" err="1">
                <a:solidFill>
                  <a:schemeClr val="tx1"/>
                </a:solidFill>
              </a:rPr>
              <a:t>đập</a:t>
            </a:r>
            <a:r>
              <a:rPr lang="en-US" sz="2800" dirty="0">
                <a:solidFill>
                  <a:schemeClr val="tx1"/>
                </a:solidFill>
              </a:rPr>
              <a:t> </a:t>
            </a:r>
            <a:r>
              <a:rPr lang="en-US" sz="2800" dirty="0" err="1">
                <a:solidFill>
                  <a:schemeClr val="tx1"/>
                </a:solidFill>
              </a:rPr>
              <a:t>bỏ</a:t>
            </a:r>
            <a:r>
              <a:rPr lang="en-US" sz="2800" dirty="0">
                <a:solidFill>
                  <a:schemeClr val="tx1"/>
                </a:solidFill>
              </a:rPr>
              <a:t> </a:t>
            </a:r>
            <a:r>
              <a:rPr lang="en-US" sz="2800" dirty="0" err="1">
                <a:solidFill>
                  <a:schemeClr val="tx1"/>
                </a:solidFill>
              </a:rPr>
              <a:t>Dinh</a:t>
            </a:r>
            <a:r>
              <a:rPr lang="en-US" sz="2800" dirty="0">
                <a:solidFill>
                  <a:schemeClr val="tx1"/>
                </a:solidFill>
              </a:rPr>
              <a:t> </a:t>
            </a:r>
            <a:r>
              <a:rPr lang="en-US" sz="2800" dirty="0" err="1">
                <a:solidFill>
                  <a:schemeClr val="tx1"/>
                </a:solidFill>
              </a:rPr>
              <a:t>Thượng</a:t>
            </a:r>
            <a:r>
              <a:rPr lang="en-US" sz="2800" dirty="0">
                <a:solidFill>
                  <a:schemeClr val="tx1"/>
                </a:solidFill>
              </a:rPr>
              <a:t> </a:t>
            </a:r>
            <a:r>
              <a:rPr lang="en-US" sz="2800" dirty="0" err="1">
                <a:solidFill>
                  <a:schemeClr val="tx1"/>
                </a:solidFill>
              </a:rPr>
              <a:t>Thư</a:t>
            </a:r>
            <a:r>
              <a:rPr lang="en-US" sz="2800" dirty="0">
                <a:solidFill>
                  <a:schemeClr val="tx1"/>
                </a:solidFill>
              </a:rPr>
              <a:t> </a:t>
            </a:r>
          </a:p>
          <a:p>
            <a:pPr marL="533400" indent="-533400">
              <a:lnSpc>
                <a:spcPct val="90000"/>
              </a:lnSpc>
              <a:buFontTx/>
              <a:buAutoNum type="arabicPeriod"/>
            </a:pPr>
            <a:r>
              <a:rPr lang="en-US" sz="2800" dirty="0" err="1">
                <a:solidFill>
                  <a:schemeClr val="tx1"/>
                </a:solidFill>
              </a:rPr>
              <a:t>Nếu</a:t>
            </a:r>
            <a:r>
              <a:rPr lang="en-US" sz="2800" dirty="0">
                <a:solidFill>
                  <a:schemeClr val="tx1"/>
                </a:solidFill>
              </a:rPr>
              <a:t> </a:t>
            </a:r>
            <a:r>
              <a:rPr lang="en-US" sz="2800" dirty="0" err="1">
                <a:solidFill>
                  <a:schemeClr val="tx1"/>
                </a:solidFill>
              </a:rPr>
              <a:t>muốn</a:t>
            </a:r>
            <a:r>
              <a:rPr lang="en-US" sz="2800" dirty="0">
                <a:solidFill>
                  <a:schemeClr val="tx1"/>
                </a:solidFill>
              </a:rPr>
              <a:t> </a:t>
            </a:r>
            <a:r>
              <a:rPr lang="en-US" sz="2800" dirty="0" err="1">
                <a:solidFill>
                  <a:schemeClr val="tx1"/>
                </a:solidFill>
              </a:rPr>
              <a:t>độ</a:t>
            </a:r>
            <a:r>
              <a:rPr lang="en-US" sz="2800" dirty="0">
                <a:solidFill>
                  <a:schemeClr val="tx1"/>
                </a:solidFill>
              </a:rPr>
              <a:t> </a:t>
            </a:r>
            <a:r>
              <a:rPr lang="en-US" sz="2800" dirty="0" err="1">
                <a:solidFill>
                  <a:schemeClr val="tx1"/>
                </a:solidFill>
              </a:rPr>
              <a:t>chính</a:t>
            </a:r>
            <a:r>
              <a:rPr lang="en-US" sz="2800" dirty="0">
                <a:solidFill>
                  <a:schemeClr val="tx1"/>
                </a:solidFill>
              </a:rPr>
              <a:t> </a:t>
            </a:r>
            <a:r>
              <a:rPr lang="en-US" sz="2800" dirty="0" err="1">
                <a:solidFill>
                  <a:schemeClr val="tx1"/>
                </a:solidFill>
              </a:rPr>
              <a:t>xác</a:t>
            </a:r>
            <a:r>
              <a:rPr lang="en-US" sz="2800" dirty="0">
                <a:solidFill>
                  <a:schemeClr val="tx1"/>
                </a:solidFill>
              </a:rPr>
              <a:t> </a:t>
            </a:r>
            <a:r>
              <a:rPr lang="en-US" sz="2800" dirty="0" err="1">
                <a:solidFill>
                  <a:schemeClr val="tx1"/>
                </a:solidFill>
              </a:rPr>
              <a:t>của</a:t>
            </a:r>
            <a:r>
              <a:rPr lang="en-US" sz="2800" dirty="0">
                <a:solidFill>
                  <a:schemeClr val="tx1"/>
                </a:solidFill>
              </a:rPr>
              <a:t> </a:t>
            </a:r>
            <a:r>
              <a:rPr lang="en-US" sz="2800" dirty="0" err="1">
                <a:solidFill>
                  <a:schemeClr val="tx1"/>
                </a:solidFill>
              </a:rPr>
              <a:t>phép</a:t>
            </a:r>
            <a:r>
              <a:rPr lang="en-US" sz="2800" dirty="0">
                <a:solidFill>
                  <a:schemeClr val="tx1"/>
                </a:solidFill>
              </a:rPr>
              <a:t> </a:t>
            </a:r>
            <a:r>
              <a:rPr lang="en-US" sz="2800" dirty="0" err="1">
                <a:solidFill>
                  <a:schemeClr val="tx1"/>
                </a:solidFill>
              </a:rPr>
              <a:t>ước</a:t>
            </a:r>
            <a:r>
              <a:rPr lang="en-US" sz="2800" dirty="0">
                <a:solidFill>
                  <a:schemeClr val="tx1"/>
                </a:solidFill>
              </a:rPr>
              <a:t> </a:t>
            </a:r>
            <a:r>
              <a:rPr lang="en-US" sz="2800" dirty="0" err="1">
                <a:solidFill>
                  <a:schemeClr val="tx1"/>
                </a:solidFill>
              </a:rPr>
              <a:t>lượng</a:t>
            </a:r>
            <a:r>
              <a:rPr lang="en-US" sz="2800" dirty="0">
                <a:solidFill>
                  <a:schemeClr val="tx1"/>
                </a:solidFill>
              </a:rPr>
              <a:t> </a:t>
            </a:r>
            <a:r>
              <a:rPr lang="en-US" sz="2800" dirty="0" err="1">
                <a:solidFill>
                  <a:schemeClr val="tx1"/>
                </a:solidFill>
              </a:rPr>
              <a:t>là</a:t>
            </a:r>
            <a:r>
              <a:rPr lang="en-US" sz="2800" dirty="0">
                <a:solidFill>
                  <a:schemeClr val="tx1"/>
                </a:solidFill>
              </a:rPr>
              <a:t> 3% </a:t>
            </a:r>
            <a:r>
              <a:rPr lang="en-US" sz="2800" dirty="0" err="1">
                <a:solidFill>
                  <a:schemeClr val="tx1"/>
                </a:solidFill>
              </a:rPr>
              <a:t>thì</a:t>
            </a:r>
            <a:r>
              <a:rPr lang="en-US" sz="2800" dirty="0">
                <a:solidFill>
                  <a:schemeClr val="tx1"/>
                </a:solidFill>
              </a:rPr>
              <a:t> </a:t>
            </a:r>
            <a:r>
              <a:rPr lang="en-US" sz="2800" dirty="0" err="1">
                <a:solidFill>
                  <a:schemeClr val="tx1"/>
                </a:solidFill>
              </a:rPr>
              <a:t>độ</a:t>
            </a:r>
            <a:r>
              <a:rPr lang="en-US" sz="2800" dirty="0">
                <a:solidFill>
                  <a:schemeClr val="tx1"/>
                </a:solidFill>
              </a:rPr>
              <a:t> tin </a:t>
            </a:r>
            <a:r>
              <a:rPr lang="en-US" sz="2800" dirty="0" err="1">
                <a:solidFill>
                  <a:schemeClr val="tx1"/>
                </a:solidFill>
              </a:rPr>
              <a:t>cậy</a:t>
            </a:r>
            <a:r>
              <a:rPr lang="en-US" sz="2800" dirty="0">
                <a:solidFill>
                  <a:schemeClr val="tx1"/>
                </a:solidFill>
              </a:rPr>
              <a:t> </a:t>
            </a:r>
            <a:r>
              <a:rPr lang="en-US" sz="2800" dirty="0" err="1">
                <a:solidFill>
                  <a:schemeClr val="tx1"/>
                </a:solidFill>
              </a:rPr>
              <a:t>là</a:t>
            </a:r>
            <a:r>
              <a:rPr lang="en-US" sz="2800" dirty="0">
                <a:solidFill>
                  <a:schemeClr val="tx1"/>
                </a:solidFill>
              </a:rPr>
              <a:t> </a:t>
            </a:r>
            <a:r>
              <a:rPr lang="en-US" sz="2800" dirty="0" err="1">
                <a:solidFill>
                  <a:schemeClr val="tx1"/>
                </a:solidFill>
              </a:rPr>
              <a:t>bao</a:t>
            </a:r>
            <a:r>
              <a:rPr lang="en-US" sz="2800" dirty="0">
                <a:solidFill>
                  <a:schemeClr val="tx1"/>
                </a:solidFill>
              </a:rPr>
              <a:t> </a:t>
            </a:r>
            <a:r>
              <a:rPr lang="en-US" sz="2800" dirty="0" err="1">
                <a:solidFill>
                  <a:schemeClr val="tx1"/>
                </a:solidFill>
              </a:rPr>
              <a:t>nhiêu</a:t>
            </a:r>
            <a:r>
              <a:rPr lang="en-US" sz="2800" dirty="0">
                <a:solidFill>
                  <a:schemeClr val="tx1"/>
                </a:solidFill>
              </a:rPr>
              <a:t>?</a:t>
            </a:r>
          </a:p>
          <a:p>
            <a:pPr marL="533400" indent="-533400">
              <a:lnSpc>
                <a:spcPct val="90000"/>
              </a:lnSpc>
              <a:buFontTx/>
              <a:buAutoNum type="arabicPeriod"/>
            </a:pPr>
            <a:r>
              <a:rPr lang="en-US" sz="2800" dirty="0" err="1">
                <a:solidFill>
                  <a:schemeClr val="tx1"/>
                </a:solidFill>
              </a:rPr>
              <a:t>Nếu</a:t>
            </a:r>
            <a:r>
              <a:rPr lang="en-US" sz="2800" dirty="0">
                <a:solidFill>
                  <a:schemeClr val="tx1"/>
                </a:solidFill>
              </a:rPr>
              <a:t> </a:t>
            </a:r>
            <a:r>
              <a:rPr lang="en-US" sz="2800" dirty="0" err="1">
                <a:solidFill>
                  <a:schemeClr val="tx1"/>
                </a:solidFill>
              </a:rPr>
              <a:t>muốn</a:t>
            </a:r>
            <a:r>
              <a:rPr lang="en-US" sz="2800" dirty="0">
                <a:solidFill>
                  <a:schemeClr val="tx1"/>
                </a:solidFill>
              </a:rPr>
              <a:t> </a:t>
            </a:r>
            <a:r>
              <a:rPr lang="en-US" sz="2800" dirty="0" err="1">
                <a:solidFill>
                  <a:schemeClr val="tx1"/>
                </a:solidFill>
              </a:rPr>
              <a:t>phép</a:t>
            </a:r>
            <a:r>
              <a:rPr lang="en-US" sz="2800" dirty="0">
                <a:solidFill>
                  <a:schemeClr val="tx1"/>
                </a:solidFill>
              </a:rPr>
              <a:t> </a:t>
            </a:r>
            <a:r>
              <a:rPr lang="en-US" sz="2800" dirty="0" err="1">
                <a:solidFill>
                  <a:schemeClr val="tx1"/>
                </a:solidFill>
              </a:rPr>
              <a:t>ước</a:t>
            </a:r>
            <a:r>
              <a:rPr lang="en-US" sz="2800" dirty="0">
                <a:solidFill>
                  <a:schemeClr val="tx1"/>
                </a:solidFill>
              </a:rPr>
              <a:t> </a:t>
            </a:r>
            <a:r>
              <a:rPr lang="en-US" sz="2800" dirty="0" err="1">
                <a:solidFill>
                  <a:schemeClr val="tx1"/>
                </a:solidFill>
              </a:rPr>
              <a:t>lượng</a:t>
            </a:r>
            <a:r>
              <a:rPr lang="en-US" sz="2800" dirty="0">
                <a:solidFill>
                  <a:schemeClr val="tx1"/>
                </a:solidFill>
              </a:rPr>
              <a:t> </a:t>
            </a:r>
            <a:r>
              <a:rPr lang="en-US" sz="2800" dirty="0" err="1">
                <a:solidFill>
                  <a:schemeClr val="tx1"/>
                </a:solidFill>
              </a:rPr>
              <a:t>có</a:t>
            </a:r>
            <a:r>
              <a:rPr lang="en-US" sz="2800" dirty="0">
                <a:solidFill>
                  <a:schemeClr val="tx1"/>
                </a:solidFill>
              </a:rPr>
              <a:t> </a:t>
            </a:r>
            <a:r>
              <a:rPr lang="en-US" sz="2800" dirty="0" err="1">
                <a:solidFill>
                  <a:schemeClr val="tx1"/>
                </a:solidFill>
              </a:rPr>
              <a:t>độ</a:t>
            </a:r>
            <a:r>
              <a:rPr lang="en-US" sz="2800" dirty="0">
                <a:solidFill>
                  <a:schemeClr val="tx1"/>
                </a:solidFill>
              </a:rPr>
              <a:t> tin </a:t>
            </a:r>
            <a:r>
              <a:rPr lang="en-US" sz="2800" dirty="0" err="1">
                <a:solidFill>
                  <a:schemeClr val="tx1"/>
                </a:solidFill>
              </a:rPr>
              <a:t>cậy</a:t>
            </a:r>
            <a:r>
              <a:rPr lang="en-US" sz="2800" dirty="0">
                <a:solidFill>
                  <a:schemeClr val="tx1"/>
                </a:solidFill>
              </a:rPr>
              <a:t> </a:t>
            </a:r>
            <a:r>
              <a:rPr lang="en-US" sz="2800" dirty="0" err="1">
                <a:solidFill>
                  <a:schemeClr val="tx1"/>
                </a:solidFill>
              </a:rPr>
              <a:t>là</a:t>
            </a:r>
            <a:r>
              <a:rPr lang="en-US" sz="2800" dirty="0">
                <a:solidFill>
                  <a:schemeClr val="tx1"/>
                </a:solidFill>
              </a:rPr>
              <a:t> 99% </a:t>
            </a:r>
            <a:r>
              <a:rPr lang="en-US" sz="2800" dirty="0" err="1">
                <a:solidFill>
                  <a:schemeClr val="tx1"/>
                </a:solidFill>
              </a:rPr>
              <a:t>và</a:t>
            </a:r>
            <a:r>
              <a:rPr lang="en-US" sz="2800" dirty="0">
                <a:solidFill>
                  <a:schemeClr val="tx1"/>
                </a:solidFill>
              </a:rPr>
              <a:t> </a:t>
            </a:r>
            <a:r>
              <a:rPr lang="en-US" sz="2800" dirty="0" err="1">
                <a:solidFill>
                  <a:schemeClr val="tx1"/>
                </a:solidFill>
              </a:rPr>
              <a:t>độ</a:t>
            </a:r>
            <a:r>
              <a:rPr lang="en-US" sz="2800" dirty="0">
                <a:solidFill>
                  <a:schemeClr val="tx1"/>
                </a:solidFill>
              </a:rPr>
              <a:t> </a:t>
            </a:r>
            <a:r>
              <a:rPr lang="en-US" sz="2800" dirty="0" err="1">
                <a:solidFill>
                  <a:schemeClr val="tx1"/>
                </a:solidFill>
              </a:rPr>
              <a:t>chính</a:t>
            </a:r>
            <a:r>
              <a:rPr lang="en-US" sz="2800" dirty="0">
                <a:solidFill>
                  <a:schemeClr val="tx1"/>
                </a:solidFill>
              </a:rPr>
              <a:t> </a:t>
            </a:r>
            <a:r>
              <a:rPr lang="en-US" sz="2800" dirty="0" err="1">
                <a:solidFill>
                  <a:schemeClr val="tx1"/>
                </a:solidFill>
              </a:rPr>
              <a:t>xác</a:t>
            </a:r>
            <a:r>
              <a:rPr lang="en-US" sz="2800" dirty="0">
                <a:solidFill>
                  <a:schemeClr val="tx1"/>
                </a:solidFill>
              </a:rPr>
              <a:t> </a:t>
            </a:r>
            <a:r>
              <a:rPr lang="en-US" sz="2800" dirty="0" err="1">
                <a:solidFill>
                  <a:schemeClr val="tx1"/>
                </a:solidFill>
              </a:rPr>
              <a:t>là</a:t>
            </a:r>
            <a:r>
              <a:rPr lang="en-US" sz="2800" dirty="0">
                <a:solidFill>
                  <a:schemeClr val="tx1"/>
                </a:solidFill>
              </a:rPr>
              <a:t> 3% </a:t>
            </a:r>
            <a:r>
              <a:rPr lang="en-US" sz="2800" dirty="0" err="1">
                <a:solidFill>
                  <a:schemeClr val="tx1"/>
                </a:solidFill>
              </a:rPr>
              <a:t>thì</a:t>
            </a:r>
            <a:r>
              <a:rPr lang="en-US" sz="2800" dirty="0">
                <a:solidFill>
                  <a:schemeClr val="tx1"/>
                </a:solidFill>
              </a:rPr>
              <a:t> </a:t>
            </a:r>
            <a:r>
              <a:rPr lang="en-US" sz="2800" dirty="0" err="1">
                <a:solidFill>
                  <a:schemeClr val="tx1"/>
                </a:solidFill>
              </a:rPr>
              <a:t>cần</a:t>
            </a:r>
            <a:r>
              <a:rPr lang="en-US" sz="2800" dirty="0">
                <a:solidFill>
                  <a:schemeClr val="tx1"/>
                </a:solidFill>
              </a:rPr>
              <a:t> </a:t>
            </a:r>
            <a:r>
              <a:rPr lang="en-US" sz="2800" dirty="0" err="1">
                <a:solidFill>
                  <a:schemeClr val="tx1"/>
                </a:solidFill>
              </a:rPr>
              <a:t>thăm</a:t>
            </a:r>
            <a:r>
              <a:rPr lang="en-US" sz="2800" dirty="0">
                <a:solidFill>
                  <a:schemeClr val="tx1"/>
                </a:solidFill>
              </a:rPr>
              <a:t> </a:t>
            </a:r>
            <a:r>
              <a:rPr lang="en-US" sz="2800" dirty="0" err="1">
                <a:solidFill>
                  <a:schemeClr val="tx1"/>
                </a:solidFill>
              </a:rPr>
              <a:t>dò</a:t>
            </a:r>
            <a:r>
              <a:rPr lang="en-US" sz="2800" dirty="0">
                <a:solidFill>
                  <a:schemeClr val="tx1"/>
                </a:solidFill>
              </a:rPr>
              <a:t> </a:t>
            </a:r>
            <a:r>
              <a:rPr lang="en-US" sz="2800" dirty="0" err="1">
                <a:solidFill>
                  <a:schemeClr val="tx1"/>
                </a:solidFill>
              </a:rPr>
              <a:t>thêm</a:t>
            </a:r>
            <a:r>
              <a:rPr lang="en-US" sz="2800" dirty="0">
                <a:solidFill>
                  <a:schemeClr val="tx1"/>
                </a:solidFill>
              </a:rPr>
              <a:t> </a:t>
            </a:r>
            <a:r>
              <a:rPr lang="en-US" sz="2800" dirty="0" err="1">
                <a:solidFill>
                  <a:schemeClr val="tx1"/>
                </a:solidFill>
              </a:rPr>
              <a:t>bao</a:t>
            </a:r>
            <a:r>
              <a:rPr lang="en-US" sz="2800" dirty="0">
                <a:solidFill>
                  <a:schemeClr val="tx1"/>
                </a:solidFill>
              </a:rPr>
              <a:t> </a:t>
            </a:r>
            <a:r>
              <a:rPr lang="en-US" sz="2800" dirty="0" err="1">
                <a:solidFill>
                  <a:schemeClr val="tx1"/>
                </a:solidFill>
              </a:rPr>
              <a:t>nhiêu</a:t>
            </a:r>
            <a:r>
              <a:rPr lang="en-US" sz="2800" dirty="0">
                <a:solidFill>
                  <a:schemeClr val="tx1"/>
                </a:solidFill>
              </a:rPr>
              <a:t> </a:t>
            </a:r>
            <a:r>
              <a:rPr lang="en-US" sz="2800" dirty="0" err="1">
                <a:solidFill>
                  <a:schemeClr val="tx1"/>
                </a:solidFill>
              </a:rPr>
              <a:t>người</a:t>
            </a:r>
            <a:r>
              <a:rPr lang="en-US" sz="2800" dirty="0">
                <a:solidFill>
                  <a:schemeClr val="tx1"/>
                </a:solidFill>
              </a:rPr>
              <a:t> </a:t>
            </a:r>
            <a:r>
              <a:rPr lang="en-US" sz="2800" dirty="0" err="1">
                <a:solidFill>
                  <a:schemeClr val="tx1"/>
                </a:solidFill>
              </a:rPr>
              <a:t>nữa</a:t>
            </a:r>
            <a:r>
              <a:rPr lang="en-US" sz="2800" dirty="0">
                <a:solidFill>
                  <a:schemeClr val="tx1"/>
                </a:solidFill>
              </a:rPr>
              <a:t>?</a:t>
            </a:r>
          </a:p>
          <a:p>
            <a:pPr marL="0" indent="0">
              <a:buNone/>
            </a:pPr>
            <a:endParaRPr lang="en-US" sz="2800" dirty="0">
              <a:solidFill>
                <a:schemeClr val="tx1"/>
              </a:solidFill>
            </a:endParaRPr>
          </a:p>
        </p:txBody>
      </p:sp>
    </p:spTree>
    <p:extLst>
      <p:ext uri="{BB962C8B-B14F-4D97-AF65-F5344CB8AC3E}">
        <p14:creationId xmlns:p14="http://schemas.microsoft.com/office/powerpoint/2010/main" val="388744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Theme1">
  <a:themeElements>
    <a:clrScheme name="Fresh">
      <a:dk1>
        <a:srgbClr val="262626"/>
      </a:dk1>
      <a:lt1>
        <a:sysClr val="window" lastClr="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5047</TotalTime>
  <Words>2014</Words>
  <Application>Microsoft Macintosh PowerPoint</Application>
  <PresentationFormat>On-screen Show (4:3)</PresentationFormat>
  <Paragraphs>164</Paragraphs>
  <Slides>28</Slides>
  <Notes>7</Notes>
  <HiddenSlides>1</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6" baseType="lpstr">
      <vt:lpstr>Arial</vt:lpstr>
      <vt:lpstr>Blackadder ITC</vt:lpstr>
      <vt:lpstr>Calibri</vt:lpstr>
      <vt:lpstr>Cambria Math</vt:lpstr>
      <vt:lpstr>Georgia</vt:lpstr>
      <vt:lpstr>Times New Roman</vt:lpstr>
      <vt:lpstr>Theme1</vt:lpstr>
      <vt:lpstr>Equation</vt:lpstr>
      <vt:lpstr>ƯỚC LƯỢNG </vt:lpstr>
      <vt:lpstr>Ước lượng điểm</vt:lpstr>
      <vt:lpstr>PowerPoint Presentation</vt:lpstr>
      <vt:lpstr>Uớc lượng khoảng </vt:lpstr>
      <vt:lpstr>Các khái niệm và kí hiệu chung cho bài toán ước lượng</vt:lpstr>
      <vt:lpstr>Ước lượng trung bình tổng thể μ</vt:lpstr>
      <vt:lpstr>Ước lượng trung bình tổng thể μ</vt:lpstr>
      <vt:lpstr>Ước lượng μ với độ tin cậy 1-α</vt:lpstr>
      <vt:lpstr>Ước lượng μ với độ tin cậy 1-α</vt:lpstr>
      <vt:lpstr>Ước lượng μ với độ tin cậy 1-α</vt:lpstr>
      <vt:lpstr>Ước lượng μ với độ tin cậy 1-α</vt:lpstr>
      <vt:lpstr>Ví dụ: mẫu lớn</vt:lpstr>
      <vt:lpstr>Ví dụ: mẫu bé, biết σ</vt:lpstr>
      <vt:lpstr>Ví dụ: mẫu bé, không biết σ</vt:lpstr>
      <vt:lpstr>PowerPoint Presentation</vt:lpstr>
      <vt:lpstr>PowerPoint Presentation</vt:lpstr>
      <vt:lpstr>Ước lượng tỉ lệ</vt:lpstr>
      <vt:lpstr>Ước lượng tỉ lệ tổng thể</vt:lpstr>
      <vt:lpstr>PowerPoint Presentation</vt:lpstr>
      <vt:lpstr>Bài toán xác định cỡ mẫu</vt:lpstr>
      <vt:lpstr>Ví dụ </vt:lpstr>
      <vt:lpstr>Nhận xét về khoảng tin cậy</vt:lpstr>
      <vt:lpstr>Dùng khoảng tin cậy của p để ước lượng N</vt:lpstr>
      <vt:lpstr>Bài tập tương tự</vt:lpstr>
      <vt:lpstr>Đánh giá sai số của bài toán ước lượng tỉ lệ</vt:lpstr>
      <vt:lpstr>Bài tập tương tự</vt:lpstr>
      <vt:lpstr>Ôn tập 1</vt:lpstr>
      <vt:lpstr>Ôn tập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ƯỚC LƯỢNG – Phần 2</dc:title>
  <dc:creator>Phi Hung</dc:creator>
  <cp:lastModifiedBy>Nguyễn Ngọc Ái Vân</cp:lastModifiedBy>
  <cp:revision>242</cp:revision>
  <dcterms:created xsi:type="dcterms:W3CDTF">2006-08-16T00:00:00Z</dcterms:created>
  <dcterms:modified xsi:type="dcterms:W3CDTF">2025-05-12T07:22:57Z</dcterms:modified>
</cp:coreProperties>
</file>